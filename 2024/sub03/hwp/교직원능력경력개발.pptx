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86" r:id="rId3"/>
    <p:sldId id="280" r:id="rId4"/>
    <p:sldId id="294" r:id="rId5"/>
    <p:sldId id="276" r:id="rId6"/>
    <p:sldId id="285" r:id="rId7"/>
    <p:sldId id="284" r:id="rId8"/>
    <p:sldId id="278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79" r:id="rId17"/>
    <p:sldId id="297" r:id="rId18"/>
    <p:sldId id="295" r:id="rId19"/>
    <p:sldId id="296" r:id="rId20"/>
    <p:sldId id="274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FCF197-3999-4CC6-B039-4EAF4F582262}" type="doc">
      <dgm:prSet loTypeId="urn:microsoft.com/office/officeart/2005/8/layout/chevron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C32663CF-F830-40FC-81DF-9CDC1DE625DF}">
      <dgm:prSet phldrT="[텍스트]" custT="1"/>
      <dgm:spPr/>
      <dgm:t>
        <a:bodyPr/>
        <a:lstStyle/>
        <a:p>
          <a:pPr latinLnBrk="1"/>
          <a:r>
            <a:rPr lang="ko-KR" altLang="en-US" sz="2000" b="1">
              <a:latin typeface="+mj-ea"/>
              <a:ea typeface="+mj-ea"/>
            </a:rPr>
            <a:t>경력</a:t>
          </a:r>
          <a:endParaRPr lang="ko-KR" altLang="en-US" sz="2000" b="1" dirty="0">
            <a:latin typeface="+mj-ea"/>
            <a:ea typeface="+mj-ea"/>
          </a:endParaRPr>
        </a:p>
      </dgm:t>
    </dgm:pt>
    <dgm:pt modelId="{69DDCA6A-BA59-47BA-B8AC-5601C0B9F85F}" type="parTrans" cxnId="{43B95F06-5A9E-426F-9132-907B4B16A62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967F2599-609F-4EA3-8001-15FE240CF870}" type="sibTrans" cxnId="{43B95F06-5A9E-426F-9132-907B4B16A62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742D379E-EE23-42BB-9B0A-5815D9FB5BDC}">
      <dgm:prSet phldrT="[텍스트]" custT="1"/>
      <dgm:spPr/>
      <dgm:t>
        <a:bodyPr/>
        <a:lstStyle/>
        <a:p>
          <a:pPr latinLnBrk="1"/>
          <a:r>
            <a:rPr lang="ko-KR" altLang="en-US" sz="1200" dirty="0">
              <a:latin typeface="+mj-ea"/>
              <a:ea typeface="+mj-ea"/>
            </a:rPr>
            <a:t>삶의 </a:t>
          </a:r>
          <a:r>
            <a:rPr lang="ko-KR" altLang="en-US" sz="1200" dirty="0" err="1">
              <a:latin typeface="+mj-ea"/>
              <a:ea typeface="+mj-ea"/>
            </a:rPr>
            <a:t>전과정에</a:t>
          </a:r>
          <a:r>
            <a:rPr lang="ko-KR" altLang="en-US" sz="1200" dirty="0">
              <a:latin typeface="+mj-ea"/>
              <a:ea typeface="+mj-ea"/>
            </a:rPr>
            <a:t> 있어서 지속되는 일과 관련한 경험</a:t>
          </a:r>
          <a:r>
            <a:rPr lang="en-US" altLang="ko-KR" sz="1200" dirty="0">
              <a:latin typeface="+mj-ea"/>
              <a:ea typeface="+mj-ea"/>
            </a:rPr>
            <a:t>(</a:t>
          </a:r>
          <a:r>
            <a:rPr lang="en-US" altLang="ko-KR" sz="1200" dirty="0" err="1">
              <a:latin typeface="+mj-ea"/>
              <a:ea typeface="+mj-ea"/>
            </a:rPr>
            <a:t>Greeenhaus</a:t>
          </a:r>
          <a:r>
            <a:rPr lang="en-US" altLang="ko-KR" sz="1200" dirty="0">
              <a:latin typeface="+mj-ea"/>
              <a:ea typeface="+mj-ea"/>
            </a:rPr>
            <a:t>, 2000)</a:t>
          </a:r>
          <a:endParaRPr lang="ko-KR" altLang="en-US" sz="1200" dirty="0">
            <a:latin typeface="+mj-ea"/>
            <a:ea typeface="+mj-ea"/>
          </a:endParaRPr>
        </a:p>
      </dgm:t>
    </dgm:pt>
    <dgm:pt modelId="{24EA274A-F36D-4AAA-9C9A-49063E3680D1}" type="parTrans" cxnId="{28BC2F9F-BDEE-457C-A52F-7A708A9D4D2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B1030BB3-7A0C-49F1-BEF9-DF506B5EBFF2}" type="sibTrans" cxnId="{28BC2F9F-BDEE-457C-A52F-7A708A9D4D2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F8B8EEB8-3EC7-4C06-AD15-F88E53875572}">
      <dgm:prSet phldrT="[텍스트]" custT="1"/>
      <dgm:spPr/>
      <dgm:t>
        <a:bodyPr/>
        <a:lstStyle/>
        <a:p>
          <a:pPr latinLnBrk="1"/>
          <a:r>
            <a:rPr lang="ko-KR" altLang="en-US" sz="2000" b="1">
              <a:latin typeface="+mj-ea"/>
              <a:ea typeface="+mj-ea"/>
            </a:rPr>
            <a:t>경 력</a:t>
          </a:r>
          <a:endParaRPr lang="ko-KR" altLang="en-US" sz="2000" b="1" dirty="0">
            <a:latin typeface="+mj-ea"/>
            <a:ea typeface="+mj-ea"/>
          </a:endParaRPr>
        </a:p>
      </dgm:t>
    </dgm:pt>
    <dgm:pt modelId="{E9FC6481-5B12-4798-A98C-6DBA791C5D66}" type="parTrans" cxnId="{D7CB1B98-961F-4092-8834-5D46253F6AE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B51F8B95-3090-40D1-A348-DF9E99A01B68}" type="sibTrans" cxnId="{D7CB1B98-961F-4092-8834-5D46253F6AE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9031F9EC-3FE8-4F4D-8856-076160E240F1}">
      <dgm:prSet phldrT="[텍스트]" custT="1"/>
      <dgm:spPr/>
      <dgm:t>
        <a:bodyPr/>
        <a:lstStyle/>
        <a:p>
          <a:pPr latinLnBrk="1"/>
          <a:r>
            <a:rPr lang="ko-KR" altLang="en-US" sz="1200" dirty="0">
              <a:latin typeface="+mj-ea"/>
              <a:ea typeface="+mj-ea"/>
            </a:rPr>
            <a:t>개인 혹은 조직의 </a:t>
          </a:r>
          <a:r>
            <a:rPr lang="en-US" altLang="ko-KR" sz="1200" dirty="0">
              <a:latin typeface="+mj-ea"/>
              <a:ea typeface="+mj-ea"/>
            </a:rPr>
            <a:t>career system</a:t>
          </a:r>
          <a:r>
            <a:rPr lang="ko-KR" altLang="en-US" sz="1200" dirty="0">
              <a:latin typeface="+mj-ea"/>
              <a:ea typeface="+mj-ea"/>
            </a:rPr>
            <a:t>과 함께 </a:t>
          </a:r>
          <a:r>
            <a:rPr lang="en-US" altLang="ko-KR" sz="1200" dirty="0">
              <a:latin typeface="+mj-ea"/>
              <a:ea typeface="+mj-ea"/>
            </a:rPr>
            <a:t>career plan</a:t>
          </a:r>
          <a:r>
            <a:rPr lang="ko-KR" altLang="en-US" sz="1200" dirty="0">
              <a:latin typeface="+mj-ea"/>
              <a:ea typeface="+mj-ea"/>
            </a:rPr>
            <a:t>을 준비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실행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평가하는 지속적인 과정</a:t>
          </a:r>
        </a:p>
      </dgm:t>
    </dgm:pt>
    <dgm:pt modelId="{395AE810-9D27-4D15-85FF-E840478689DE}" type="parTrans" cxnId="{53212351-BC2C-461A-962A-FC8792FA9B38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8D9F74BC-34AE-46A7-B592-6D7CC3248B9B}" type="sibTrans" cxnId="{53212351-BC2C-461A-962A-FC8792FA9B38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504E866B-27B6-48A0-8EF1-10975970575F}">
      <dgm:prSet phldrT="[텍스트]" custT="1"/>
      <dgm:spPr/>
      <dgm:t>
        <a:bodyPr/>
        <a:lstStyle/>
        <a:p>
          <a:pPr latinLnBrk="1"/>
          <a:r>
            <a:rPr lang="ko-KR" altLang="en-US" sz="2000" b="1">
              <a:latin typeface="+mj-ea"/>
              <a:ea typeface="+mj-ea"/>
            </a:rPr>
            <a:t>경력계획</a:t>
          </a:r>
          <a:endParaRPr lang="ko-KR" altLang="en-US" sz="2000" b="1" dirty="0">
            <a:latin typeface="+mj-ea"/>
            <a:ea typeface="+mj-ea"/>
          </a:endParaRPr>
        </a:p>
      </dgm:t>
    </dgm:pt>
    <dgm:pt modelId="{A7E79ECD-F99C-45D5-9672-F33317C40D21}" type="parTrans" cxnId="{BB230F41-9871-4BEE-84AE-3FC387A0AA8E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81136AFC-4276-49A4-AC94-C64585E928E2}" type="sibTrans" cxnId="{BB230F41-9871-4BEE-84AE-3FC387A0AA8E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7098DB50-D5C4-4C98-AA35-0B5404942EE8}">
      <dgm:prSet phldrT="[텍스트]" custT="1"/>
      <dgm:spPr/>
      <dgm:t>
        <a:bodyPr/>
        <a:lstStyle/>
        <a:p>
          <a:pPr latinLnBrk="1"/>
          <a:r>
            <a:rPr lang="en-US" altLang="ko-KR" sz="1200" dirty="0">
              <a:latin typeface="+mj-ea"/>
              <a:ea typeface="+mj-ea"/>
            </a:rPr>
            <a:t>1)</a:t>
          </a:r>
          <a:r>
            <a:rPr lang="ko-KR" altLang="en-US" sz="1200" dirty="0">
              <a:latin typeface="+mj-ea"/>
              <a:ea typeface="+mj-ea"/>
            </a:rPr>
            <a:t>자신과 자신의 </a:t>
          </a:r>
          <a:r>
            <a:rPr lang="ko-KR" altLang="en-US" sz="1200" dirty="0" err="1">
              <a:latin typeface="+mj-ea"/>
              <a:ea typeface="+mj-ea"/>
            </a:rPr>
            <a:t>강약점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선택과 결과 등을 이해하고</a:t>
          </a:r>
          <a:r>
            <a:rPr lang="en-US" altLang="ko-KR" sz="1200" dirty="0">
              <a:latin typeface="+mj-ea"/>
              <a:ea typeface="+mj-ea"/>
            </a:rPr>
            <a:t>,</a:t>
          </a:r>
          <a:endParaRPr lang="ko-KR" altLang="en-US" sz="1200" dirty="0">
            <a:latin typeface="+mj-ea"/>
            <a:ea typeface="+mj-ea"/>
          </a:endParaRPr>
        </a:p>
      </dgm:t>
    </dgm:pt>
    <dgm:pt modelId="{A7390D8D-567D-4BC5-B19C-E9E9D4531A80}" type="parTrans" cxnId="{28E2E5E8-A20B-4946-A21D-1C4A42A38BB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A8973381-FF54-4DE4-9563-F77267863950}" type="sibTrans" cxnId="{28E2E5E8-A20B-4946-A21D-1C4A42A38BB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B2A462F8-2F2C-4199-ADA7-8D4D77F6B7DD}">
      <dgm:prSet custT="1"/>
      <dgm:spPr/>
      <dgm:t>
        <a:bodyPr/>
        <a:lstStyle/>
        <a:p>
          <a:pPr latinLnBrk="1"/>
          <a:r>
            <a:rPr lang="ko-KR" altLang="en-US" sz="1200">
              <a:latin typeface="+mj-ea"/>
              <a:ea typeface="+mj-ea"/>
            </a:rPr>
            <a:t>직업</a:t>
          </a:r>
          <a:r>
            <a:rPr lang="en-US" altLang="ko-KR" sz="1200">
              <a:latin typeface="+mj-ea"/>
              <a:ea typeface="+mj-ea"/>
            </a:rPr>
            <a:t>(job)</a:t>
          </a:r>
          <a:r>
            <a:rPr lang="ko-KR" altLang="en-US" sz="1200">
              <a:latin typeface="+mj-ea"/>
              <a:ea typeface="+mj-ea"/>
            </a:rPr>
            <a:t>과 같은 객관적인 사건과 직업에 대한 개인적인 태도</a:t>
          </a:r>
          <a:r>
            <a:rPr lang="en-US" altLang="ko-KR" sz="1200">
              <a:latin typeface="+mj-ea"/>
              <a:ea typeface="+mj-ea"/>
            </a:rPr>
            <a:t>, </a:t>
          </a:r>
          <a:r>
            <a:rPr lang="ko-KR" altLang="en-US" sz="1200">
              <a:latin typeface="+mj-ea"/>
              <a:ea typeface="+mj-ea"/>
            </a:rPr>
            <a:t>가치</a:t>
          </a:r>
          <a:r>
            <a:rPr lang="en-US" altLang="ko-KR" sz="1200">
              <a:latin typeface="+mj-ea"/>
              <a:ea typeface="+mj-ea"/>
            </a:rPr>
            <a:t>, </a:t>
          </a:r>
          <a:r>
            <a:rPr lang="ko-KR" altLang="en-US" sz="1200">
              <a:latin typeface="+mj-ea"/>
              <a:ea typeface="+mj-ea"/>
            </a:rPr>
            <a:t>기대 등의 주관적 사건을 포함함</a:t>
          </a:r>
          <a:endParaRPr lang="ko-KR" altLang="en-US" sz="1200" dirty="0">
            <a:latin typeface="+mj-ea"/>
            <a:ea typeface="+mj-ea"/>
          </a:endParaRPr>
        </a:p>
      </dgm:t>
    </dgm:pt>
    <dgm:pt modelId="{6DCBD180-9CBF-44B3-986E-63841BB0EEC4}" type="parTrans" cxnId="{1B70C7F0-2190-4EAB-8889-78FC45072F67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9197CE0F-1F99-4D94-A32C-A11181741F86}" type="sibTrans" cxnId="{1B70C7F0-2190-4EAB-8889-78FC45072F67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51584BB6-302E-4977-B234-0A822FE4152B}">
      <dgm:prSet custT="1"/>
      <dgm:spPr/>
      <dgm:t>
        <a:bodyPr/>
        <a:lstStyle/>
        <a:p>
          <a:pPr latinLnBrk="1"/>
          <a:r>
            <a:rPr lang="ko-KR" altLang="en-US" sz="1200" dirty="0">
              <a:latin typeface="+mj-ea"/>
              <a:ea typeface="+mj-ea"/>
            </a:rPr>
            <a:t>직업의 안정성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진행수준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전문성에 관계없이 모든 사람을 </a:t>
          </a:r>
          <a:r>
            <a:rPr lang="en-US" altLang="ko-KR" sz="1200" dirty="0">
              <a:latin typeface="+mj-ea"/>
              <a:ea typeface="+mj-ea"/>
            </a:rPr>
            <a:t>career</a:t>
          </a:r>
          <a:r>
            <a:rPr lang="ko-KR" altLang="en-US" sz="1200" dirty="0">
              <a:latin typeface="+mj-ea"/>
              <a:ea typeface="+mj-ea"/>
            </a:rPr>
            <a:t>를 가지고 있으며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장기간에 걸쳐 개발된다</a:t>
          </a:r>
          <a:r>
            <a:rPr lang="en-US" altLang="ko-KR" sz="1200" dirty="0">
              <a:latin typeface="+mj-ea"/>
              <a:ea typeface="+mj-ea"/>
            </a:rPr>
            <a:t>.</a:t>
          </a:r>
        </a:p>
      </dgm:t>
    </dgm:pt>
    <dgm:pt modelId="{7BD2089F-5211-4ADD-92E4-64831094B8E1}" type="parTrans" cxnId="{A0FF3B91-29F9-4E70-8B58-EAF157F33CE0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DD76A4AD-519D-45A0-85C7-F2812FE8A44C}" type="sibTrans" cxnId="{A0FF3B91-29F9-4E70-8B58-EAF157F33CE0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15451138-EF84-4684-877A-28B23713068D}">
      <dgm:prSet custT="1"/>
      <dgm:spPr/>
      <dgm:t>
        <a:bodyPr/>
        <a:lstStyle/>
        <a:p>
          <a:pPr latinLnBrk="1"/>
          <a:r>
            <a:rPr lang="en-US" altLang="ko-KR" sz="1200">
              <a:latin typeface="+mj-ea"/>
              <a:ea typeface="+mj-ea"/>
            </a:rPr>
            <a:t>2) </a:t>
          </a:r>
          <a:r>
            <a:rPr lang="ko-KR" altLang="en-US" sz="1200">
              <a:latin typeface="+mj-ea"/>
              <a:ea typeface="+mj-ea"/>
            </a:rPr>
            <a:t>경력과 관련한 목표를 설정하며</a:t>
          </a:r>
          <a:r>
            <a:rPr lang="en-US" altLang="ko-KR" sz="1200">
              <a:latin typeface="+mj-ea"/>
              <a:ea typeface="+mj-ea"/>
            </a:rPr>
            <a:t>, </a:t>
          </a:r>
          <a:endParaRPr lang="en-US" altLang="ko-KR" sz="1200" dirty="0">
            <a:latin typeface="+mj-ea"/>
            <a:ea typeface="+mj-ea"/>
          </a:endParaRPr>
        </a:p>
      </dgm:t>
    </dgm:pt>
    <dgm:pt modelId="{F3414912-23F8-49CC-9FB6-9239986F0BDF}" type="parTrans" cxnId="{6D786BC0-A55F-4750-82E3-F104BB5E3A6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AF06C820-0F87-4BD2-BCDC-BA7FAE591934}" type="sibTrans" cxnId="{6D786BC0-A55F-4750-82E3-F104BB5E3A61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120D8295-AB1B-48F1-A950-B5EF530516D4}">
      <dgm:prSet custT="1"/>
      <dgm:spPr/>
      <dgm:t>
        <a:bodyPr/>
        <a:lstStyle/>
        <a:p>
          <a:pPr latinLnBrk="1"/>
          <a:r>
            <a:rPr lang="en-US" altLang="ko-KR" sz="1200" dirty="0">
              <a:latin typeface="+mj-ea"/>
              <a:ea typeface="+mj-ea"/>
            </a:rPr>
            <a:t>3)</a:t>
          </a:r>
          <a:r>
            <a:rPr lang="ko-KR" altLang="en-US" sz="1200" dirty="0">
              <a:latin typeface="+mj-ea"/>
              <a:ea typeface="+mj-ea"/>
            </a:rPr>
            <a:t>특정한 </a:t>
          </a:r>
          <a:r>
            <a:rPr lang="en-US" altLang="ko-KR" sz="1200" dirty="0">
              <a:latin typeface="+mj-ea"/>
              <a:ea typeface="+mj-ea"/>
            </a:rPr>
            <a:t>career </a:t>
          </a:r>
          <a:r>
            <a:rPr lang="ko-KR" altLang="en-US" sz="1200" dirty="0">
              <a:latin typeface="+mj-ea"/>
              <a:ea typeface="+mj-ea"/>
            </a:rPr>
            <a:t>목적을 성취하기 위해 그 방향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시간계획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일련의 단계들을 제공하는 일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교육</a:t>
          </a:r>
          <a:r>
            <a:rPr lang="en-US" altLang="ko-KR" sz="1200" dirty="0">
              <a:latin typeface="+mj-ea"/>
              <a:ea typeface="+mj-ea"/>
            </a:rPr>
            <a:t>, </a:t>
          </a:r>
          <a:r>
            <a:rPr lang="ko-KR" altLang="en-US" sz="1200" dirty="0">
              <a:latin typeface="+mj-ea"/>
              <a:ea typeface="+mj-ea"/>
            </a:rPr>
            <a:t>개발 경험 등을 </a:t>
          </a:r>
          <a:r>
            <a:rPr lang="ko-KR" altLang="en-US" sz="1200" dirty="0" err="1">
              <a:latin typeface="+mj-ea"/>
              <a:ea typeface="+mj-ea"/>
            </a:rPr>
            <a:t>프로그램밍</a:t>
          </a:r>
          <a:r>
            <a:rPr lang="ko-KR" altLang="en-US" sz="1200" dirty="0">
              <a:latin typeface="+mj-ea"/>
              <a:ea typeface="+mj-ea"/>
            </a:rPr>
            <a:t> 하는 것  </a:t>
          </a:r>
        </a:p>
      </dgm:t>
    </dgm:pt>
    <dgm:pt modelId="{7496E3D7-96BF-498F-ADE9-18B6EEF95046}" type="parTrans" cxnId="{02041484-0ADC-4285-88A8-BC016FCF74A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7DDDC428-3ECA-4BFF-8071-ED4AC7F8AFAF}" type="sibTrans" cxnId="{02041484-0ADC-4285-88A8-BC016FCF74AA}">
      <dgm:prSet/>
      <dgm:spPr/>
      <dgm:t>
        <a:bodyPr/>
        <a:lstStyle/>
        <a:p>
          <a:pPr latinLnBrk="1"/>
          <a:endParaRPr lang="ko-KR" altLang="en-US">
            <a:latin typeface="+mj-ea"/>
            <a:ea typeface="+mj-ea"/>
          </a:endParaRPr>
        </a:p>
      </dgm:t>
    </dgm:pt>
    <dgm:pt modelId="{1EC1171C-4620-46EC-861F-1DD024E0514B}" type="pres">
      <dgm:prSet presAssocID="{CAFCF197-3999-4CC6-B039-4EAF4F582262}" presName="linearFlow" presStyleCnt="0">
        <dgm:presLayoutVars>
          <dgm:dir/>
          <dgm:animLvl val="lvl"/>
          <dgm:resizeHandles val="exact"/>
        </dgm:presLayoutVars>
      </dgm:prSet>
      <dgm:spPr/>
    </dgm:pt>
    <dgm:pt modelId="{BCB746D9-49EA-4729-A161-DFA10FA671AB}" type="pres">
      <dgm:prSet presAssocID="{C32663CF-F830-40FC-81DF-9CDC1DE625DF}" presName="composite" presStyleCnt="0"/>
      <dgm:spPr/>
    </dgm:pt>
    <dgm:pt modelId="{AB4A045C-724D-472F-B7E1-51CF7FD4ED64}" type="pres">
      <dgm:prSet presAssocID="{C32663CF-F830-40FC-81DF-9CDC1DE625D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C36162E-A537-456D-9A73-A6B936453710}" type="pres">
      <dgm:prSet presAssocID="{C32663CF-F830-40FC-81DF-9CDC1DE625DF}" presName="descendantText" presStyleLbl="alignAcc1" presStyleIdx="0" presStyleCnt="3" custScaleY="117690">
        <dgm:presLayoutVars>
          <dgm:bulletEnabled val="1"/>
        </dgm:presLayoutVars>
      </dgm:prSet>
      <dgm:spPr/>
    </dgm:pt>
    <dgm:pt modelId="{9B4AC299-D2A0-40C4-BEE7-DC83327A3CB4}" type="pres">
      <dgm:prSet presAssocID="{967F2599-609F-4EA3-8001-15FE240CF870}" presName="sp" presStyleCnt="0"/>
      <dgm:spPr/>
    </dgm:pt>
    <dgm:pt modelId="{8CF7C4F6-6C61-4DDC-9EC0-717891B963B4}" type="pres">
      <dgm:prSet presAssocID="{F8B8EEB8-3EC7-4C06-AD15-F88E53875572}" presName="composite" presStyleCnt="0"/>
      <dgm:spPr/>
    </dgm:pt>
    <dgm:pt modelId="{7D3EFCA5-F5B8-4248-ABBE-AEB3273DF43C}" type="pres">
      <dgm:prSet presAssocID="{F8B8EEB8-3EC7-4C06-AD15-F88E53875572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CC47606F-14D4-49F0-B347-BCF5570F5DB6}" type="pres">
      <dgm:prSet presAssocID="{F8B8EEB8-3EC7-4C06-AD15-F88E53875572}" presName="descendantText" presStyleLbl="alignAcc1" presStyleIdx="1" presStyleCnt="3">
        <dgm:presLayoutVars>
          <dgm:bulletEnabled val="1"/>
        </dgm:presLayoutVars>
      </dgm:prSet>
      <dgm:spPr/>
    </dgm:pt>
    <dgm:pt modelId="{8CCE6E19-DBE3-4DA0-8930-FF47408F14AE}" type="pres">
      <dgm:prSet presAssocID="{B51F8B95-3090-40D1-A348-DF9E99A01B68}" presName="sp" presStyleCnt="0"/>
      <dgm:spPr/>
    </dgm:pt>
    <dgm:pt modelId="{896C554B-5471-4A92-AA95-207DE3D50EA6}" type="pres">
      <dgm:prSet presAssocID="{504E866B-27B6-48A0-8EF1-10975970575F}" presName="composite" presStyleCnt="0"/>
      <dgm:spPr/>
    </dgm:pt>
    <dgm:pt modelId="{507AEF35-91F1-458F-867C-BB67967877C3}" type="pres">
      <dgm:prSet presAssocID="{504E866B-27B6-48A0-8EF1-10975970575F}" presName="parentText" presStyleLbl="alignNode1" presStyleIdx="2" presStyleCnt="3" custLinFactNeighborX="-6441" custLinFactNeighborY="-2263">
        <dgm:presLayoutVars>
          <dgm:chMax val="1"/>
          <dgm:bulletEnabled val="1"/>
        </dgm:presLayoutVars>
      </dgm:prSet>
      <dgm:spPr/>
    </dgm:pt>
    <dgm:pt modelId="{28698569-B91E-44CF-BBCD-D47BC3667C81}" type="pres">
      <dgm:prSet presAssocID="{504E866B-27B6-48A0-8EF1-10975970575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AA9DC00-2BC8-46AB-AC3B-39197A68AC43}" type="presOf" srcId="{7098DB50-D5C4-4C98-AA35-0B5404942EE8}" destId="{28698569-B91E-44CF-BBCD-D47BC3667C81}" srcOrd="0" destOrd="0" presId="urn:microsoft.com/office/officeart/2005/8/layout/chevron2"/>
    <dgm:cxn modelId="{39091D03-0C54-499D-8532-78C4940362AB}" type="presOf" srcId="{C32663CF-F830-40FC-81DF-9CDC1DE625DF}" destId="{AB4A045C-724D-472F-B7E1-51CF7FD4ED64}" srcOrd="0" destOrd="0" presId="urn:microsoft.com/office/officeart/2005/8/layout/chevron2"/>
    <dgm:cxn modelId="{43B95F06-5A9E-426F-9132-907B4B16A621}" srcId="{CAFCF197-3999-4CC6-B039-4EAF4F582262}" destId="{C32663CF-F830-40FC-81DF-9CDC1DE625DF}" srcOrd="0" destOrd="0" parTransId="{69DDCA6A-BA59-47BA-B8AC-5601C0B9F85F}" sibTransId="{967F2599-609F-4EA3-8001-15FE240CF870}"/>
    <dgm:cxn modelId="{4AB7AB13-7FCB-45EC-B036-7F362853146C}" type="presOf" srcId="{9031F9EC-3FE8-4F4D-8856-076160E240F1}" destId="{CC47606F-14D4-49F0-B347-BCF5570F5DB6}" srcOrd="0" destOrd="0" presId="urn:microsoft.com/office/officeart/2005/8/layout/chevron2"/>
    <dgm:cxn modelId="{A30EE926-1426-4417-82BD-D5DAE52114B8}" type="presOf" srcId="{CAFCF197-3999-4CC6-B039-4EAF4F582262}" destId="{1EC1171C-4620-46EC-861F-1DD024E0514B}" srcOrd="0" destOrd="0" presId="urn:microsoft.com/office/officeart/2005/8/layout/chevron2"/>
    <dgm:cxn modelId="{1C187E2B-AAA5-4F0D-A3CA-A5FF561E4B19}" type="presOf" srcId="{51584BB6-302E-4977-B234-0A822FE4152B}" destId="{5C36162E-A537-456D-9A73-A6B936453710}" srcOrd="0" destOrd="2" presId="urn:microsoft.com/office/officeart/2005/8/layout/chevron2"/>
    <dgm:cxn modelId="{BB230F41-9871-4BEE-84AE-3FC387A0AA8E}" srcId="{CAFCF197-3999-4CC6-B039-4EAF4F582262}" destId="{504E866B-27B6-48A0-8EF1-10975970575F}" srcOrd="2" destOrd="0" parTransId="{A7E79ECD-F99C-45D5-9672-F33317C40D21}" sibTransId="{81136AFC-4276-49A4-AC94-C64585E928E2}"/>
    <dgm:cxn modelId="{9EF7BF4B-1A3C-4617-9047-901959A3E698}" type="presOf" srcId="{120D8295-AB1B-48F1-A950-B5EF530516D4}" destId="{28698569-B91E-44CF-BBCD-D47BC3667C81}" srcOrd="0" destOrd="2" presId="urn:microsoft.com/office/officeart/2005/8/layout/chevron2"/>
    <dgm:cxn modelId="{C0F82970-6BC3-4537-A753-14060BDA5CC4}" type="presOf" srcId="{504E866B-27B6-48A0-8EF1-10975970575F}" destId="{507AEF35-91F1-458F-867C-BB67967877C3}" srcOrd="0" destOrd="0" presId="urn:microsoft.com/office/officeart/2005/8/layout/chevron2"/>
    <dgm:cxn modelId="{53212351-BC2C-461A-962A-FC8792FA9B38}" srcId="{F8B8EEB8-3EC7-4C06-AD15-F88E53875572}" destId="{9031F9EC-3FE8-4F4D-8856-076160E240F1}" srcOrd="0" destOrd="0" parTransId="{395AE810-9D27-4D15-85FF-E840478689DE}" sibTransId="{8D9F74BC-34AE-46A7-B592-6D7CC3248B9B}"/>
    <dgm:cxn modelId="{DE365B5A-BFC6-47AE-BC95-2E4EFE1EFA37}" type="presOf" srcId="{F8B8EEB8-3EC7-4C06-AD15-F88E53875572}" destId="{7D3EFCA5-F5B8-4248-ABBE-AEB3273DF43C}" srcOrd="0" destOrd="0" presId="urn:microsoft.com/office/officeart/2005/8/layout/chevron2"/>
    <dgm:cxn modelId="{02041484-0ADC-4285-88A8-BC016FCF74AA}" srcId="{504E866B-27B6-48A0-8EF1-10975970575F}" destId="{120D8295-AB1B-48F1-A950-B5EF530516D4}" srcOrd="2" destOrd="0" parTransId="{7496E3D7-96BF-498F-ADE9-18B6EEF95046}" sibTransId="{7DDDC428-3ECA-4BFF-8071-ED4AC7F8AFAF}"/>
    <dgm:cxn modelId="{A0FF3B91-29F9-4E70-8B58-EAF157F33CE0}" srcId="{742D379E-EE23-42BB-9B0A-5815D9FB5BDC}" destId="{51584BB6-302E-4977-B234-0A822FE4152B}" srcOrd="1" destOrd="0" parTransId="{7BD2089F-5211-4ADD-92E4-64831094B8E1}" sibTransId="{DD76A4AD-519D-45A0-85C7-F2812FE8A44C}"/>
    <dgm:cxn modelId="{D7CB1B98-961F-4092-8834-5D46253F6AEA}" srcId="{CAFCF197-3999-4CC6-B039-4EAF4F582262}" destId="{F8B8EEB8-3EC7-4C06-AD15-F88E53875572}" srcOrd="1" destOrd="0" parTransId="{E9FC6481-5B12-4798-A98C-6DBA791C5D66}" sibTransId="{B51F8B95-3090-40D1-A348-DF9E99A01B68}"/>
    <dgm:cxn modelId="{125E289A-BB75-4855-9BF7-815D31E48E6D}" type="presOf" srcId="{15451138-EF84-4684-877A-28B23713068D}" destId="{28698569-B91E-44CF-BBCD-D47BC3667C81}" srcOrd="0" destOrd="1" presId="urn:microsoft.com/office/officeart/2005/8/layout/chevron2"/>
    <dgm:cxn modelId="{28BC2F9F-BDEE-457C-A52F-7A708A9D4D21}" srcId="{C32663CF-F830-40FC-81DF-9CDC1DE625DF}" destId="{742D379E-EE23-42BB-9B0A-5815D9FB5BDC}" srcOrd="0" destOrd="0" parTransId="{24EA274A-F36D-4AAA-9C9A-49063E3680D1}" sibTransId="{B1030BB3-7A0C-49F1-BEF9-DF506B5EBFF2}"/>
    <dgm:cxn modelId="{6D786BC0-A55F-4750-82E3-F104BB5E3A61}" srcId="{504E866B-27B6-48A0-8EF1-10975970575F}" destId="{15451138-EF84-4684-877A-28B23713068D}" srcOrd="1" destOrd="0" parTransId="{F3414912-23F8-49CC-9FB6-9239986F0BDF}" sibTransId="{AF06C820-0F87-4BD2-BCDC-BA7FAE591934}"/>
    <dgm:cxn modelId="{28E2E5E8-A20B-4946-A21D-1C4A42A38BBA}" srcId="{504E866B-27B6-48A0-8EF1-10975970575F}" destId="{7098DB50-D5C4-4C98-AA35-0B5404942EE8}" srcOrd="0" destOrd="0" parTransId="{A7390D8D-567D-4BC5-B19C-E9E9D4531A80}" sibTransId="{A8973381-FF54-4DE4-9563-F77267863950}"/>
    <dgm:cxn modelId="{1B70C7F0-2190-4EAB-8889-78FC45072F67}" srcId="{742D379E-EE23-42BB-9B0A-5815D9FB5BDC}" destId="{B2A462F8-2F2C-4199-ADA7-8D4D77F6B7DD}" srcOrd="0" destOrd="0" parTransId="{6DCBD180-9CBF-44B3-986E-63841BB0EEC4}" sibTransId="{9197CE0F-1F99-4D94-A32C-A11181741F86}"/>
    <dgm:cxn modelId="{9171F7FB-EC06-4F8B-8355-E04E8816A26C}" type="presOf" srcId="{742D379E-EE23-42BB-9B0A-5815D9FB5BDC}" destId="{5C36162E-A537-456D-9A73-A6B936453710}" srcOrd="0" destOrd="0" presId="urn:microsoft.com/office/officeart/2005/8/layout/chevron2"/>
    <dgm:cxn modelId="{021D11FE-CB4B-4757-9991-3F738218771F}" type="presOf" srcId="{B2A462F8-2F2C-4199-ADA7-8D4D77F6B7DD}" destId="{5C36162E-A537-456D-9A73-A6B936453710}" srcOrd="0" destOrd="1" presId="urn:microsoft.com/office/officeart/2005/8/layout/chevron2"/>
    <dgm:cxn modelId="{82164C0A-C353-4226-B7E0-3EE487A8EC8B}" type="presParOf" srcId="{1EC1171C-4620-46EC-861F-1DD024E0514B}" destId="{BCB746D9-49EA-4729-A161-DFA10FA671AB}" srcOrd="0" destOrd="0" presId="urn:microsoft.com/office/officeart/2005/8/layout/chevron2"/>
    <dgm:cxn modelId="{AD47A8EB-7D89-4732-89E6-7535002A78D2}" type="presParOf" srcId="{BCB746D9-49EA-4729-A161-DFA10FA671AB}" destId="{AB4A045C-724D-472F-B7E1-51CF7FD4ED64}" srcOrd="0" destOrd="0" presId="urn:microsoft.com/office/officeart/2005/8/layout/chevron2"/>
    <dgm:cxn modelId="{F9682AFF-BE1A-4E61-8318-8424287C1DDE}" type="presParOf" srcId="{BCB746D9-49EA-4729-A161-DFA10FA671AB}" destId="{5C36162E-A537-456D-9A73-A6B936453710}" srcOrd="1" destOrd="0" presId="urn:microsoft.com/office/officeart/2005/8/layout/chevron2"/>
    <dgm:cxn modelId="{5FE6BAE8-481E-49A0-AAF8-CE67C03C7F2F}" type="presParOf" srcId="{1EC1171C-4620-46EC-861F-1DD024E0514B}" destId="{9B4AC299-D2A0-40C4-BEE7-DC83327A3CB4}" srcOrd="1" destOrd="0" presId="urn:microsoft.com/office/officeart/2005/8/layout/chevron2"/>
    <dgm:cxn modelId="{DDA32DF6-280D-4930-8E1B-EF20633E7D81}" type="presParOf" srcId="{1EC1171C-4620-46EC-861F-1DD024E0514B}" destId="{8CF7C4F6-6C61-4DDC-9EC0-717891B963B4}" srcOrd="2" destOrd="0" presId="urn:microsoft.com/office/officeart/2005/8/layout/chevron2"/>
    <dgm:cxn modelId="{C232603A-4586-4D55-A158-A8E9B8DB904D}" type="presParOf" srcId="{8CF7C4F6-6C61-4DDC-9EC0-717891B963B4}" destId="{7D3EFCA5-F5B8-4248-ABBE-AEB3273DF43C}" srcOrd="0" destOrd="0" presId="urn:microsoft.com/office/officeart/2005/8/layout/chevron2"/>
    <dgm:cxn modelId="{5C4692C9-8893-47CD-A956-3FAE784FF43D}" type="presParOf" srcId="{8CF7C4F6-6C61-4DDC-9EC0-717891B963B4}" destId="{CC47606F-14D4-49F0-B347-BCF5570F5DB6}" srcOrd="1" destOrd="0" presId="urn:microsoft.com/office/officeart/2005/8/layout/chevron2"/>
    <dgm:cxn modelId="{5817B967-72BD-47A5-992F-FAE2A43D0ABA}" type="presParOf" srcId="{1EC1171C-4620-46EC-861F-1DD024E0514B}" destId="{8CCE6E19-DBE3-4DA0-8930-FF47408F14AE}" srcOrd="3" destOrd="0" presId="urn:microsoft.com/office/officeart/2005/8/layout/chevron2"/>
    <dgm:cxn modelId="{758D1262-14B1-4EF7-B642-5116216CC38D}" type="presParOf" srcId="{1EC1171C-4620-46EC-861F-1DD024E0514B}" destId="{896C554B-5471-4A92-AA95-207DE3D50EA6}" srcOrd="4" destOrd="0" presId="urn:microsoft.com/office/officeart/2005/8/layout/chevron2"/>
    <dgm:cxn modelId="{0841A66C-BB9A-4329-B780-9C16353E8A52}" type="presParOf" srcId="{896C554B-5471-4A92-AA95-207DE3D50EA6}" destId="{507AEF35-91F1-458F-867C-BB67967877C3}" srcOrd="0" destOrd="0" presId="urn:microsoft.com/office/officeart/2005/8/layout/chevron2"/>
    <dgm:cxn modelId="{15F8AD70-9469-4F21-8C05-18D4825F767D}" type="presParOf" srcId="{896C554B-5471-4A92-AA95-207DE3D50EA6}" destId="{28698569-B91E-44CF-BBCD-D47BC3667C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F25891-583F-40C6-AFD7-9BADB671A128}" type="doc">
      <dgm:prSet loTypeId="urn:microsoft.com/office/officeart/2005/8/layout/orgChart1" loCatId="hierarchy" qsTypeId="urn:microsoft.com/office/officeart/2005/8/quickstyle/simple3" qsCatId="simple" csTypeId="urn:microsoft.com/office/officeart/2005/8/colors/colorful5" csCatId="colorful" phldr="1"/>
      <dgm:spPr/>
    </dgm:pt>
    <dgm:pt modelId="{CA3F5F32-36B3-4763-BD43-B20895F3BC16}">
      <dgm:prSet custT="1"/>
      <dgm:spPr/>
      <dgm:t>
        <a:bodyPr/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경력개발</a:t>
          </a:r>
          <a:endParaRPr kumimoji="1" lang="ko-KR" altLang="en-US" sz="1600" b="0" i="0" u="none" strike="noStrike" cap="none" normalizeH="0" baseline="0">
            <a:ln/>
            <a:effectLst/>
            <a:latin typeface="굴림" pitchFamily="50" charset="-127"/>
            <a:ea typeface="굴림" pitchFamily="50" charset="-127"/>
            <a:cs typeface="굴림" pitchFamily="50" charset="-127"/>
          </a:endParaRPr>
        </a:p>
      </dgm:t>
    </dgm:pt>
    <dgm:pt modelId="{0830D891-FD3E-4A67-AE09-2EBE7432A864}" type="parTrans" cxnId="{EF049D4D-1937-4D4F-ADB2-F2000C548C73}">
      <dgm:prSet/>
      <dgm:spPr/>
      <dgm:t>
        <a:bodyPr/>
        <a:lstStyle/>
        <a:p>
          <a:pPr latinLnBrk="1"/>
          <a:endParaRPr lang="ko-KR" altLang="en-US" sz="1600"/>
        </a:p>
      </dgm:t>
    </dgm:pt>
    <dgm:pt modelId="{61ABEEE0-A52C-4D70-8C38-59A943E7E3A4}" type="sibTrans" cxnId="{EF049D4D-1937-4D4F-ADB2-F2000C548C73}">
      <dgm:prSet/>
      <dgm:spPr/>
      <dgm:t>
        <a:bodyPr/>
        <a:lstStyle/>
        <a:p>
          <a:pPr latinLnBrk="1"/>
          <a:endParaRPr lang="ko-KR" altLang="en-US" sz="1600"/>
        </a:p>
      </dgm:t>
    </dgm:pt>
    <dgm:pt modelId="{9028500F-4B8F-4AD2-9543-B4D939F51D7B}">
      <dgm:prSet custT="1"/>
      <dgm:spPr/>
      <dgm:t>
        <a:bodyPr/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개인 활동</a:t>
          </a:r>
        </a:p>
      </dgm:t>
    </dgm:pt>
    <dgm:pt modelId="{7A2C09CA-6515-421E-B7C9-8C69266033FE}" type="parTrans" cxnId="{1449881E-B303-4C6D-9BC6-D1289C1F3759}">
      <dgm:prSet/>
      <dgm:spPr/>
      <dgm:t>
        <a:bodyPr/>
        <a:lstStyle/>
        <a:p>
          <a:pPr latinLnBrk="1"/>
          <a:endParaRPr lang="ko-KR" altLang="en-US" sz="1600"/>
        </a:p>
      </dgm:t>
    </dgm:pt>
    <dgm:pt modelId="{2608DA50-932D-4247-B14A-449E5A460486}" type="sibTrans" cxnId="{1449881E-B303-4C6D-9BC6-D1289C1F3759}">
      <dgm:prSet/>
      <dgm:spPr/>
      <dgm:t>
        <a:bodyPr/>
        <a:lstStyle/>
        <a:p>
          <a:pPr latinLnBrk="1"/>
          <a:endParaRPr lang="ko-KR" altLang="en-US" sz="1600"/>
        </a:p>
      </dgm:t>
    </dgm:pt>
    <dgm:pt modelId="{B326D32A-4C16-4815-A343-BAE941452F60}">
      <dgm:prSet custT="1"/>
      <dgm:spPr/>
      <dgm:t>
        <a:bodyPr/>
        <a:lstStyle/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경력계획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경력인식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경력자원센터의 활용</a:t>
          </a:r>
        </a:p>
      </dgm:t>
    </dgm:pt>
    <dgm:pt modelId="{F8B86C41-9568-4776-9277-1BC601D664DC}" type="parTrans" cxnId="{A9B6A333-8B55-4BE3-A24C-21D9D744D397}">
      <dgm:prSet/>
      <dgm:spPr/>
      <dgm:t>
        <a:bodyPr/>
        <a:lstStyle/>
        <a:p>
          <a:pPr latinLnBrk="1"/>
          <a:endParaRPr lang="ko-KR" altLang="en-US" sz="1600"/>
        </a:p>
      </dgm:t>
    </dgm:pt>
    <dgm:pt modelId="{2E359743-6289-4A35-A0D7-B778A7830B9E}" type="sibTrans" cxnId="{A9B6A333-8B55-4BE3-A24C-21D9D744D397}">
      <dgm:prSet/>
      <dgm:spPr/>
      <dgm:t>
        <a:bodyPr/>
        <a:lstStyle/>
        <a:p>
          <a:pPr latinLnBrk="1"/>
          <a:endParaRPr lang="ko-KR" altLang="en-US" sz="1600"/>
        </a:p>
      </dgm:t>
    </dgm:pt>
    <dgm:pt modelId="{259EC09C-1A03-4B26-9FA1-43E9EEDDF06C}">
      <dgm:prSet custT="1"/>
      <dgm:spPr/>
      <dgm:t>
        <a:bodyPr/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조직 활동</a:t>
          </a:r>
        </a:p>
      </dgm:t>
    </dgm:pt>
    <dgm:pt modelId="{2DD88247-CC3E-4561-B390-083ADE0D281A}" type="parTrans" cxnId="{889EC02D-FF95-4A3D-90A3-330F8414B2FA}">
      <dgm:prSet/>
      <dgm:spPr/>
      <dgm:t>
        <a:bodyPr/>
        <a:lstStyle/>
        <a:p>
          <a:pPr latinLnBrk="1"/>
          <a:endParaRPr lang="ko-KR" altLang="en-US" sz="1600"/>
        </a:p>
      </dgm:t>
    </dgm:pt>
    <dgm:pt modelId="{00A9C873-306F-486C-AB88-A5B988067719}" type="sibTrans" cxnId="{889EC02D-FF95-4A3D-90A3-330F8414B2FA}">
      <dgm:prSet/>
      <dgm:spPr/>
      <dgm:t>
        <a:bodyPr/>
        <a:lstStyle/>
        <a:p>
          <a:pPr latinLnBrk="1"/>
          <a:endParaRPr lang="ko-KR" altLang="en-US" sz="1600"/>
        </a:p>
      </dgm:t>
    </dgm:pt>
    <dgm:pt modelId="{1C6220CC-B630-4D8A-8531-C03BFC830BC2}">
      <dgm:prSet custT="1"/>
      <dgm:spPr/>
      <dgm:t>
        <a:bodyPr/>
        <a:lstStyle/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직무공고제도</a:t>
          </a: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 </a:t>
          </a:r>
          <a:r>
            <a:rPr kumimoji="1" lang="ko-KR" sz="1200" b="0" i="0" u="none" strike="noStrike" cap="none" normalizeH="0" baseline="0" dirty="0" err="1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멘토링</a:t>
          </a: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경력자원센터의 개발과 유지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 상담자로서 관리자의 활용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경력개발 워크숍과 세미나 개최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인적자원계획</a:t>
          </a: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수행평가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경력경로 프로그램</a:t>
          </a:r>
        </a:p>
      </dgm:t>
    </dgm:pt>
    <dgm:pt modelId="{97DE0852-6378-430F-A5BA-9EBEFC7CF3F8}" type="parTrans" cxnId="{1E6BC61F-9579-4CD7-A612-AB44C4722F1D}">
      <dgm:prSet/>
      <dgm:spPr/>
      <dgm:t>
        <a:bodyPr/>
        <a:lstStyle/>
        <a:p>
          <a:pPr latinLnBrk="1"/>
          <a:endParaRPr lang="ko-KR" altLang="en-US" sz="1600"/>
        </a:p>
      </dgm:t>
    </dgm:pt>
    <dgm:pt modelId="{623AFE9F-C86E-4445-A619-1E918CB501EE}" type="sibTrans" cxnId="{1E6BC61F-9579-4CD7-A612-AB44C4722F1D}">
      <dgm:prSet/>
      <dgm:spPr/>
      <dgm:t>
        <a:bodyPr/>
        <a:lstStyle/>
        <a:p>
          <a:pPr latinLnBrk="1"/>
          <a:endParaRPr lang="ko-KR" altLang="en-US" sz="1600"/>
        </a:p>
      </dgm:t>
    </dgm:pt>
    <dgm:pt modelId="{71A839E0-0B87-4615-B443-2C3C77755830}" type="pres">
      <dgm:prSet presAssocID="{1DF25891-583F-40C6-AFD7-9BADB671A1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9ACE4A7-EF80-400B-B4E4-B7F223F132E6}" type="pres">
      <dgm:prSet presAssocID="{CA3F5F32-36B3-4763-BD43-B20895F3BC16}" presName="hierRoot1" presStyleCnt="0">
        <dgm:presLayoutVars>
          <dgm:hierBranch/>
        </dgm:presLayoutVars>
      </dgm:prSet>
      <dgm:spPr/>
    </dgm:pt>
    <dgm:pt modelId="{D4547794-EBCB-488B-9376-92206EF49F3F}" type="pres">
      <dgm:prSet presAssocID="{CA3F5F32-36B3-4763-BD43-B20895F3BC16}" presName="rootComposite1" presStyleCnt="0"/>
      <dgm:spPr/>
    </dgm:pt>
    <dgm:pt modelId="{72D04C6A-5DE3-4A24-BADA-FDAB7D8C2756}" type="pres">
      <dgm:prSet presAssocID="{CA3F5F32-36B3-4763-BD43-B20895F3BC16}" presName="rootText1" presStyleLbl="node0" presStyleIdx="0" presStyleCnt="1" custScaleY="44903">
        <dgm:presLayoutVars>
          <dgm:chPref val="3"/>
        </dgm:presLayoutVars>
      </dgm:prSet>
      <dgm:spPr/>
    </dgm:pt>
    <dgm:pt modelId="{CACD23D7-311E-440B-995B-F25095E44734}" type="pres">
      <dgm:prSet presAssocID="{CA3F5F32-36B3-4763-BD43-B20895F3BC16}" presName="rootConnector1" presStyleLbl="node1" presStyleIdx="0" presStyleCnt="0"/>
      <dgm:spPr/>
    </dgm:pt>
    <dgm:pt modelId="{13B15397-23A5-4F71-A2D6-FECD60BFFD37}" type="pres">
      <dgm:prSet presAssocID="{CA3F5F32-36B3-4763-BD43-B20895F3BC16}" presName="hierChild2" presStyleCnt="0"/>
      <dgm:spPr/>
    </dgm:pt>
    <dgm:pt modelId="{49D84D00-A00E-4FE8-9533-389352C06F5F}" type="pres">
      <dgm:prSet presAssocID="{7A2C09CA-6515-421E-B7C9-8C69266033FE}" presName="Name35" presStyleLbl="parChTrans1D2" presStyleIdx="0" presStyleCnt="2"/>
      <dgm:spPr/>
    </dgm:pt>
    <dgm:pt modelId="{BB4EDB90-4EE9-4F94-85AA-61F781DCD6A1}" type="pres">
      <dgm:prSet presAssocID="{9028500F-4B8F-4AD2-9543-B4D939F51D7B}" presName="hierRoot2" presStyleCnt="0">
        <dgm:presLayoutVars>
          <dgm:hierBranch/>
        </dgm:presLayoutVars>
      </dgm:prSet>
      <dgm:spPr/>
    </dgm:pt>
    <dgm:pt modelId="{E217EDE5-CC7C-4D38-94B6-D480A2B48672}" type="pres">
      <dgm:prSet presAssocID="{9028500F-4B8F-4AD2-9543-B4D939F51D7B}" presName="rootComposite" presStyleCnt="0"/>
      <dgm:spPr/>
    </dgm:pt>
    <dgm:pt modelId="{4D4483DA-6212-4200-9A05-B522B52D0DB7}" type="pres">
      <dgm:prSet presAssocID="{9028500F-4B8F-4AD2-9543-B4D939F51D7B}" presName="rootText" presStyleLbl="node2" presStyleIdx="0" presStyleCnt="2" custScaleX="79702" custScaleY="40152">
        <dgm:presLayoutVars>
          <dgm:chPref val="3"/>
        </dgm:presLayoutVars>
      </dgm:prSet>
      <dgm:spPr/>
    </dgm:pt>
    <dgm:pt modelId="{3EDCB227-B3BC-4C37-AD25-7ECDCBE629D0}" type="pres">
      <dgm:prSet presAssocID="{9028500F-4B8F-4AD2-9543-B4D939F51D7B}" presName="rootConnector" presStyleLbl="node2" presStyleIdx="0" presStyleCnt="2"/>
      <dgm:spPr/>
    </dgm:pt>
    <dgm:pt modelId="{4B451A06-9158-4592-902B-63F610589337}" type="pres">
      <dgm:prSet presAssocID="{9028500F-4B8F-4AD2-9543-B4D939F51D7B}" presName="hierChild4" presStyleCnt="0"/>
      <dgm:spPr/>
    </dgm:pt>
    <dgm:pt modelId="{ECC1F3FB-84B7-4583-AA06-F20256DB5A17}" type="pres">
      <dgm:prSet presAssocID="{F8B86C41-9568-4776-9277-1BC601D664DC}" presName="Name35" presStyleLbl="parChTrans1D3" presStyleIdx="0" presStyleCnt="2"/>
      <dgm:spPr/>
    </dgm:pt>
    <dgm:pt modelId="{E25CCB82-7007-47A1-8399-E5736B706AB9}" type="pres">
      <dgm:prSet presAssocID="{B326D32A-4C16-4815-A343-BAE941452F60}" presName="hierRoot2" presStyleCnt="0">
        <dgm:presLayoutVars>
          <dgm:hierBranch val="r"/>
        </dgm:presLayoutVars>
      </dgm:prSet>
      <dgm:spPr/>
    </dgm:pt>
    <dgm:pt modelId="{A396A822-F787-4938-9A90-BB0337A1AFC8}" type="pres">
      <dgm:prSet presAssocID="{B326D32A-4C16-4815-A343-BAE941452F60}" presName="rootComposite" presStyleCnt="0"/>
      <dgm:spPr/>
    </dgm:pt>
    <dgm:pt modelId="{81F8FFF5-7970-4A8B-BDF1-00981464179A}" type="pres">
      <dgm:prSet presAssocID="{B326D32A-4C16-4815-A343-BAE941452F60}" presName="rootText" presStyleLbl="node3" presStyleIdx="0" presStyleCnt="2" custScaleX="119552">
        <dgm:presLayoutVars>
          <dgm:chPref val="3"/>
        </dgm:presLayoutVars>
      </dgm:prSet>
      <dgm:spPr/>
    </dgm:pt>
    <dgm:pt modelId="{348C0DBE-3AE6-4039-98D1-A73770CB0208}" type="pres">
      <dgm:prSet presAssocID="{B326D32A-4C16-4815-A343-BAE941452F60}" presName="rootConnector" presStyleLbl="node3" presStyleIdx="0" presStyleCnt="2"/>
      <dgm:spPr/>
    </dgm:pt>
    <dgm:pt modelId="{421624F0-C606-4460-BF77-BDE9BB94E61E}" type="pres">
      <dgm:prSet presAssocID="{B326D32A-4C16-4815-A343-BAE941452F60}" presName="hierChild4" presStyleCnt="0"/>
      <dgm:spPr/>
    </dgm:pt>
    <dgm:pt modelId="{B7816D14-FF11-427A-B1B3-DF8AE4C01F78}" type="pres">
      <dgm:prSet presAssocID="{B326D32A-4C16-4815-A343-BAE941452F60}" presName="hierChild5" presStyleCnt="0"/>
      <dgm:spPr/>
    </dgm:pt>
    <dgm:pt modelId="{1E7FF953-41BB-4C9F-8B95-76800D1F08A2}" type="pres">
      <dgm:prSet presAssocID="{9028500F-4B8F-4AD2-9543-B4D939F51D7B}" presName="hierChild5" presStyleCnt="0"/>
      <dgm:spPr/>
    </dgm:pt>
    <dgm:pt modelId="{635F5FB6-AB9E-45E4-B698-EC13F04CEC93}" type="pres">
      <dgm:prSet presAssocID="{2DD88247-CC3E-4561-B390-083ADE0D281A}" presName="Name35" presStyleLbl="parChTrans1D2" presStyleIdx="1" presStyleCnt="2"/>
      <dgm:spPr/>
    </dgm:pt>
    <dgm:pt modelId="{F01B8752-996A-45D2-AADD-A8D989B3AACA}" type="pres">
      <dgm:prSet presAssocID="{259EC09C-1A03-4B26-9FA1-43E9EEDDF06C}" presName="hierRoot2" presStyleCnt="0">
        <dgm:presLayoutVars>
          <dgm:hierBranch/>
        </dgm:presLayoutVars>
      </dgm:prSet>
      <dgm:spPr/>
    </dgm:pt>
    <dgm:pt modelId="{E5880494-1B21-41A9-905B-D01D3F867CD1}" type="pres">
      <dgm:prSet presAssocID="{259EC09C-1A03-4B26-9FA1-43E9EEDDF06C}" presName="rootComposite" presStyleCnt="0"/>
      <dgm:spPr/>
    </dgm:pt>
    <dgm:pt modelId="{7E5D0ADA-C1FC-42DD-8B46-7EA2B3C0EBE5}" type="pres">
      <dgm:prSet presAssocID="{259EC09C-1A03-4B26-9FA1-43E9EEDDF06C}" presName="rootText" presStyleLbl="node2" presStyleIdx="1" presStyleCnt="2" custScaleX="80278" custScaleY="40152">
        <dgm:presLayoutVars>
          <dgm:chPref val="3"/>
        </dgm:presLayoutVars>
      </dgm:prSet>
      <dgm:spPr/>
    </dgm:pt>
    <dgm:pt modelId="{2BC2082C-22F2-4F03-938E-F0D1468AE643}" type="pres">
      <dgm:prSet presAssocID="{259EC09C-1A03-4B26-9FA1-43E9EEDDF06C}" presName="rootConnector" presStyleLbl="node2" presStyleIdx="1" presStyleCnt="2"/>
      <dgm:spPr/>
    </dgm:pt>
    <dgm:pt modelId="{A23105CF-5CF8-444C-A67B-BD292AFA6AF5}" type="pres">
      <dgm:prSet presAssocID="{259EC09C-1A03-4B26-9FA1-43E9EEDDF06C}" presName="hierChild4" presStyleCnt="0"/>
      <dgm:spPr/>
    </dgm:pt>
    <dgm:pt modelId="{69E71D14-3554-4FCF-AA95-96B56BB538D2}" type="pres">
      <dgm:prSet presAssocID="{97DE0852-6378-430F-A5BA-9EBEFC7CF3F8}" presName="Name35" presStyleLbl="parChTrans1D3" presStyleIdx="1" presStyleCnt="2"/>
      <dgm:spPr/>
    </dgm:pt>
    <dgm:pt modelId="{743A8E51-2519-4D25-A1FA-1E8189C96E1C}" type="pres">
      <dgm:prSet presAssocID="{1C6220CC-B630-4D8A-8531-C03BFC830BC2}" presName="hierRoot2" presStyleCnt="0">
        <dgm:presLayoutVars>
          <dgm:hierBranch val="r"/>
        </dgm:presLayoutVars>
      </dgm:prSet>
      <dgm:spPr/>
    </dgm:pt>
    <dgm:pt modelId="{86C6DA17-1708-4CF5-B9C7-6C2F1FE3BD35}" type="pres">
      <dgm:prSet presAssocID="{1C6220CC-B630-4D8A-8531-C03BFC830BC2}" presName="rootComposite" presStyleCnt="0"/>
      <dgm:spPr/>
    </dgm:pt>
    <dgm:pt modelId="{C0F8A34A-E12B-483C-B56E-6A0F8EB52F95}" type="pres">
      <dgm:prSet presAssocID="{1C6220CC-B630-4D8A-8531-C03BFC830BC2}" presName="rootText" presStyleLbl="node3" presStyleIdx="1" presStyleCnt="2" custScaleX="132365">
        <dgm:presLayoutVars>
          <dgm:chPref val="3"/>
        </dgm:presLayoutVars>
      </dgm:prSet>
      <dgm:spPr/>
    </dgm:pt>
    <dgm:pt modelId="{46391283-F585-4E18-ABCB-429E8117914C}" type="pres">
      <dgm:prSet presAssocID="{1C6220CC-B630-4D8A-8531-C03BFC830BC2}" presName="rootConnector" presStyleLbl="node3" presStyleIdx="1" presStyleCnt="2"/>
      <dgm:spPr/>
    </dgm:pt>
    <dgm:pt modelId="{37ABAFD1-B539-4D25-9869-EB583887877C}" type="pres">
      <dgm:prSet presAssocID="{1C6220CC-B630-4D8A-8531-C03BFC830BC2}" presName="hierChild4" presStyleCnt="0"/>
      <dgm:spPr/>
    </dgm:pt>
    <dgm:pt modelId="{E7DA0D55-4F9A-4B79-BBAE-EC484E6ACE76}" type="pres">
      <dgm:prSet presAssocID="{1C6220CC-B630-4D8A-8531-C03BFC830BC2}" presName="hierChild5" presStyleCnt="0"/>
      <dgm:spPr/>
    </dgm:pt>
    <dgm:pt modelId="{DD8EFFB2-FA6A-4C3D-A54D-4A0EFE578EA8}" type="pres">
      <dgm:prSet presAssocID="{259EC09C-1A03-4B26-9FA1-43E9EEDDF06C}" presName="hierChild5" presStyleCnt="0"/>
      <dgm:spPr/>
    </dgm:pt>
    <dgm:pt modelId="{156BA4D7-804E-4744-9FA2-BAD026B53799}" type="pres">
      <dgm:prSet presAssocID="{CA3F5F32-36B3-4763-BD43-B20895F3BC16}" presName="hierChild3" presStyleCnt="0"/>
      <dgm:spPr/>
    </dgm:pt>
  </dgm:ptLst>
  <dgm:cxnLst>
    <dgm:cxn modelId="{F7A0181A-7999-4FA2-94AF-2BB969651E10}" type="presOf" srcId="{1DF25891-583F-40C6-AFD7-9BADB671A128}" destId="{71A839E0-0B87-4615-B443-2C3C77755830}" srcOrd="0" destOrd="0" presId="urn:microsoft.com/office/officeart/2005/8/layout/orgChart1"/>
    <dgm:cxn modelId="{1449881E-B303-4C6D-9BC6-D1289C1F3759}" srcId="{CA3F5F32-36B3-4763-BD43-B20895F3BC16}" destId="{9028500F-4B8F-4AD2-9543-B4D939F51D7B}" srcOrd="0" destOrd="0" parTransId="{7A2C09CA-6515-421E-B7C9-8C69266033FE}" sibTransId="{2608DA50-932D-4247-B14A-449E5A460486}"/>
    <dgm:cxn modelId="{1E6BC61F-9579-4CD7-A612-AB44C4722F1D}" srcId="{259EC09C-1A03-4B26-9FA1-43E9EEDDF06C}" destId="{1C6220CC-B630-4D8A-8531-C03BFC830BC2}" srcOrd="0" destOrd="0" parTransId="{97DE0852-6378-430F-A5BA-9EBEFC7CF3F8}" sibTransId="{623AFE9F-C86E-4445-A619-1E918CB501EE}"/>
    <dgm:cxn modelId="{69A89327-75CE-4D0A-9137-5B779D6B4506}" type="presOf" srcId="{CA3F5F32-36B3-4763-BD43-B20895F3BC16}" destId="{72D04C6A-5DE3-4A24-BADA-FDAB7D8C2756}" srcOrd="0" destOrd="0" presId="urn:microsoft.com/office/officeart/2005/8/layout/orgChart1"/>
    <dgm:cxn modelId="{92884B2A-6266-4C32-9CC9-3F7892CF6B27}" type="presOf" srcId="{9028500F-4B8F-4AD2-9543-B4D939F51D7B}" destId="{4D4483DA-6212-4200-9A05-B522B52D0DB7}" srcOrd="0" destOrd="0" presId="urn:microsoft.com/office/officeart/2005/8/layout/orgChart1"/>
    <dgm:cxn modelId="{7A3E702D-E1CD-494D-A8AF-902FE9596FCF}" type="presOf" srcId="{259EC09C-1A03-4B26-9FA1-43E9EEDDF06C}" destId="{2BC2082C-22F2-4F03-938E-F0D1468AE643}" srcOrd="1" destOrd="0" presId="urn:microsoft.com/office/officeart/2005/8/layout/orgChart1"/>
    <dgm:cxn modelId="{889EC02D-FF95-4A3D-90A3-330F8414B2FA}" srcId="{CA3F5F32-36B3-4763-BD43-B20895F3BC16}" destId="{259EC09C-1A03-4B26-9FA1-43E9EEDDF06C}" srcOrd="1" destOrd="0" parTransId="{2DD88247-CC3E-4561-B390-083ADE0D281A}" sibTransId="{00A9C873-306F-486C-AB88-A5B988067719}"/>
    <dgm:cxn modelId="{A9B6A333-8B55-4BE3-A24C-21D9D744D397}" srcId="{9028500F-4B8F-4AD2-9543-B4D939F51D7B}" destId="{B326D32A-4C16-4815-A343-BAE941452F60}" srcOrd="0" destOrd="0" parTransId="{F8B86C41-9568-4776-9277-1BC601D664DC}" sibTransId="{2E359743-6289-4A35-A0D7-B778A7830B9E}"/>
    <dgm:cxn modelId="{98F91835-D40E-4942-8297-8A13452C4888}" type="presOf" srcId="{1C6220CC-B630-4D8A-8531-C03BFC830BC2}" destId="{C0F8A34A-E12B-483C-B56E-6A0F8EB52F95}" srcOrd="0" destOrd="0" presId="urn:microsoft.com/office/officeart/2005/8/layout/orgChart1"/>
    <dgm:cxn modelId="{EF049D4D-1937-4D4F-ADB2-F2000C548C73}" srcId="{1DF25891-583F-40C6-AFD7-9BADB671A128}" destId="{CA3F5F32-36B3-4763-BD43-B20895F3BC16}" srcOrd="0" destOrd="0" parTransId="{0830D891-FD3E-4A67-AE09-2EBE7432A864}" sibTransId="{61ABEEE0-A52C-4D70-8C38-59A943E7E3A4}"/>
    <dgm:cxn modelId="{A8A17889-7964-4B70-8CEE-58BD9B255B87}" type="presOf" srcId="{259EC09C-1A03-4B26-9FA1-43E9EEDDF06C}" destId="{7E5D0ADA-C1FC-42DD-8B46-7EA2B3C0EBE5}" srcOrd="0" destOrd="0" presId="urn:microsoft.com/office/officeart/2005/8/layout/orgChart1"/>
    <dgm:cxn modelId="{258770AD-8EA0-4C5A-8AC2-4759EC608872}" type="presOf" srcId="{B326D32A-4C16-4815-A343-BAE941452F60}" destId="{81F8FFF5-7970-4A8B-BDF1-00981464179A}" srcOrd="0" destOrd="0" presId="urn:microsoft.com/office/officeart/2005/8/layout/orgChart1"/>
    <dgm:cxn modelId="{D993E0AF-7892-4CB0-BBC9-C9AA79EC160A}" type="presOf" srcId="{1C6220CC-B630-4D8A-8531-C03BFC830BC2}" destId="{46391283-F585-4E18-ABCB-429E8117914C}" srcOrd="1" destOrd="0" presId="urn:microsoft.com/office/officeart/2005/8/layout/orgChart1"/>
    <dgm:cxn modelId="{7BEF45B0-48FE-4E77-91FB-CB2E4E669EF7}" type="presOf" srcId="{9028500F-4B8F-4AD2-9543-B4D939F51D7B}" destId="{3EDCB227-B3BC-4C37-AD25-7ECDCBE629D0}" srcOrd="1" destOrd="0" presId="urn:microsoft.com/office/officeart/2005/8/layout/orgChart1"/>
    <dgm:cxn modelId="{E76C92C5-713F-4C34-8D3E-9596F8C10611}" type="presOf" srcId="{CA3F5F32-36B3-4763-BD43-B20895F3BC16}" destId="{CACD23D7-311E-440B-995B-F25095E44734}" srcOrd="1" destOrd="0" presId="urn:microsoft.com/office/officeart/2005/8/layout/orgChart1"/>
    <dgm:cxn modelId="{CD98EDC8-92D2-4BB5-B079-4D9C405E1C44}" type="presOf" srcId="{B326D32A-4C16-4815-A343-BAE941452F60}" destId="{348C0DBE-3AE6-4039-98D1-A73770CB0208}" srcOrd="1" destOrd="0" presId="urn:microsoft.com/office/officeart/2005/8/layout/orgChart1"/>
    <dgm:cxn modelId="{635EF5CF-5CAD-484D-8498-782BE4B574A5}" type="presOf" srcId="{97DE0852-6378-430F-A5BA-9EBEFC7CF3F8}" destId="{69E71D14-3554-4FCF-AA95-96B56BB538D2}" srcOrd="0" destOrd="0" presId="urn:microsoft.com/office/officeart/2005/8/layout/orgChart1"/>
    <dgm:cxn modelId="{B8AEB3D1-DDD3-49BC-A41E-4D12C796A2AB}" type="presOf" srcId="{F8B86C41-9568-4776-9277-1BC601D664DC}" destId="{ECC1F3FB-84B7-4583-AA06-F20256DB5A17}" srcOrd="0" destOrd="0" presId="urn:microsoft.com/office/officeart/2005/8/layout/orgChart1"/>
    <dgm:cxn modelId="{0CABA4E2-09BE-426B-A9F0-B85171716C2C}" type="presOf" srcId="{2DD88247-CC3E-4561-B390-083ADE0D281A}" destId="{635F5FB6-AB9E-45E4-B698-EC13F04CEC93}" srcOrd="0" destOrd="0" presId="urn:microsoft.com/office/officeart/2005/8/layout/orgChart1"/>
    <dgm:cxn modelId="{F94416F6-AE8C-4A72-9FF3-DB264BE4407F}" type="presOf" srcId="{7A2C09CA-6515-421E-B7C9-8C69266033FE}" destId="{49D84D00-A00E-4FE8-9533-389352C06F5F}" srcOrd="0" destOrd="0" presId="urn:microsoft.com/office/officeart/2005/8/layout/orgChart1"/>
    <dgm:cxn modelId="{25B86F98-D5F2-4600-B913-A20E2D373617}" type="presParOf" srcId="{71A839E0-0B87-4615-B443-2C3C77755830}" destId="{E9ACE4A7-EF80-400B-B4E4-B7F223F132E6}" srcOrd="0" destOrd="0" presId="urn:microsoft.com/office/officeart/2005/8/layout/orgChart1"/>
    <dgm:cxn modelId="{DDC89BD6-6B26-41E3-8474-96315FDDC6D0}" type="presParOf" srcId="{E9ACE4A7-EF80-400B-B4E4-B7F223F132E6}" destId="{D4547794-EBCB-488B-9376-92206EF49F3F}" srcOrd="0" destOrd="0" presId="urn:microsoft.com/office/officeart/2005/8/layout/orgChart1"/>
    <dgm:cxn modelId="{B0D00F57-EF36-481F-AA4C-FD392B3ECEB8}" type="presParOf" srcId="{D4547794-EBCB-488B-9376-92206EF49F3F}" destId="{72D04C6A-5DE3-4A24-BADA-FDAB7D8C2756}" srcOrd="0" destOrd="0" presId="urn:microsoft.com/office/officeart/2005/8/layout/orgChart1"/>
    <dgm:cxn modelId="{B5BA93E3-309F-43F7-BC5A-0059F9D6FB30}" type="presParOf" srcId="{D4547794-EBCB-488B-9376-92206EF49F3F}" destId="{CACD23D7-311E-440B-995B-F25095E44734}" srcOrd="1" destOrd="0" presId="urn:microsoft.com/office/officeart/2005/8/layout/orgChart1"/>
    <dgm:cxn modelId="{936FD2C2-0E60-4DD2-B016-4E8F4016ECA5}" type="presParOf" srcId="{E9ACE4A7-EF80-400B-B4E4-B7F223F132E6}" destId="{13B15397-23A5-4F71-A2D6-FECD60BFFD37}" srcOrd="1" destOrd="0" presId="urn:microsoft.com/office/officeart/2005/8/layout/orgChart1"/>
    <dgm:cxn modelId="{E3CD9692-E757-43DF-B359-89CF5D2026FC}" type="presParOf" srcId="{13B15397-23A5-4F71-A2D6-FECD60BFFD37}" destId="{49D84D00-A00E-4FE8-9533-389352C06F5F}" srcOrd="0" destOrd="0" presId="urn:microsoft.com/office/officeart/2005/8/layout/orgChart1"/>
    <dgm:cxn modelId="{1426C144-B33A-44B7-B938-30DBEC5E9A75}" type="presParOf" srcId="{13B15397-23A5-4F71-A2D6-FECD60BFFD37}" destId="{BB4EDB90-4EE9-4F94-85AA-61F781DCD6A1}" srcOrd="1" destOrd="0" presId="urn:microsoft.com/office/officeart/2005/8/layout/orgChart1"/>
    <dgm:cxn modelId="{C70A961D-4243-4C31-8DA9-C91845B925E5}" type="presParOf" srcId="{BB4EDB90-4EE9-4F94-85AA-61F781DCD6A1}" destId="{E217EDE5-CC7C-4D38-94B6-D480A2B48672}" srcOrd="0" destOrd="0" presId="urn:microsoft.com/office/officeart/2005/8/layout/orgChart1"/>
    <dgm:cxn modelId="{E7757FF9-F3AF-4A67-ABDA-883BB7051B7D}" type="presParOf" srcId="{E217EDE5-CC7C-4D38-94B6-D480A2B48672}" destId="{4D4483DA-6212-4200-9A05-B522B52D0DB7}" srcOrd="0" destOrd="0" presId="urn:microsoft.com/office/officeart/2005/8/layout/orgChart1"/>
    <dgm:cxn modelId="{98E41636-DF7A-4CAB-9F71-72AFD6C3BDD5}" type="presParOf" srcId="{E217EDE5-CC7C-4D38-94B6-D480A2B48672}" destId="{3EDCB227-B3BC-4C37-AD25-7ECDCBE629D0}" srcOrd="1" destOrd="0" presId="urn:microsoft.com/office/officeart/2005/8/layout/orgChart1"/>
    <dgm:cxn modelId="{DE9B7DAD-CE56-4063-9AE3-58DBBEC772B1}" type="presParOf" srcId="{BB4EDB90-4EE9-4F94-85AA-61F781DCD6A1}" destId="{4B451A06-9158-4592-902B-63F610589337}" srcOrd="1" destOrd="0" presId="urn:microsoft.com/office/officeart/2005/8/layout/orgChart1"/>
    <dgm:cxn modelId="{88E7164F-3BD2-43CF-84A2-DF3A57AC21E5}" type="presParOf" srcId="{4B451A06-9158-4592-902B-63F610589337}" destId="{ECC1F3FB-84B7-4583-AA06-F20256DB5A17}" srcOrd="0" destOrd="0" presId="urn:microsoft.com/office/officeart/2005/8/layout/orgChart1"/>
    <dgm:cxn modelId="{3C7FE9A5-C798-4E25-A7EF-8777FF1828CF}" type="presParOf" srcId="{4B451A06-9158-4592-902B-63F610589337}" destId="{E25CCB82-7007-47A1-8399-E5736B706AB9}" srcOrd="1" destOrd="0" presId="urn:microsoft.com/office/officeart/2005/8/layout/orgChart1"/>
    <dgm:cxn modelId="{936CFE9C-3EA6-40C2-954C-4A1DF6497A44}" type="presParOf" srcId="{E25CCB82-7007-47A1-8399-E5736B706AB9}" destId="{A396A822-F787-4938-9A90-BB0337A1AFC8}" srcOrd="0" destOrd="0" presId="urn:microsoft.com/office/officeart/2005/8/layout/orgChart1"/>
    <dgm:cxn modelId="{5920E27D-F3B0-47D9-A664-32938E6A5E9D}" type="presParOf" srcId="{A396A822-F787-4938-9A90-BB0337A1AFC8}" destId="{81F8FFF5-7970-4A8B-BDF1-00981464179A}" srcOrd="0" destOrd="0" presId="urn:microsoft.com/office/officeart/2005/8/layout/orgChart1"/>
    <dgm:cxn modelId="{D87AA424-A6D0-4ADF-91F2-B3965EA7BAF0}" type="presParOf" srcId="{A396A822-F787-4938-9A90-BB0337A1AFC8}" destId="{348C0DBE-3AE6-4039-98D1-A73770CB0208}" srcOrd="1" destOrd="0" presId="urn:microsoft.com/office/officeart/2005/8/layout/orgChart1"/>
    <dgm:cxn modelId="{BE51CC27-936D-4004-A217-D239FF43163B}" type="presParOf" srcId="{E25CCB82-7007-47A1-8399-E5736B706AB9}" destId="{421624F0-C606-4460-BF77-BDE9BB94E61E}" srcOrd="1" destOrd="0" presId="urn:microsoft.com/office/officeart/2005/8/layout/orgChart1"/>
    <dgm:cxn modelId="{E1E2DC84-F962-4109-AE21-847C8E93100A}" type="presParOf" srcId="{E25CCB82-7007-47A1-8399-E5736B706AB9}" destId="{B7816D14-FF11-427A-B1B3-DF8AE4C01F78}" srcOrd="2" destOrd="0" presId="urn:microsoft.com/office/officeart/2005/8/layout/orgChart1"/>
    <dgm:cxn modelId="{635317F8-043F-4DD0-93FD-6535031C44B6}" type="presParOf" srcId="{BB4EDB90-4EE9-4F94-85AA-61F781DCD6A1}" destId="{1E7FF953-41BB-4C9F-8B95-76800D1F08A2}" srcOrd="2" destOrd="0" presId="urn:microsoft.com/office/officeart/2005/8/layout/orgChart1"/>
    <dgm:cxn modelId="{0BA054FD-DC47-4FB3-82AA-1AF200DB7F60}" type="presParOf" srcId="{13B15397-23A5-4F71-A2D6-FECD60BFFD37}" destId="{635F5FB6-AB9E-45E4-B698-EC13F04CEC93}" srcOrd="2" destOrd="0" presId="urn:microsoft.com/office/officeart/2005/8/layout/orgChart1"/>
    <dgm:cxn modelId="{C7BCEA9F-76F1-4062-A7E1-169E1D9354A1}" type="presParOf" srcId="{13B15397-23A5-4F71-A2D6-FECD60BFFD37}" destId="{F01B8752-996A-45D2-AADD-A8D989B3AACA}" srcOrd="3" destOrd="0" presId="urn:microsoft.com/office/officeart/2005/8/layout/orgChart1"/>
    <dgm:cxn modelId="{77EC1939-07EF-4A6F-8651-0289D1E497BC}" type="presParOf" srcId="{F01B8752-996A-45D2-AADD-A8D989B3AACA}" destId="{E5880494-1B21-41A9-905B-D01D3F867CD1}" srcOrd="0" destOrd="0" presId="urn:microsoft.com/office/officeart/2005/8/layout/orgChart1"/>
    <dgm:cxn modelId="{B9B69A12-1D48-4472-8F54-4FCC1BECC8C4}" type="presParOf" srcId="{E5880494-1B21-41A9-905B-D01D3F867CD1}" destId="{7E5D0ADA-C1FC-42DD-8B46-7EA2B3C0EBE5}" srcOrd="0" destOrd="0" presId="urn:microsoft.com/office/officeart/2005/8/layout/orgChart1"/>
    <dgm:cxn modelId="{ADD110D7-F48B-4289-B7B1-2A4FFA3DAD26}" type="presParOf" srcId="{E5880494-1B21-41A9-905B-D01D3F867CD1}" destId="{2BC2082C-22F2-4F03-938E-F0D1468AE643}" srcOrd="1" destOrd="0" presId="urn:microsoft.com/office/officeart/2005/8/layout/orgChart1"/>
    <dgm:cxn modelId="{FBC8C680-3077-4D9D-B30E-4617354EB8ED}" type="presParOf" srcId="{F01B8752-996A-45D2-AADD-A8D989B3AACA}" destId="{A23105CF-5CF8-444C-A67B-BD292AFA6AF5}" srcOrd="1" destOrd="0" presId="urn:microsoft.com/office/officeart/2005/8/layout/orgChart1"/>
    <dgm:cxn modelId="{46C4E097-39FC-431E-9C73-4F3D765D4BAA}" type="presParOf" srcId="{A23105CF-5CF8-444C-A67B-BD292AFA6AF5}" destId="{69E71D14-3554-4FCF-AA95-96B56BB538D2}" srcOrd="0" destOrd="0" presId="urn:microsoft.com/office/officeart/2005/8/layout/orgChart1"/>
    <dgm:cxn modelId="{D8E38E81-CB55-4BD4-BADA-DBCE078EDC47}" type="presParOf" srcId="{A23105CF-5CF8-444C-A67B-BD292AFA6AF5}" destId="{743A8E51-2519-4D25-A1FA-1E8189C96E1C}" srcOrd="1" destOrd="0" presId="urn:microsoft.com/office/officeart/2005/8/layout/orgChart1"/>
    <dgm:cxn modelId="{59D7DEF9-C66D-455E-9715-4CCA3F0E66B8}" type="presParOf" srcId="{743A8E51-2519-4D25-A1FA-1E8189C96E1C}" destId="{86C6DA17-1708-4CF5-B9C7-6C2F1FE3BD35}" srcOrd="0" destOrd="0" presId="urn:microsoft.com/office/officeart/2005/8/layout/orgChart1"/>
    <dgm:cxn modelId="{D46820CE-6479-4F5F-BD1A-B28C9D06FCAB}" type="presParOf" srcId="{86C6DA17-1708-4CF5-B9C7-6C2F1FE3BD35}" destId="{C0F8A34A-E12B-483C-B56E-6A0F8EB52F95}" srcOrd="0" destOrd="0" presId="urn:microsoft.com/office/officeart/2005/8/layout/orgChart1"/>
    <dgm:cxn modelId="{4AE4C55B-5BB0-4CE6-A2BC-C3A6228F2C5F}" type="presParOf" srcId="{86C6DA17-1708-4CF5-B9C7-6C2F1FE3BD35}" destId="{46391283-F585-4E18-ABCB-429E8117914C}" srcOrd="1" destOrd="0" presId="urn:microsoft.com/office/officeart/2005/8/layout/orgChart1"/>
    <dgm:cxn modelId="{031A7C8E-B61F-454A-ABA2-18F3F19134DB}" type="presParOf" srcId="{743A8E51-2519-4D25-A1FA-1E8189C96E1C}" destId="{37ABAFD1-B539-4D25-9869-EB583887877C}" srcOrd="1" destOrd="0" presId="urn:microsoft.com/office/officeart/2005/8/layout/orgChart1"/>
    <dgm:cxn modelId="{2DFEAB2E-6961-426C-8FEF-CA6928B90BDD}" type="presParOf" srcId="{743A8E51-2519-4D25-A1FA-1E8189C96E1C}" destId="{E7DA0D55-4F9A-4B79-BBAE-EC484E6ACE76}" srcOrd="2" destOrd="0" presId="urn:microsoft.com/office/officeart/2005/8/layout/orgChart1"/>
    <dgm:cxn modelId="{03944754-54A6-42BC-B197-6F8EE7DBD2BC}" type="presParOf" srcId="{F01B8752-996A-45D2-AADD-A8D989B3AACA}" destId="{DD8EFFB2-FA6A-4C3D-A54D-4A0EFE578EA8}" srcOrd="2" destOrd="0" presId="urn:microsoft.com/office/officeart/2005/8/layout/orgChart1"/>
    <dgm:cxn modelId="{C1408CC0-0256-43A5-B503-F3731C014BB6}" type="presParOf" srcId="{E9ACE4A7-EF80-400B-B4E4-B7F223F132E6}" destId="{156BA4D7-804E-4744-9FA2-BAD026B5379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D89FFA-49BC-4658-8D79-F651F29F679E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E78A07B1-B784-4419-A962-1206E4ECF71E}">
      <dgm:prSet phldrT="[텍스트]" custT="1"/>
      <dgm:spPr/>
      <dgm:t>
        <a:bodyPr/>
        <a:lstStyle/>
        <a:p>
          <a:pPr latinLnBrk="1"/>
          <a:r>
            <a:rPr lang="ko-KR" altLang="en-US" sz="1600" b="1" dirty="0">
              <a:latin typeface="+mn-lt"/>
              <a:ea typeface="굴림" pitchFamily="50" charset="-127"/>
            </a:rPr>
            <a:t>경력 개발 시행 이유</a:t>
          </a:r>
          <a:endParaRPr lang="ko-KR" altLang="en-US" sz="1600" b="1" dirty="0">
            <a:latin typeface="+mn-lt"/>
          </a:endParaRPr>
        </a:p>
      </dgm:t>
    </dgm:pt>
    <dgm:pt modelId="{624A62B8-A4E9-4F2C-B70C-AA64B0C4C62F}" type="parTrans" cxnId="{33216BA4-84A1-4CC7-89F4-E9685F5EB526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827A15CB-6142-40D6-B6D9-E49E79174D80}" type="sibTrans" cxnId="{33216BA4-84A1-4CC7-89F4-E9685F5EB526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109C06DD-C1D0-4455-8319-8EB9E2257BEE}">
      <dgm:prSet phldrT="[텍스트]" custT="1"/>
      <dgm:spPr/>
      <dgm:t>
        <a:bodyPr/>
        <a:lstStyle/>
        <a:p>
          <a:pPr latinLnBrk="1"/>
          <a:r>
            <a:rPr lang="ko-KR" altLang="en-US" sz="1200" b="1" dirty="0">
              <a:latin typeface="+mn-ea"/>
              <a:ea typeface="+mn-ea"/>
            </a:rPr>
            <a:t>직원들을 개발</a:t>
          </a:r>
          <a:r>
            <a:rPr lang="en-US" altLang="ko-KR" sz="1200" b="1" dirty="0">
              <a:latin typeface="+mn-ea"/>
              <a:ea typeface="+mn-ea"/>
            </a:rPr>
            <a:t>, </a:t>
          </a:r>
          <a:r>
            <a:rPr lang="ko-KR" altLang="en-US" sz="1200" b="1" dirty="0">
              <a:latin typeface="+mn-ea"/>
              <a:ea typeface="+mn-ea"/>
            </a:rPr>
            <a:t>승진</a:t>
          </a:r>
        </a:p>
      </dgm:t>
    </dgm:pt>
    <dgm:pt modelId="{F387C464-5BF2-449C-92F4-2398DB93AAF5}" type="parTrans" cxnId="{634C1581-7CA6-4DF5-BF4B-D27D8C4189E2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7444AE0F-9AD3-4E71-91BD-3D6CA252A44C}" type="sibTrans" cxnId="{634C1581-7CA6-4DF5-BF4B-D27D8C4189E2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7B635135-7145-4DF0-8495-0BBA10B61B55}">
      <dgm:prSet phldrT="[텍스트]" custT="1"/>
      <dgm:spPr/>
      <dgm:t>
        <a:bodyPr/>
        <a:lstStyle/>
        <a:p>
          <a:pPr latinLnBrk="1"/>
          <a:r>
            <a:rPr lang="en-US" altLang="ko-KR" sz="1600" b="1">
              <a:latin typeface="+mn-lt"/>
              <a:ea typeface="굴림" pitchFamily="50" charset="-127"/>
            </a:rPr>
            <a:t>HRD </a:t>
          </a:r>
          <a:r>
            <a:rPr lang="ko-KR" altLang="en-US" sz="1600" b="1">
              <a:latin typeface="+mn-lt"/>
              <a:ea typeface="굴림" pitchFamily="50" charset="-127"/>
            </a:rPr>
            <a:t>전문가 경력개발 프로그램 통합적 활동</a:t>
          </a:r>
          <a:endParaRPr lang="ko-KR" altLang="en-US" sz="1600" b="1" dirty="0">
            <a:latin typeface="+mn-lt"/>
          </a:endParaRPr>
        </a:p>
      </dgm:t>
    </dgm:pt>
    <dgm:pt modelId="{4C6F29BF-2535-41D2-BC18-8C371DE519FD}" type="parTrans" cxnId="{94BA3904-6057-4605-9AEB-35EEB5179FC3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1414CCCB-1020-41FD-88D3-A51B19A8E616}" type="sibTrans" cxnId="{94BA3904-6057-4605-9AEB-35EEB5179FC3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379B98D8-DEFE-426A-BC12-3E095B230387}">
      <dgm:prSet phldrT="[텍스트]"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조직의 미래요구 예측</a:t>
          </a:r>
        </a:p>
      </dgm:t>
    </dgm:pt>
    <dgm:pt modelId="{9EBA7982-4167-4DC1-A2F9-E52FC6303632}" type="parTrans" cxnId="{5DBFAFD9-D365-4DEC-B9FD-B0222EFC6BAB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51099756-C0BA-462A-BB35-29289ADC2B6A}" type="sibTrans" cxnId="{5DBFAFD9-D365-4DEC-B9FD-B0222EFC6BAB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1CA4BA00-DF14-42CC-8B09-4C1C901A22CB}">
      <dgm:prSet custT="1"/>
      <dgm:spPr/>
      <dgm:t>
        <a:bodyPr/>
        <a:lstStyle/>
        <a:p>
          <a:pPr latinLnBrk="1"/>
          <a:r>
            <a:rPr lang="ko-KR" altLang="en-US" sz="1200" b="1" dirty="0">
              <a:latin typeface="+mn-ea"/>
              <a:ea typeface="+mn-ea"/>
            </a:rPr>
            <a:t>이직률 낮추기</a:t>
          </a:r>
        </a:p>
      </dgm:t>
    </dgm:pt>
    <dgm:pt modelId="{22E521AD-311D-4773-9AE2-43429483F9D0}" type="parTrans" cxnId="{D83CD0B1-A5DE-4595-90E7-8D546457EF42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A0082AC0-A649-4124-984B-111031A53918}" type="sibTrans" cxnId="{D83CD0B1-A5DE-4595-90E7-8D546457EF42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E3B9A46F-0255-4328-8CF1-1065E2775BF4}">
      <dgm:prSet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수행평가의 활용</a:t>
          </a:r>
        </a:p>
      </dgm:t>
    </dgm:pt>
    <dgm:pt modelId="{1C020AFF-3034-4D92-9A5E-CE461BB7E4B0}" type="parTrans" cxnId="{C7B5A249-076D-41F0-8A82-064AD2B6ABF3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D1A448B4-4188-4EF4-88DF-EBE92F1DC8B9}" type="sibTrans" cxnId="{C7B5A249-076D-41F0-8A82-064AD2B6ABF3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85818D5E-27D6-4931-9CCA-891BE6D96D7E}">
      <dgm:prSet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직무 공고</a:t>
          </a:r>
        </a:p>
      </dgm:t>
    </dgm:pt>
    <dgm:pt modelId="{4230D7EB-F611-498D-82F5-6D88E65293EB}" type="parTrans" cxnId="{B4F0B838-9F0B-4033-98D9-733197639F2D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844A2B46-1166-4FFE-AB61-37D8E04FECA7}" type="sibTrans" cxnId="{B4F0B838-9F0B-4033-98D9-733197639F2D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9C00D83B-21E6-4FCB-9B35-4EA413C44C38}">
      <dgm:prSet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직원들을 위한 경력 경로 계획</a:t>
          </a:r>
        </a:p>
      </dgm:t>
    </dgm:pt>
    <dgm:pt modelId="{139715F4-96D7-4298-A5B9-306A4258B763}" type="parTrans" cxnId="{D507CA03-64BB-4E3B-8686-244B23A28A80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4F0DE47B-082A-4C63-B80E-B7AA057813FC}" type="sibTrans" cxnId="{D507CA03-64BB-4E3B-8686-244B23A28A80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F07CC287-3A46-4D31-BB05-7EDA343A7B4A}">
      <dgm:prSet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훈련과 개발</a:t>
          </a:r>
        </a:p>
      </dgm:t>
    </dgm:pt>
    <dgm:pt modelId="{38EACF72-5377-4835-9072-669BFDD60466}" type="parTrans" cxnId="{9013F4FB-67D5-4A1C-BC65-AF52A447A41C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0BBB57BF-65F3-45F2-BD3D-4DD5C87E324B}" type="sibTrans" cxnId="{9013F4FB-67D5-4A1C-BC65-AF52A447A41C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FE54D243-FC51-4BDE-A475-CBE69126D01D}">
      <dgm:prSet custT="1"/>
      <dgm:spPr/>
      <dgm:t>
        <a:bodyPr/>
        <a:lstStyle/>
        <a:p>
          <a:pPr latinLnBrk="1"/>
          <a:r>
            <a:rPr lang="ko-KR" altLang="en-US" sz="1200" b="1" dirty="0">
              <a:latin typeface="맑은 고딕" pitchFamily="50" charset="-127"/>
              <a:ea typeface="맑은 고딕" pitchFamily="50" charset="-127"/>
            </a:rPr>
            <a:t>일관된 보상관행 개발</a:t>
          </a:r>
        </a:p>
      </dgm:t>
    </dgm:pt>
    <dgm:pt modelId="{7A2D57AD-8371-4D19-8B27-D01E5C29FBF2}" type="parTrans" cxnId="{B6EBEBC5-43AC-4351-A0AA-737184785011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8728CF77-9B11-44EB-8DEF-1B9771090E97}" type="sibTrans" cxnId="{B6EBEBC5-43AC-4351-A0AA-737184785011}">
      <dgm:prSet/>
      <dgm:spPr/>
      <dgm:t>
        <a:bodyPr/>
        <a:lstStyle/>
        <a:p>
          <a:pPr latinLnBrk="1"/>
          <a:endParaRPr lang="ko-KR" altLang="en-US" b="1">
            <a:latin typeface="+mn-lt"/>
          </a:endParaRPr>
        </a:p>
      </dgm:t>
    </dgm:pt>
    <dgm:pt modelId="{25D9F161-4641-4AE0-98EC-6DE4090B3527}">
      <dgm:prSet phldrT="[텍스트]" custT="1"/>
      <dgm:spPr/>
      <dgm:t>
        <a:bodyPr/>
        <a:lstStyle/>
        <a:p>
          <a:pPr latinLnBrk="1"/>
          <a:endParaRPr lang="ko-KR" altLang="en-US" sz="1200" b="1" dirty="0">
            <a:latin typeface="+mn-ea"/>
            <a:ea typeface="+mn-ea"/>
          </a:endParaRPr>
        </a:p>
      </dgm:t>
    </dgm:pt>
    <dgm:pt modelId="{2B7A34A2-C3E6-4FCE-A1DB-6B800D854FC7}" type="parTrans" cxnId="{5AFD517C-7E6B-4535-A83D-661A25CE0D2A}">
      <dgm:prSet/>
      <dgm:spPr/>
      <dgm:t>
        <a:bodyPr/>
        <a:lstStyle/>
        <a:p>
          <a:pPr latinLnBrk="1"/>
          <a:endParaRPr lang="ko-KR" altLang="en-US"/>
        </a:p>
      </dgm:t>
    </dgm:pt>
    <dgm:pt modelId="{BA0B7C58-D8D2-4E63-8461-6E12258BD587}" type="sibTrans" cxnId="{5AFD517C-7E6B-4535-A83D-661A25CE0D2A}">
      <dgm:prSet/>
      <dgm:spPr/>
      <dgm:t>
        <a:bodyPr/>
        <a:lstStyle/>
        <a:p>
          <a:pPr latinLnBrk="1"/>
          <a:endParaRPr lang="ko-KR" altLang="en-US"/>
        </a:p>
      </dgm:t>
    </dgm:pt>
    <dgm:pt modelId="{50BDD604-4681-4D3C-8B7E-7700F9296024}">
      <dgm:prSet phldrT="[텍스트]" custT="1"/>
      <dgm:spPr/>
      <dgm:t>
        <a:bodyPr/>
        <a:lstStyle/>
        <a:p>
          <a:pPr latinLnBrk="1"/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EC695FBC-5A4F-4F62-AB0C-7696A299AC29}" type="parTrans" cxnId="{98C610D8-79F4-400E-BA8B-C71DF7B29E10}">
      <dgm:prSet/>
      <dgm:spPr/>
      <dgm:t>
        <a:bodyPr/>
        <a:lstStyle/>
        <a:p>
          <a:pPr latinLnBrk="1"/>
          <a:endParaRPr lang="ko-KR" altLang="en-US"/>
        </a:p>
      </dgm:t>
    </dgm:pt>
    <dgm:pt modelId="{5186326E-B9AD-4E71-9562-6DA19C347A37}" type="sibTrans" cxnId="{98C610D8-79F4-400E-BA8B-C71DF7B29E10}">
      <dgm:prSet/>
      <dgm:spPr/>
      <dgm:t>
        <a:bodyPr/>
        <a:lstStyle/>
        <a:p>
          <a:pPr latinLnBrk="1"/>
          <a:endParaRPr lang="ko-KR" altLang="en-US"/>
        </a:p>
      </dgm:t>
    </dgm:pt>
    <dgm:pt modelId="{5789E9F0-A107-4A98-AEBB-3D9B77C0D37E}" type="pres">
      <dgm:prSet presAssocID="{2DD89FFA-49BC-4658-8D79-F651F29F679E}" presName="linear" presStyleCnt="0">
        <dgm:presLayoutVars>
          <dgm:animLvl val="lvl"/>
          <dgm:resizeHandles val="exact"/>
        </dgm:presLayoutVars>
      </dgm:prSet>
      <dgm:spPr/>
    </dgm:pt>
    <dgm:pt modelId="{E06D57FA-EBFF-42BC-85BD-5C32DD837F28}" type="pres">
      <dgm:prSet presAssocID="{E78A07B1-B784-4419-A962-1206E4ECF71E}" presName="parentText" presStyleLbl="node1" presStyleIdx="0" presStyleCnt="2" custScaleY="54074" custLinFactNeighborX="-574" custLinFactNeighborY="-22934">
        <dgm:presLayoutVars>
          <dgm:chMax val="0"/>
          <dgm:bulletEnabled val="1"/>
        </dgm:presLayoutVars>
      </dgm:prSet>
      <dgm:spPr/>
    </dgm:pt>
    <dgm:pt modelId="{225F5478-EE41-43D1-A0DF-85B18639A2D6}" type="pres">
      <dgm:prSet presAssocID="{E78A07B1-B784-4419-A962-1206E4ECF71E}" presName="childText" presStyleLbl="revTx" presStyleIdx="0" presStyleCnt="2">
        <dgm:presLayoutVars>
          <dgm:bulletEnabled val="1"/>
        </dgm:presLayoutVars>
      </dgm:prSet>
      <dgm:spPr/>
    </dgm:pt>
    <dgm:pt modelId="{2D7B9E0A-697B-4359-812E-332464E4A2D7}" type="pres">
      <dgm:prSet presAssocID="{7B635135-7145-4DF0-8495-0BBA10B61B55}" presName="parentText" presStyleLbl="node1" presStyleIdx="1" presStyleCnt="2" custScaleY="54475">
        <dgm:presLayoutVars>
          <dgm:chMax val="0"/>
          <dgm:bulletEnabled val="1"/>
        </dgm:presLayoutVars>
      </dgm:prSet>
      <dgm:spPr/>
    </dgm:pt>
    <dgm:pt modelId="{0098BBBB-F5F9-4B64-8A23-7AB421678ECF}" type="pres">
      <dgm:prSet presAssocID="{7B635135-7145-4DF0-8495-0BBA10B61B5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507CA03-64BB-4E3B-8686-244B23A28A80}" srcId="{7B635135-7145-4DF0-8495-0BBA10B61B55}" destId="{9C00D83B-21E6-4FCB-9B35-4EA413C44C38}" srcOrd="4" destOrd="0" parTransId="{139715F4-96D7-4298-A5B9-306A4258B763}" sibTransId="{4F0DE47B-082A-4C63-B80E-B7AA057813FC}"/>
    <dgm:cxn modelId="{94BA3904-6057-4605-9AEB-35EEB5179FC3}" srcId="{2DD89FFA-49BC-4658-8D79-F651F29F679E}" destId="{7B635135-7145-4DF0-8495-0BBA10B61B55}" srcOrd="1" destOrd="0" parTransId="{4C6F29BF-2535-41D2-BC18-8C371DE519FD}" sibTransId="{1414CCCB-1020-41FD-88D3-A51B19A8E616}"/>
    <dgm:cxn modelId="{CB60EA05-C9BC-4CE2-BE6D-5F0D2F3410B4}" type="presOf" srcId="{25D9F161-4641-4AE0-98EC-6DE4090B3527}" destId="{225F5478-EE41-43D1-A0DF-85B18639A2D6}" srcOrd="0" destOrd="0" presId="urn:microsoft.com/office/officeart/2005/8/layout/vList2"/>
    <dgm:cxn modelId="{45192A0D-1D5B-4CF7-9921-F43B58810C05}" type="presOf" srcId="{50BDD604-4681-4D3C-8B7E-7700F9296024}" destId="{0098BBBB-F5F9-4B64-8A23-7AB421678ECF}" srcOrd="0" destOrd="0" presId="urn:microsoft.com/office/officeart/2005/8/layout/vList2"/>
    <dgm:cxn modelId="{02EC862E-5808-40BC-B9F3-8CDD722DB7D0}" type="presOf" srcId="{109C06DD-C1D0-4455-8319-8EB9E2257BEE}" destId="{225F5478-EE41-43D1-A0DF-85B18639A2D6}" srcOrd="0" destOrd="1" presId="urn:microsoft.com/office/officeart/2005/8/layout/vList2"/>
    <dgm:cxn modelId="{B4F0B838-9F0B-4033-98D9-733197639F2D}" srcId="{7B635135-7145-4DF0-8495-0BBA10B61B55}" destId="{85818D5E-27D6-4931-9CCA-891BE6D96D7E}" srcOrd="3" destOrd="0" parTransId="{4230D7EB-F611-498D-82F5-6D88E65293EB}" sibTransId="{844A2B46-1166-4FFE-AB61-37D8E04FECA7}"/>
    <dgm:cxn modelId="{DE4FC63B-9AD8-480B-8866-5FEDF409DAA3}" type="presOf" srcId="{85818D5E-27D6-4931-9CCA-891BE6D96D7E}" destId="{0098BBBB-F5F9-4B64-8A23-7AB421678ECF}" srcOrd="0" destOrd="3" presId="urn:microsoft.com/office/officeart/2005/8/layout/vList2"/>
    <dgm:cxn modelId="{8FD4E066-7635-438D-86A8-B8D94B2E0635}" type="presOf" srcId="{9C00D83B-21E6-4FCB-9B35-4EA413C44C38}" destId="{0098BBBB-F5F9-4B64-8A23-7AB421678ECF}" srcOrd="0" destOrd="4" presId="urn:microsoft.com/office/officeart/2005/8/layout/vList2"/>
    <dgm:cxn modelId="{C7B5A249-076D-41F0-8A82-064AD2B6ABF3}" srcId="{7B635135-7145-4DF0-8495-0BBA10B61B55}" destId="{E3B9A46F-0255-4328-8CF1-1065E2775BF4}" srcOrd="2" destOrd="0" parTransId="{1C020AFF-3034-4D92-9A5E-CE461BB7E4B0}" sibTransId="{D1A448B4-4188-4EF4-88DF-EBE92F1DC8B9}"/>
    <dgm:cxn modelId="{5AFD517C-7E6B-4535-A83D-661A25CE0D2A}" srcId="{E78A07B1-B784-4419-A962-1206E4ECF71E}" destId="{25D9F161-4641-4AE0-98EC-6DE4090B3527}" srcOrd="0" destOrd="0" parTransId="{2B7A34A2-C3E6-4FCE-A1DB-6B800D854FC7}" sibTransId="{BA0B7C58-D8D2-4E63-8461-6E12258BD587}"/>
    <dgm:cxn modelId="{634C1581-7CA6-4DF5-BF4B-D27D8C4189E2}" srcId="{E78A07B1-B784-4419-A962-1206E4ECF71E}" destId="{109C06DD-C1D0-4455-8319-8EB9E2257BEE}" srcOrd="1" destOrd="0" parTransId="{F387C464-5BF2-449C-92F4-2398DB93AAF5}" sibTransId="{7444AE0F-9AD3-4E71-91BD-3D6CA252A44C}"/>
    <dgm:cxn modelId="{C4E06993-D6CF-4C95-93E8-133F949650B1}" type="presOf" srcId="{E78A07B1-B784-4419-A962-1206E4ECF71E}" destId="{E06D57FA-EBFF-42BC-85BD-5C32DD837F28}" srcOrd="0" destOrd="0" presId="urn:microsoft.com/office/officeart/2005/8/layout/vList2"/>
    <dgm:cxn modelId="{33216BA4-84A1-4CC7-89F4-E9685F5EB526}" srcId="{2DD89FFA-49BC-4658-8D79-F651F29F679E}" destId="{E78A07B1-B784-4419-A962-1206E4ECF71E}" srcOrd="0" destOrd="0" parTransId="{624A62B8-A4E9-4F2C-B70C-AA64B0C4C62F}" sibTransId="{827A15CB-6142-40D6-B6D9-E49E79174D80}"/>
    <dgm:cxn modelId="{D8C29BB0-8A3F-4916-93B1-E97F3B813AB1}" type="presOf" srcId="{E3B9A46F-0255-4328-8CF1-1065E2775BF4}" destId="{0098BBBB-F5F9-4B64-8A23-7AB421678ECF}" srcOrd="0" destOrd="2" presId="urn:microsoft.com/office/officeart/2005/8/layout/vList2"/>
    <dgm:cxn modelId="{D83CD0B1-A5DE-4595-90E7-8D546457EF42}" srcId="{E78A07B1-B784-4419-A962-1206E4ECF71E}" destId="{1CA4BA00-DF14-42CC-8B09-4C1C901A22CB}" srcOrd="2" destOrd="0" parTransId="{22E521AD-311D-4773-9AE2-43429483F9D0}" sibTransId="{A0082AC0-A649-4124-984B-111031A53918}"/>
    <dgm:cxn modelId="{CA97C6B6-0462-45C3-AE5C-BA177DD172C2}" type="presOf" srcId="{1CA4BA00-DF14-42CC-8B09-4C1C901A22CB}" destId="{225F5478-EE41-43D1-A0DF-85B18639A2D6}" srcOrd="0" destOrd="2" presId="urn:microsoft.com/office/officeart/2005/8/layout/vList2"/>
    <dgm:cxn modelId="{D78109B9-688B-4265-B8EF-A7B1EDBE46FA}" type="presOf" srcId="{2DD89FFA-49BC-4658-8D79-F651F29F679E}" destId="{5789E9F0-A107-4A98-AEBB-3D9B77C0D37E}" srcOrd="0" destOrd="0" presId="urn:microsoft.com/office/officeart/2005/8/layout/vList2"/>
    <dgm:cxn modelId="{B6EBEBC5-43AC-4351-A0AA-737184785011}" srcId="{7B635135-7145-4DF0-8495-0BBA10B61B55}" destId="{FE54D243-FC51-4BDE-A475-CBE69126D01D}" srcOrd="6" destOrd="0" parTransId="{7A2D57AD-8371-4D19-8B27-D01E5C29FBF2}" sibTransId="{8728CF77-9B11-44EB-8DEF-1B9771090E97}"/>
    <dgm:cxn modelId="{E0363EC9-BBCE-45A4-A0FE-0F929919CE62}" type="presOf" srcId="{FE54D243-FC51-4BDE-A475-CBE69126D01D}" destId="{0098BBBB-F5F9-4B64-8A23-7AB421678ECF}" srcOrd="0" destOrd="6" presId="urn:microsoft.com/office/officeart/2005/8/layout/vList2"/>
    <dgm:cxn modelId="{7988A0CD-7240-4898-AF9F-3E654219B689}" type="presOf" srcId="{F07CC287-3A46-4D31-BB05-7EDA343A7B4A}" destId="{0098BBBB-F5F9-4B64-8A23-7AB421678ECF}" srcOrd="0" destOrd="5" presId="urn:microsoft.com/office/officeart/2005/8/layout/vList2"/>
    <dgm:cxn modelId="{98C610D8-79F4-400E-BA8B-C71DF7B29E10}" srcId="{7B635135-7145-4DF0-8495-0BBA10B61B55}" destId="{50BDD604-4681-4D3C-8B7E-7700F9296024}" srcOrd="0" destOrd="0" parTransId="{EC695FBC-5A4F-4F62-AB0C-7696A299AC29}" sibTransId="{5186326E-B9AD-4E71-9562-6DA19C347A37}"/>
    <dgm:cxn modelId="{5DBFAFD9-D365-4DEC-B9FD-B0222EFC6BAB}" srcId="{7B635135-7145-4DF0-8495-0BBA10B61B55}" destId="{379B98D8-DEFE-426A-BC12-3E095B230387}" srcOrd="1" destOrd="0" parTransId="{9EBA7982-4167-4DC1-A2F9-E52FC6303632}" sibTransId="{51099756-C0BA-462A-BB35-29289ADC2B6A}"/>
    <dgm:cxn modelId="{57FBDDD9-8407-4ACC-967B-00750EDA78D2}" type="presOf" srcId="{379B98D8-DEFE-426A-BC12-3E095B230387}" destId="{0098BBBB-F5F9-4B64-8A23-7AB421678ECF}" srcOrd="0" destOrd="1" presId="urn:microsoft.com/office/officeart/2005/8/layout/vList2"/>
    <dgm:cxn modelId="{219B58DE-FF24-4073-8AC3-4D8B230B4556}" type="presOf" srcId="{7B635135-7145-4DF0-8495-0BBA10B61B55}" destId="{2D7B9E0A-697B-4359-812E-332464E4A2D7}" srcOrd="0" destOrd="0" presId="urn:microsoft.com/office/officeart/2005/8/layout/vList2"/>
    <dgm:cxn modelId="{9013F4FB-67D5-4A1C-BC65-AF52A447A41C}" srcId="{7B635135-7145-4DF0-8495-0BBA10B61B55}" destId="{F07CC287-3A46-4D31-BB05-7EDA343A7B4A}" srcOrd="5" destOrd="0" parTransId="{38EACF72-5377-4835-9072-669BFDD60466}" sibTransId="{0BBB57BF-65F3-45F2-BD3D-4DD5C87E324B}"/>
    <dgm:cxn modelId="{2F832879-FA15-46AB-819D-07B50A6B97DC}" type="presParOf" srcId="{5789E9F0-A107-4A98-AEBB-3D9B77C0D37E}" destId="{E06D57FA-EBFF-42BC-85BD-5C32DD837F28}" srcOrd="0" destOrd="0" presId="urn:microsoft.com/office/officeart/2005/8/layout/vList2"/>
    <dgm:cxn modelId="{5999B68F-47BF-4484-8A6E-50EAF408DD59}" type="presParOf" srcId="{5789E9F0-A107-4A98-AEBB-3D9B77C0D37E}" destId="{225F5478-EE41-43D1-A0DF-85B18639A2D6}" srcOrd="1" destOrd="0" presId="urn:microsoft.com/office/officeart/2005/8/layout/vList2"/>
    <dgm:cxn modelId="{3DA6A73B-2844-4041-A6EB-48129D4A5C16}" type="presParOf" srcId="{5789E9F0-A107-4A98-AEBB-3D9B77C0D37E}" destId="{2D7B9E0A-697B-4359-812E-332464E4A2D7}" srcOrd="2" destOrd="0" presId="urn:microsoft.com/office/officeart/2005/8/layout/vList2"/>
    <dgm:cxn modelId="{BBE163F9-7A42-495A-9E00-E91C400F97B6}" type="presParOf" srcId="{5789E9F0-A107-4A98-AEBB-3D9B77C0D37E}" destId="{0098BBBB-F5F9-4B64-8A23-7AB421678EC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A045C-724D-472F-B7E1-51CF7FD4ED64}">
      <dsp:nvSpPr>
        <dsp:cNvPr id="0" name=""/>
        <dsp:cNvSpPr/>
      </dsp:nvSpPr>
      <dsp:spPr>
        <a:xfrm rot="5400000">
          <a:off x="-234727" y="326727"/>
          <a:ext cx="1564847" cy="1095393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4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accent4">
              <a:hueOff val="0"/>
              <a:satOff val="0"/>
              <a:lumOff val="0"/>
              <a:alphaOff val="0"/>
              <a:tint val="10000"/>
              <a:satMod val="13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>
              <a:latin typeface="+mj-ea"/>
              <a:ea typeface="+mj-ea"/>
            </a:rPr>
            <a:t>경력</a:t>
          </a:r>
          <a:endParaRPr lang="ko-KR" altLang="en-US" sz="2000" b="1" kern="1200" dirty="0">
            <a:latin typeface="+mj-ea"/>
            <a:ea typeface="+mj-ea"/>
          </a:endParaRPr>
        </a:p>
      </dsp:txBody>
      <dsp:txXfrm rot="-5400000">
        <a:off x="1" y="639697"/>
        <a:ext cx="1095393" cy="469454"/>
      </dsp:txXfrm>
    </dsp:sp>
    <dsp:sp modelId="{5C36162E-A537-456D-9A73-A6B936453710}">
      <dsp:nvSpPr>
        <dsp:cNvPr id="0" name=""/>
        <dsp:cNvSpPr/>
      </dsp:nvSpPr>
      <dsp:spPr>
        <a:xfrm rot="5400000">
          <a:off x="4305638" y="-3208211"/>
          <a:ext cx="1197084" cy="76175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>
              <a:latin typeface="+mj-ea"/>
              <a:ea typeface="+mj-ea"/>
            </a:rPr>
            <a:t>삶의 </a:t>
          </a:r>
          <a:r>
            <a:rPr lang="ko-KR" altLang="en-US" sz="1200" kern="1200" dirty="0" err="1">
              <a:latin typeface="+mj-ea"/>
              <a:ea typeface="+mj-ea"/>
            </a:rPr>
            <a:t>전과정에</a:t>
          </a:r>
          <a:r>
            <a:rPr lang="ko-KR" altLang="en-US" sz="1200" kern="1200" dirty="0">
              <a:latin typeface="+mj-ea"/>
              <a:ea typeface="+mj-ea"/>
            </a:rPr>
            <a:t> 있어서 지속되는 일과 관련한 경험</a:t>
          </a:r>
          <a:r>
            <a:rPr lang="en-US" altLang="ko-KR" sz="1200" kern="1200" dirty="0">
              <a:latin typeface="+mj-ea"/>
              <a:ea typeface="+mj-ea"/>
            </a:rPr>
            <a:t>(</a:t>
          </a:r>
          <a:r>
            <a:rPr lang="en-US" altLang="ko-KR" sz="1200" kern="1200" dirty="0" err="1">
              <a:latin typeface="+mj-ea"/>
              <a:ea typeface="+mj-ea"/>
            </a:rPr>
            <a:t>Greeenhaus</a:t>
          </a:r>
          <a:r>
            <a:rPr lang="en-US" altLang="ko-KR" sz="1200" kern="1200" dirty="0">
              <a:latin typeface="+mj-ea"/>
              <a:ea typeface="+mj-ea"/>
            </a:rPr>
            <a:t>, 2000)</a:t>
          </a:r>
          <a:endParaRPr lang="ko-KR" altLang="en-US" sz="1200" kern="1200" dirty="0">
            <a:latin typeface="+mj-ea"/>
            <a:ea typeface="+mj-ea"/>
          </a:endParaRPr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>
              <a:latin typeface="+mj-ea"/>
              <a:ea typeface="+mj-ea"/>
            </a:rPr>
            <a:t>직업</a:t>
          </a:r>
          <a:r>
            <a:rPr lang="en-US" altLang="ko-KR" sz="1200" kern="1200">
              <a:latin typeface="+mj-ea"/>
              <a:ea typeface="+mj-ea"/>
            </a:rPr>
            <a:t>(job)</a:t>
          </a:r>
          <a:r>
            <a:rPr lang="ko-KR" altLang="en-US" sz="1200" kern="1200">
              <a:latin typeface="+mj-ea"/>
              <a:ea typeface="+mj-ea"/>
            </a:rPr>
            <a:t>과 같은 객관적인 사건과 직업에 대한 개인적인 태도</a:t>
          </a:r>
          <a:r>
            <a:rPr lang="en-US" altLang="ko-KR" sz="1200" kern="1200">
              <a:latin typeface="+mj-ea"/>
              <a:ea typeface="+mj-ea"/>
            </a:rPr>
            <a:t>, </a:t>
          </a:r>
          <a:r>
            <a:rPr lang="ko-KR" altLang="en-US" sz="1200" kern="1200">
              <a:latin typeface="+mj-ea"/>
              <a:ea typeface="+mj-ea"/>
            </a:rPr>
            <a:t>가치</a:t>
          </a:r>
          <a:r>
            <a:rPr lang="en-US" altLang="ko-KR" sz="1200" kern="1200">
              <a:latin typeface="+mj-ea"/>
              <a:ea typeface="+mj-ea"/>
            </a:rPr>
            <a:t>, </a:t>
          </a:r>
          <a:r>
            <a:rPr lang="ko-KR" altLang="en-US" sz="1200" kern="1200">
              <a:latin typeface="+mj-ea"/>
              <a:ea typeface="+mj-ea"/>
            </a:rPr>
            <a:t>기대 등의 주관적 사건을 포함함</a:t>
          </a:r>
          <a:endParaRPr lang="ko-KR" altLang="en-US" sz="1200" kern="1200" dirty="0">
            <a:latin typeface="+mj-ea"/>
            <a:ea typeface="+mj-ea"/>
          </a:endParaRPr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>
              <a:latin typeface="+mj-ea"/>
              <a:ea typeface="+mj-ea"/>
            </a:rPr>
            <a:t>직업의 안정성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진행수준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전문성에 관계없이 모든 사람을 </a:t>
          </a:r>
          <a:r>
            <a:rPr lang="en-US" altLang="ko-KR" sz="1200" kern="1200" dirty="0">
              <a:latin typeface="+mj-ea"/>
              <a:ea typeface="+mj-ea"/>
            </a:rPr>
            <a:t>career</a:t>
          </a:r>
          <a:r>
            <a:rPr lang="ko-KR" altLang="en-US" sz="1200" kern="1200" dirty="0">
              <a:latin typeface="+mj-ea"/>
              <a:ea typeface="+mj-ea"/>
            </a:rPr>
            <a:t>를 가지고 있으며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장기간에 걸쳐 개발된다</a:t>
          </a:r>
          <a:r>
            <a:rPr lang="en-US" altLang="ko-KR" sz="1200" kern="1200" dirty="0">
              <a:latin typeface="+mj-ea"/>
              <a:ea typeface="+mj-ea"/>
            </a:rPr>
            <a:t>.</a:t>
          </a:r>
        </a:p>
      </dsp:txBody>
      <dsp:txXfrm rot="-5400000">
        <a:off x="1095394" y="60470"/>
        <a:ext cx="7559137" cy="1080210"/>
      </dsp:txXfrm>
    </dsp:sp>
    <dsp:sp modelId="{7D3EFCA5-F5B8-4248-ABBE-AEB3273DF43C}">
      <dsp:nvSpPr>
        <dsp:cNvPr id="0" name=""/>
        <dsp:cNvSpPr/>
      </dsp:nvSpPr>
      <dsp:spPr>
        <a:xfrm rot="5400000">
          <a:off x="-234727" y="1701418"/>
          <a:ext cx="1564847" cy="1095393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4">
                <a:hueOff val="10211516"/>
                <a:satOff val="-11993"/>
                <a:lumOff val="4608"/>
                <a:alphaOff val="0"/>
                <a:shade val="22000"/>
                <a:satMod val="160000"/>
              </a:schemeClr>
              <a:schemeClr val="accent4">
                <a:hueOff val="10211516"/>
                <a:satOff val="-11993"/>
                <a:lumOff val="4608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 w="9525" cap="flat" cmpd="sng" algn="ctr">
          <a:solidFill>
            <a:schemeClr val="accent4">
              <a:hueOff val="10211516"/>
              <a:satOff val="-11993"/>
              <a:lumOff val="4608"/>
              <a:alphaOff val="0"/>
            </a:schemeClr>
          </a:solidFill>
          <a:prstDash val="solid"/>
        </a:ln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accent4">
              <a:hueOff val="10211516"/>
              <a:satOff val="-11993"/>
              <a:lumOff val="4608"/>
              <a:alphaOff val="0"/>
              <a:tint val="10000"/>
              <a:satMod val="13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>
              <a:latin typeface="+mj-ea"/>
              <a:ea typeface="+mj-ea"/>
            </a:rPr>
            <a:t>경 력</a:t>
          </a:r>
          <a:endParaRPr lang="ko-KR" altLang="en-US" sz="2000" b="1" kern="1200" dirty="0">
            <a:latin typeface="+mj-ea"/>
            <a:ea typeface="+mj-ea"/>
          </a:endParaRPr>
        </a:p>
      </dsp:txBody>
      <dsp:txXfrm rot="-5400000">
        <a:off x="1" y="2014388"/>
        <a:ext cx="1095393" cy="469454"/>
      </dsp:txXfrm>
    </dsp:sp>
    <dsp:sp modelId="{CC47606F-14D4-49F0-B347-BCF5570F5DB6}">
      <dsp:nvSpPr>
        <dsp:cNvPr id="0" name=""/>
        <dsp:cNvSpPr/>
      </dsp:nvSpPr>
      <dsp:spPr>
        <a:xfrm rot="5400000">
          <a:off x="4395605" y="-1833520"/>
          <a:ext cx="1017150" cy="76175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10211516"/>
              <a:satOff val="-11993"/>
              <a:lumOff val="4608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>
              <a:latin typeface="+mj-ea"/>
              <a:ea typeface="+mj-ea"/>
            </a:rPr>
            <a:t>개인 혹은 조직의 </a:t>
          </a:r>
          <a:r>
            <a:rPr lang="en-US" altLang="ko-KR" sz="1200" kern="1200" dirty="0">
              <a:latin typeface="+mj-ea"/>
              <a:ea typeface="+mj-ea"/>
            </a:rPr>
            <a:t>career system</a:t>
          </a:r>
          <a:r>
            <a:rPr lang="ko-KR" altLang="en-US" sz="1200" kern="1200" dirty="0">
              <a:latin typeface="+mj-ea"/>
              <a:ea typeface="+mj-ea"/>
            </a:rPr>
            <a:t>과 함께 </a:t>
          </a:r>
          <a:r>
            <a:rPr lang="en-US" altLang="ko-KR" sz="1200" kern="1200" dirty="0">
              <a:latin typeface="+mj-ea"/>
              <a:ea typeface="+mj-ea"/>
            </a:rPr>
            <a:t>career plan</a:t>
          </a:r>
          <a:r>
            <a:rPr lang="ko-KR" altLang="en-US" sz="1200" kern="1200" dirty="0">
              <a:latin typeface="+mj-ea"/>
              <a:ea typeface="+mj-ea"/>
            </a:rPr>
            <a:t>을 준비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실행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평가하는 지속적인 과정</a:t>
          </a:r>
        </a:p>
      </dsp:txBody>
      <dsp:txXfrm rot="-5400000">
        <a:off x="1095394" y="1516344"/>
        <a:ext cx="7567921" cy="917844"/>
      </dsp:txXfrm>
    </dsp:sp>
    <dsp:sp modelId="{507AEF35-91F1-458F-867C-BB67967877C3}">
      <dsp:nvSpPr>
        <dsp:cNvPr id="0" name=""/>
        <dsp:cNvSpPr/>
      </dsp:nvSpPr>
      <dsp:spPr>
        <a:xfrm rot="5400000">
          <a:off x="-234727" y="3040698"/>
          <a:ext cx="1564847" cy="1095393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4">
                <a:hueOff val="20423033"/>
                <a:satOff val="-23986"/>
                <a:lumOff val="9216"/>
                <a:alphaOff val="0"/>
                <a:shade val="22000"/>
                <a:satMod val="160000"/>
              </a:schemeClr>
              <a:schemeClr val="accent4">
                <a:hueOff val="20423033"/>
                <a:satOff val="-23986"/>
                <a:lumOff val="9216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 w="9525" cap="flat" cmpd="sng" algn="ctr">
          <a:solidFill>
            <a:schemeClr val="accent4">
              <a:hueOff val="20423033"/>
              <a:satOff val="-23986"/>
              <a:lumOff val="9216"/>
              <a:alphaOff val="0"/>
            </a:schemeClr>
          </a:solidFill>
          <a:prstDash val="solid"/>
        </a:ln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accent4">
              <a:hueOff val="20423033"/>
              <a:satOff val="-23986"/>
              <a:lumOff val="9216"/>
              <a:alphaOff val="0"/>
              <a:tint val="10000"/>
              <a:satMod val="13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>
              <a:latin typeface="+mj-ea"/>
              <a:ea typeface="+mj-ea"/>
            </a:rPr>
            <a:t>경력계획</a:t>
          </a:r>
          <a:endParaRPr lang="ko-KR" altLang="en-US" sz="2000" b="1" kern="1200" dirty="0">
            <a:latin typeface="+mj-ea"/>
            <a:ea typeface="+mj-ea"/>
          </a:endParaRPr>
        </a:p>
      </dsp:txBody>
      <dsp:txXfrm rot="-5400000">
        <a:off x="1" y="3353668"/>
        <a:ext cx="1095393" cy="469454"/>
      </dsp:txXfrm>
    </dsp:sp>
    <dsp:sp modelId="{28698569-B91E-44CF-BBCD-D47BC3667C81}">
      <dsp:nvSpPr>
        <dsp:cNvPr id="0" name=""/>
        <dsp:cNvSpPr/>
      </dsp:nvSpPr>
      <dsp:spPr>
        <a:xfrm rot="5400000">
          <a:off x="4395605" y="-458828"/>
          <a:ext cx="1017150" cy="76175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20423033"/>
              <a:satOff val="-23986"/>
              <a:lumOff val="9216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kern="1200" dirty="0">
              <a:latin typeface="+mj-ea"/>
              <a:ea typeface="+mj-ea"/>
            </a:rPr>
            <a:t>1)</a:t>
          </a:r>
          <a:r>
            <a:rPr lang="ko-KR" altLang="en-US" sz="1200" kern="1200" dirty="0">
              <a:latin typeface="+mj-ea"/>
              <a:ea typeface="+mj-ea"/>
            </a:rPr>
            <a:t>자신과 자신의 </a:t>
          </a:r>
          <a:r>
            <a:rPr lang="ko-KR" altLang="en-US" sz="1200" kern="1200" dirty="0" err="1">
              <a:latin typeface="+mj-ea"/>
              <a:ea typeface="+mj-ea"/>
            </a:rPr>
            <a:t>강약점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선택과 결과 등을 이해하고</a:t>
          </a:r>
          <a:r>
            <a:rPr lang="en-US" altLang="ko-KR" sz="1200" kern="1200" dirty="0">
              <a:latin typeface="+mj-ea"/>
              <a:ea typeface="+mj-ea"/>
            </a:rPr>
            <a:t>,</a:t>
          </a:r>
          <a:endParaRPr lang="ko-KR" altLang="en-US" sz="1200" kern="1200" dirty="0">
            <a:latin typeface="+mj-ea"/>
            <a:ea typeface="+mj-ea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kern="1200">
              <a:latin typeface="+mj-ea"/>
              <a:ea typeface="+mj-ea"/>
            </a:rPr>
            <a:t>2) </a:t>
          </a:r>
          <a:r>
            <a:rPr lang="ko-KR" altLang="en-US" sz="1200" kern="1200">
              <a:latin typeface="+mj-ea"/>
              <a:ea typeface="+mj-ea"/>
            </a:rPr>
            <a:t>경력과 관련한 목표를 설정하며</a:t>
          </a:r>
          <a:r>
            <a:rPr lang="en-US" altLang="ko-KR" sz="1200" kern="1200">
              <a:latin typeface="+mj-ea"/>
              <a:ea typeface="+mj-ea"/>
            </a:rPr>
            <a:t>, </a:t>
          </a:r>
          <a:endParaRPr lang="en-US" altLang="ko-KR" sz="1200" kern="1200" dirty="0">
            <a:latin typeface="+mj-ea"/>
            <a:ea typeface="+mj-ea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kern="1200" dirty="0">
              <a:latin typeface="+mj-ea"/>
              <a:ea typeface="+mj-ea"/>
            </a:rPr>
            <a:t>3)</a:t>
          </a:r>
          <a:r>
            <a:rPr lang="ko-KR" altLang="en-US" sz="1200" kern="1200" dirty="0">
              <a:latin typeface="+mj-ea"/>
              <a:ea typeface="+mj-ea"/>
            </a:rPr>
            <a:t>특정한 </a:t>
          </a:r>
          <a:r>
            <a:rPr lang="en-US" altLang="ko-KR" sz="1200" kern="1200" dirty="0">
              <a:latin typeface="+mj-ea"/>
              <a:ea typeface="+mj-ea"/>
            </a:rPr>
            <a:t>career </a:t>
          </a:r>
          <a:r>
            <a:rPr lang="ko-KR" altLang="en-US" sz="1200" kern="1200" dirty="0">
              <a:latin typeface="+mj-ea"/>
              <a:ea typeface="+mj-ea"/>
            </a:rPr>
            <a:t>목적을 성취하기 위해 그 방향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시간계획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일련의 단계들을 제공하는 일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교육</a:t>
          </a:r>
          <a:r>
            <a:rPr lang="en-US" altLang="ko-KR" sz="1200" kern="1200" dirty="0">
              <a:latin typeface="+mj-ea"/>
              <a:ea typeface="+mj-ea"/>
            </a:rPr>
            <a:t>, </a:t>
          </a:r>
          <a:r>
            <a:rPr lang="ko-KR" altLang="en-US" sz="1200" kern="1200" dirty="0">
              <a:latin typeface="+mj-ea"/>
              <a:ea typeface="+mj-ea"/>
            </a:rPr>
            <a:t>개발 경험 등을 </a:t>
          </a:r>
          <a:r>
            <a:rPr lang="ko-KR" altLang="en-US" sz="1200" kern="1200" dirty="0" err="1">
              <a:latin typeface="+mj-ea"/>
              <a:ea typeface="+mj-ea"/>
            </a:rPr>
            <a:t>프로그램밍</a:t>
          </a:r>
          <a:r>
            <a:rPr lang="ko-KR" altLang="en-US" sz="1200" kern="1200" dirty="0">
              <a:latin typeface="+mj-ea"/>
              <a:ea typeface="+mj-ea"/>
            </a:rPr>
            <a:t> 하는 것  </a:t>
          </a:r>
        </a:p>
      </dsp:txBody>
      <dsp:txXfrm rot="-5400000">
        <a:off x="1095394" y="2891036"/>
        <a:ext cx="7567921" cy="917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71D14-3554-4FCF-AA95-96B56BB538D2}">
      <dsp:nvSpPr>
        <dsp:cNvPr id="0" name=""/>
        <dsp:cNvSpPr/>
      </dsp:nvSpPr>
      <dsp:spPr>
        <a:xfrm>
          <a:off x="6216906" y="2299114"/>
          <a:ext cx="91440" cy="6359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59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5F5FB6-AB9E-45E4-B698-EC13F04CEC93}">
      <dsp:nvSpPr>
        <dsp:cNvPr id="0" name=""/>
        <dsp:cNvSpPr/>
      </dsp:nvSpPr>
      <dsp:spPr>
        <a:xfrm>
          <a:off x="4041878" y="1055245"/>
          <a:ext cx="2220747" cy="6359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62"/>
              </a:lnTo>
              <a:lnTo>
                <a:pt x="2220747" y="317962"/>
              </a:lnTo>
              <a:lnTo>
                <a:pt x="2220747" y="6359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C1F3FB-84B7-4583-AA06-F20256DB5A17}">
      <dsp:nvSpPr>
        <dsp:cNvPr id="0" name=""/>
        <dsp:cNvSpPr/>
      </dsp:nvSpPr>
      <dsp:spPr>
        <a:xfrm>
          <a:off x="1766690" y="2299114"/>
          <a:ext cx="91440" cy="6359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59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84D00-A00E-4FE8-9533-389352C06F5F}">
      <dsp:nvSpPr>
        <dsp:cNvPr id="0" name=""/>
        <dsp:cNvSpPr/>
      </dsp:nvSpPr>
      <dsp:spPr>
        <a:xfrm>
          <a:off x="1812410" y="1055245"/>
          <a:ext cx="2229468" cy="635924"/>
        </a:xfrm>
        <a:custGeom>
          <a:avLst/>
          <a:gdLst/>
          <a:ahLst/>
          <a:cxnLst/>
          <a:rect l="0" t="0" r="0" b="0"/>
          <a:pathLst>
            <a:path>
              <a:moveTo>
                <a:pt x="2229468" y="0"/>
              </a:moveTo>
              <a:lnTo>
                <a:pt x="2229468" y="317962"/>
              </a:lnTo>
              <a:lnTo>
                <a:pt x="0" y="317962"/>
              </a:lnTo>
              <a:lnTo>
                <a:pt x="0" y="6359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04C6A-5DE3-4A24-BADA-FDAB7D8C2756}">
      <dsp:nvSpPr>
        <dsp:cNvPr id="0" name=""/>
        <dsp:cNvSpPr/>
      </dsp:nvSpPr>
      <dsp:spPr>
        <a:xfrm>
          <a:off x="2527772" y="375366"/>
          <a:ext cx="3028212" cy="67987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4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kern="1200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경력개발</a:t>
          </a:r>
          <a:endParaRPr kumimoji="1" lang="ko-KR" altLang="en-US" sz="1600" b="0" i="0" u="none" strike="noStrike" kern="1200" cap="none" normalizeH="0" baseline="0">
            <a:ln/>
            <a:effectLst/>
            <a:latin typeface="굴림" pitchFamily="50" charset="-127"/>
            <a:ea typeface="굴림" pitchFamily="50" charset="-127"/>
            <a:cs typeface="굴림" pitchFamily="50" charset="-127"/>
          </a:endParaRPr>
        </a:p>
      </dsp:txBody>
      <dsp:txXfrm>
        <a:off x="2527772" y="375366"/>
        <a:ext cx="3028212" cy="679879"/>
      </dsp:txXfrm>
    </dsp:sp>
    <dsp:sp modelId="{4D4483DA-6212-4200-9A05-B522B52D0DB7}">
      <dsp:nvSpPr>
        <dsp:cNvPr id="0" name=""/>
        <dsp:cNvSpPr/>
      </dsp:nvSpPr>
      <dsp:spPr>
        <a:xfrm>
          <a:off x="605637" y="1691170"/>
          <a:ext cx="2413545" cy="607943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6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kern="1200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개인 활동</a:t>
          </a:r>
        </a:p>
      </dsp:txBody>
      <dsp:txXfrm>
        <a:off x="605637" y="1691170"/>
        <a:ext cx="2413545" cy="607943"/>
      </dsp:txXfrm>
    </dsp:sp>
    <dsp:sp modelId="{81F8FFF5-7970-4A8B-BDF1-00981464179A}">
      <dsp:nvSpPr>
        <dsp:cNvPr id="0" name=""/>
        <dsp:cNvSpPr/>
      </dsp:nvSpPr>
      <dsp:spPr>
        <a:xfrm>
          <a:off x="2266" y="2935039"/>
          <a:ext cx="3620288" cy="1514106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경력계획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경력인식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altLang="en-US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경력자원센터의 활용</a:t>
          </a:r>
        </a:p>
      </dsp:txBody>
      <dsp:txXfrm>
        <a:off x="2266" y="2935039"/>
        <a:ext cx="3620288" cy="1514106"/>
      </dsp:txXfrm>
    </dsp:sp>
    <dsp:sp modelId="{7E5D0ADA-C1FC-42DD-8B46-7EA2B3C0EBE5}">
      <dsp:nvSpPr>
        <dsp:cNvPr id="0" name=""/>
        <dsp:cNvSpPr/>
      </dsp:nvSpPr>
      <dsp:spPr>
        <a:xfrm>
          <a:off x="5047131" y="1691170"/>
          <a:ext cx="2430988" cy="607943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6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ko-KR" altLang="en-US" sz="1600" b="1" i="0" u="none" strike="noStrike" kern="1200" cap="none" normalizeH="0" baseline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조직 활동</a:t>
          </a:r>
        </a:p>
      </dsp:txBody>
      <dsp:txXfrm>
        <a:off x="5047131" y="1691170"/>
        <a:ext cx="2430988" cy="607943"/>
      </dsp:txXfrm>
    </dsp:sp>
    <dsp:sp modelId="{C0F8A34A-E12B-483C-B56E-6A0F8EB52F95}">
      <dsp:nvSpPr>
        <dsp:cNvPr id="0" name=""/>
        <dsp:cNvSpPr/>
      </dsp:nvSpPr>
      <dsp:spPr>
        <a:xfrm>
          <a:off x="4258479" y="2935039"/>
          <a:ext cx="4008293" cy="1514106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직무공고제도</a:t>
          </a: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 </a:t>
          </a:r>
          <a:r>
            <a:rPr kumimoji="1" lang="ko-KR" sz="1200" b="0" i="0" u="none" strike="noStrike" kern="1200" cap="none" normalizeH="0" baseline="0" dirty="0" err="1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멘토링</a:t>
          </a: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경력자원센터의 개발과 유지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 상담자로서 관리자의 활용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경력개발 워크숍과 세미나 개최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인적자원계획</a:t>
          </a: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,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수행평가</a:t>
          </a:r>
        </a:p>
        <a:p>
          <a:pPr marL="0" marR="0" lvl="0" indent="0" algn="just" defTabSz="914400" rtl="0" eaLnBrk="1" fontAlgn="base" latinLnBrk="1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- </a:t>
          </a:r>
          <a:r>
            <a:rPr kumimoji="1" lang="ko-KR" sz="1200" b="0" i="0" u="none" strike="noStrike" kern="1200" cap="none" normalizeH="0" baseline="0" dirty="0">
              <a:ln/>
              <a:effectLst/>
              <a:latin typeface="굴림" pitchFamily="50" charset="-127"/>
              <a:ea typeface="굴림" pitchFamily="50" charset="-127"/>
              <a:cs typeface="굴림" pitchFamily="50" charset="-127"/>
            </a:rPr>
            <a:t>경력경로 프로그램</a:t>
          </a:r>
        </a:p>
      </dsp:txBody>
      <dsp:txXfrm>
        <a:off x="4258479" y="2935039"/>
        <a:ext cx="4008293" cy="15141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D57FA-EBFF-42BC-85BD-5C32DD837F28}">
      <dsp:nvSpPr>
        <dsp:cNvPr id="0" name=""/>
        <dsp:cNvSpPr/>
      </dsp:nvSpPr>
      <dsp:spPr>
        <a:xfrm>
          <a:off x="0" y="0"/>
          <a:ext cx="8352928" cy="64784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accent5">
              <a:hueOff val="0"/>
              <a:satOff val="0"/>
              <a:lumOff val="0"/>
              <a:alphaOff val="0"/>
              <a:tint val="1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b="1" kern="1200" dirty="0">
              <a:latin typeface="+mn-lt"/>
              <a:ea typeface="굴림" pitchFamily="50" charset="-127"/>
            </a:rPr>
            <a:t>경력 개발 시행 이유</a:t>
          </a:r>
          <a:endParaRPr lang="ko-KR" altLang="en-US" sz="1600" b="1" kern="1200" dirty="0">
            <a:latin typeface="+mn-lt"/>
          </a:endParaRPr>
        </a:p>
      </dsp:txBody>
      <dsp:txXfrm>
        <a:off x="31625" y="31625"/>
        <a:ext cx="8289678" cy="584599"/>
      </dsp:txXfrm>
    </dsp:sp>
    <dsp:sp modelId="{225F5478-EE41-43D1-A0DF-85B18639A2D6}">
      <dsp:nvSpPr>
        <dsp:cNvPr id="0" name=""/>
        <dsp:cNvSpPr/>
      </dsp:nvSpPr>
      <dsp:spPr>
        <a:xfrm>
          <a:off x="0" y="653761"/>
          <a:ext cx="8352928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205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200" b="1" kern="1200" dirty="0">
            <a:latin typeface="+mn-ea"/>
            <a:ea typeface="+mn-ea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+mn-ea"/>
              <a:ea typeface="+mn-ea"/>
            </a:rPr>
            <a:t>직원들을 개발</a:t>
          </a:r>
          <a:r>
            <a:rPr lang="en-US" altLang="ko-KR" sz="1200" b="1" kern="1200" dirty="0">
              <a:latin typeface="+mn-ea"/>
              <a:ea typeface="+mn-ea"/>
            </a:rPr>
            <a:t>, </a:t>
          </a:r>
          <a:r>
            <a:rPr lang="ko-KR" altLang="en-US" sz="1200" b="1" kern="1200" dirty="0">
              <a:latin typeface="+mn-ea"/>
              <a:ea typeface="+mn-ea"/>
            </a:rPr>
            <a:t>승진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+mn-ea"/>
              <a:ea typeface="+mn-ea"/>
            </a:rPr>
            <a:t>이직률 낮추기</a:t>
          </a:r>
        </a:p>
      </dsp:txBody>
      <dsp:txXfrm>
        <a:off x="0" y="653761"/>
        <a:ext cx="8352928" cy="1059840"/>
      </dsp:txXfrm>
    </dsp:sp>
    <dsp:sp modelId="{2D7B9E0A-697B-4359-812E-332464E4A2D7}">
      <dsp:nvSpPr>
        <dsp:cNvPr id="0" name=""/>
        <dsp:cNvSpPr/>
      </dsp:nvSpPr>
      <dsp:spPr>
        <a:xfrm>
          <a:off x="0" y="1713601"/>
          <a:ext cx="8352928" cy="652654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-21323121"/>
                <a:satOff val="12119"/>
                <a:lumOff val="-10000"/>
                <a:alphaOff val="0"/>
                <a:shade val="22000"/>
                <a:satMod val="160000"/>
              </a:schemeClr>
              <a:schemeClr val="accent5">
                <a:hueOff val="-21323121"/>
                <a:satOff val="12119"/>
                <a:lumOff val="-1000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accent5">
              <a:hueOff val="-21323121"/>
              <a:satOff val="12119"/>
              <a:lumOff val="-10000"/>
              <a:alphaOff val="0"/>
              <a:tint val="10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>
              <a:latin typeface="+mn-lt"/>
              <a:ea typeface="굴림" pitchFamily="50" charset="-127"/>
            </a:rPr>
            <a:t>HRD </a:t>
          </a:r>
          <a:r>
            <a:rPr lang="ko-KR" altLang="en-US" sz="1600" b="1" kern="1200">
              <a:latin typeface="+mn-lt"/>
              <a:ea typeface="굴림" pitchFamily="50" charset="-127"/>
            </a:rPr>
            <a:t>전문가 경력개발 프로그램 통합적 활동</a:t>
          </a:r>
          <a:endParaRPr lang="ko-KR" altLang="en-US" sz="1600" b="1" kern="1200" dirty="0">
            <a:latin typeface="+mn-lt"/>
          </a:endParaRPr>
        </a:p>
      </dsp:txBody>
      <dsp:txXfrm>
        <a:off x="31860" y="1745461"/>
        <a:ext cx="8289208" cy="588934"/>
      </dsp:txXfrm>
    </dsp:sp>
    <dsp:sp modelId="{0098BBBB-F5F9-4B64-8A23-7AB421678ECF}">
      <dsp:nvSpPr>
        <dsp:cNvPr id="0" name=""/>
        <dsp:cNvSpPr/>
      </dsp:nvSpPr>
      <dsp:spPr>
        <a:xfrm>
          <a:off x="0" y="2366255"/>
          <a:ext cx="8352928" cy="2020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205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조직의 미래요구 예측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수행평가의 활용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직무 공고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직원들을 위한 경력 경로 계획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훈련과 개발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200" b="1" kern="1200" dirty="0">
              <a:latin typeface="맑은 고딕" pitchFamily="50" charset="-127"/>
              <a:ea typeface="맑은 고딕" pitchFamily="50" charset="-127"/>
            </a:rPr>
            <a:t>일관된 보상관행 개발</a:t>
          </a:r>
        </a:p>
      </dsp:txBody>
      <dsp:txXfrm>
        <a:off x="0" y="2366255"/>
        <a:ext cx="8352928" cy="2020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모서리가 둥근 직사각형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모서리가 둥근 직사각형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모서리가 둥근 직사각형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사각형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모서리가 둥근 직사각형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455A2A6-35AE-454F-B854-B21872BADF41}" type="datetimeFigureOut">
              <a:rPr lang="ko-KR" altLang="en-US" smtClean="0"/>
              <a:t>2023-08-08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4985C97-ACD2-4437-90B8-DA5CB8CD4FF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1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1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1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1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4365104"/>
            <a:ext cx="7772400" cy="119970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2023</a:t>
            </a:r>
            <a:r>
              <a:rPr lang="ko-KR" altLang="en-US" sz="1600" dirty="0"/>
              <a:t>년 </a:t>
            </a:r>
            <a:r>
              <a:rPr lang="en-US" altLang="ko-KR" sz="1600" dirty="0"/>
              <a:t>03</a:t>
            </a:r>
            <a:r>
              <a:rPr lang="ko-KR" altLang="en-US" sz="1600" dirty="0"/>
              <a:t>월 </a:t>
            </a:r>
            <a:r>
              <a:rPr lang="en-US" altLang="ko-KR" sz="1600" dirty="0"/>
              <a:t>28</a:t>
            </a:r>
            <a:r>
              <a:rPr lang="ko-KR" altLang="en-US" sz="1600" dirty="0"/>
              <a:t>일</a:t>
            </a:r>
            <a:endParaRPr lang="en-US" altLang="ko-KR" sz="1600" dirty="0"/>
          </a:p>
          <a:p>
            <a:r>
              <a:rPr lang="ko-KR" altLang="en-US" dirty="0"/>
              <a:t>부원장 김경민</a:t>
            </a:r>
          </a:p>
        </p:txBody>
      </p:sp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3568" y="1916832"/>
            <a:ext cx="777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/>
              <a:t>교직원 능력개발</a:t>
            </a:r>
            <a:r>
              <a:rPr lang="en-US" altLang="ko-KR" b="1" dirty="0"/>
              <a:t>, </a:t>
            </a:r>
            <a:r>
              <a:rPr lang="ko-KR" altLang="en-US" b="1" dirty="0"/>
              <a:t>경력개발</a:t>
            </a:r>
          </a:p>
        </p:txBody>
      </p:sp>
      <p:sp>
        <p:nvSpPr>
          <p:cNvPr id="46" name="직사각형 7"/>
          <p:cNvSpPr>
            <a:spLocks noChangeArrowheads="1"/>
          </p:cNvSpPr>
          <p:nvPr/>
        </p:nvSpPr>
        <p:spPr bwMode="auto">
          <a:xfrm>
            <a:off x="6588224" y="6165304"/>
            <a:ext cx="22621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>
                <a:solidFill>
                  <a:srgbClr val="000000"/>
                </a:solidFill>
                <a:latin typeface="경기천년제목V Bold" pitchFamily="18" charset="-127"/>
                <a:ea typeface="경기천년제목V Bold" pitchFamily="18" charset="-127"/>
                <a:cs typeface="굴림" pitchFamily="50" charset="-127"/>
              </a:rPr>
              <a:t>에듀컴퓨터교육학원</a:t>
            </a:r>
            <a:endParaRPr lang="ko-KR" altLang="en-US" sz="1100" dirty="0">
              <a:ea typeface="경기천년제목V Bold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34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/>
          <p:cNvGraphicFramePr/>
          <p:nvPr>
            <p:extLst>
              <p:ext uri="{D42A27DB-BD31-4B8C-83A1-F6EECF244321}">
                <p14:modId xmlns:p14="http://schemas.microsoft.com/office/powerpoint/2010/main" val="4264298368"/>
              </p:ext>
            </p:extLst>
          </p:nvPr>
        </p:nvGraphicFramePr>
        <p:xfrm>
          <a:off x="251520" y="1180976"/>
          <a:ext cx="8712968" cy="440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3528" y="5486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경력정의</a:t>
            </a:r>
          </a:p>
        </p:txBody>
      </p:sp>
    </p:spTree>
    <p:extLst>
      <p:ext uri="{BB962C8B-B14F-4D97-AF65-F5344CB8AC3E}">
        <p14:creationId xmlns:p14="http://schemas.microsoft.com/office/powerpoint/2010/main" val="186793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03250" y="1182166"/>
            <a:ext cx="6048672" cy="1958802"/>
          </a:xfrm>
          <a:prstGeom prst="rect">
            <a:avLst/>
          </a:prstGeom>
        </p:spPr>
      </p:pic>
      <p:sp>
        <p:nvSpPr>
          <p:cNvPr id="6" name="Rectangle 120"/>
          <p:cNvSpPr>
            <a:spLocks noChangeArrowheads="1"/>
          </p:cNvSpPr>
          <p:nvPr/>
        </p:nvSpPr>
        <p:spPr bwMode="auto">
          <a:xfrm>
            <a:off x="0" y="548680"/>
            <a:ext cx="9204325" cy="61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HRD 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전문가는 직원들이 자신의 경력을 책임질 수 있도록 장려하는 한편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관리자들에게 경력개발의 중요성을 인식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분석을 실시</a:t>
            </a:r>
            <a:endParaRPr lang="en-US" altLang="ko-KR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51520" y="188640"/>
            <a:ext cx="21034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조직에서의 경력개발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87361" y="3212976"/>
            <a:ext cx="8229600" cy="3384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b="1" dirty="0"/>
              <a:t>조직 중심의 경력개발 모델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ko-KR" sz="1400" dirty="0"/>
              <a:t>The pluralistic approach (</a:t>
            </a:r>
            <a:r>
              <a:rPr lang="en-US" altLang="ko-KR" sz="1400" dirty="0" err="1"/>
              <a:t>Brousseau</a:t>
            </a:r>
            <a:r>
              <a:rPr lang="en-US" altLang="ko-KR" sz="1400" dirty="0"/>
              <a:t> et al,1996)</a:t>
            </a:r>
          </a:p>
          <a:p>
            <a:pPr lvl="1"/>
            <a:r>
              <a:rPr lang="ko-KR" altLang="en-US" sz="1200" dirty="0"/>
              <a:t>조직과 개인을 통합하기 위해 전혀 다른 경력경험의 기회를 가진 다양한 종류의 조직구조를 결합한 겸직</a:t>
            </a:r>
            <a:r>
              <a:rPr lang="en-US" altLang="ko-KR" sz="1200" dirty="0"/>
              <a:t>(</a:t>
            </a:r>
            <a:r>
              <a:rPr lang="ko-KR" altLang="en-US" sz="1200" dirty="0"/>
              <a:t>이중</a:t>
            </a:r>
            <a:r>
              <a:rPr lang="en-US" altLang="ko-KR" sz="1200" dirty="0"/>
              <a:t>)</a:t>
            </a:r>
            <a:r>
              <a:rPr lang="ko-KR" altLang="en-US" sz="1200" dirty="0"/>
              <a:t>을 활용한다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조직은 핵심역량과 조직리더십을 유지하는 명백한 구조를 가지면서 외적인 환경의 요구에 부합할 수 있는 느슨한 조직구조를 동시에 가진다</a:t>
            </a:r>
            <a:r>
              <a:rPr lang="en-US" altLang="ko-KR" sz="1200" dirty="0"/>
              <a:t>. (</a:t>
            </a:r>
            <a:r>
              <a:rPr lang="ko-KR" altLang="en-US" sz="1200" dirty="0"/>
              <a:t>카페테리아 식의 경력선택 경로를 가진다</a:t>
            </a:r>
            <a:r>
              <a:rPr lang="en-US" altLang="ko-KR" sz="1200" dirty="0"/>
              <a:t>)</a:t>
            </a:r>
          </a:p>
          <a:p>
            <a:pPr lvl="1"/>
            <a:endParaRPr lang="en-US" altLang="ko-KR" sz="1400" dirty="0"/>
          </a:p>
          <a:p>
            <a:pPr marL="400050" indent="-400050">
              <a:buFont typeface="+mj-lt"/>
              <a:buAutoNum type="romanUcPeriod"/>
            </a:pPr>
            <a:r>
              <a:rPr lang="ko-KR" altLang="en-US" sz="1400" dirty="0"/>
              <a:t>경력개발의 시스템 관점</a:t>
            </a:r>
            <a:r>
              <a:rPr lang="en-US" altLang="ko-KR" sz="1400" dirty="0"/>
              <a:t>(Nicholson, 1996)</a:t>
            </a:r>
          </a:p>
          <a:p>
            <a:pPr lvl="1"/>
            <a:r>
              <a:rPr lang="en-US" altLang="ko-KR" sz="1200" dirty="0"/>
              <a:t>People system (</a:t>
            </a:r>
            <a:r>
              <a:rPr lang="ko-KR" altLang="en-US" sz="1200" dirty="0"/>
              <a:t>인적자원의 선발</a:t>
            </a:r>
            <a:r>
              <a:rPr lang="en-US" altLang="ko-KR" sz="1200" dirty="0"/>
              <a:t>, </a:t>
            </a:r>
            <a:r>
              <a:rPr lang="ko-KR" altLang="en-US" sz="1200" dirty="0"/>
              <a:t>육성</a:t>
            </a:r>
            <a:r>
              <a:rPr lang="en-US" altLang="ko-KR" sz="1200" dirty="0"/>
              <a:t>, </a:t>
            </a:r>
            <a:r>
              <a:rPr lang="ko-KR" altLang="en-US" sz="1200" dirty="0"/>
              <a:t>동기부여등과 관련한 활동</a:t>
            </a:r>
            <a:r>
              <a:rPr lang="en-US" altLang="ko-KR" sz="1200" dirty="0"/>
              <a:t>), Job market system(</a:t>
            </a:r>
            <a:r>
              <a:rPr lang="ko-KR" altLang="en-US" sz="1200" dirty="0"/>
              <a:t>개발 기회 등의 구조</a:t>
            </a:r>
            <a:r>
              <a:rPr lang="en-US" altLang="ko-KR" sz="1200" dirty="0"/>
              <a:t>), Management and information system(</a:t>
            </a:r>
            <a:r>
              <a:rPr lang="ko-KR" altLang="en-US" sz="1200" dirty="0"/>
              <a:t>사람</a:t>
            </a:r>
            <a:r>
              <a:rPr lang="en-US" altLang="ko-KR" sz="1200" dirty="0"/>
              <a:t>, </a:t>
            </a:r>
            <a:r>
              <a:rPr lang="ko-KR" altLang="en-US" sz="1200" dirty="0"/>
              <a:t>아이디어</a:t>
            </a:r>
            <a:r>
              <a:rPr lang="en-US" altLang="ko-KR" sz="1200" dirty="0"/>
              <a:t>, </a:t>
            </a:r>
            <a:r>
              <a:rPr lang="ko-KR" altLang="en-US" sz="1200" dirty="0"/>
              <a:t>정보의 흐름을 촉진하는 활동</a:t>
            </a:r>
            <a:r>
              <a:rPr lang="en-US" altLang="ko-KR" sz="1200" dirty="0"/>
              <a:t>)</a:t>
            </a:r>
          </a:p>
          <a:p>
            <a:pPr lvl="1"/>
            <a:r>
              <a:rPr lang="ko-KR" altLang="en-US" sz="1200" dirty="0"/>
              <a:t>환경의 변화는 보다 경쟁력을 요구하기 때문에 경력개발이란 </a:t>
            </a:r>
            <a:r>
              <a:rPr lang="en-US" altLang="ko-KR" sz="1200" dirty="0"/>
              <a:t>management and information system</a:t>
            </a:r>
            <a:r>
              <a:rPr lang="ko-KR" altLang="en-US" sz="1200" dirty="0"/>
              <a:t>을 통해  </a:t>
            </a:r>
            <a:r>
              <a:rPr lang="en-US" altLang="ko-KR" sz="1200" dirty="0"/>
              <a:t>people </a:t>
            </a:r>
            <a:r>
              <a:rPr lang="ko-KR" altLang="en-US" sz="1200" dirty="0"/>
              <a:t>과 </a:t>
            </a:r>
            <a:r>
              <a:rPr lang="en-US" altLang="ko-KR" sz="1200" dirty="0"/>
              <a:t>job market system</a:t>
            </a:r>
            <a:r>
              <a:rPr lang="ko-KR" altLang="en-US" sz="1200" dirty="0"/>
              <a:t>을 연결해주는 것이다</a:t>
            </a:r>
            <a:r>
              <a:rPr lang="en-US" altLang="ko-KR" sz="1200" dirty="0"/>
              <a:t>. </a:t>
            </a:r>
          </a:p>
          <a:p>
            <a:pPr lvl="1"/>
            <a:r>
              <a:rPr lang="ko-KR" altLang="en-US" sz="1200" dirty="0"/>
              <a:t>개인과 조직은 서로의 목적을 달성하는 방식으로 즉</a:t>
            </a:r>
            <a:r>
              <a:rPr lang="en-US" altLang="ko-KR" sz="1200" dirty="0"/>
              <a:t>, </a:t>
            </a:r>
            <a:r>
              <a:rPr lang="ko-KR" altLang="en-US" sz="1200" dirty="0"/>
              <a:t>개인은 역량</a:t>
            </a:r>
            <a:r>
              <a:rPr lang="en-US" altLang="ko-KR" sz="1200" dirty="0"/>
              <a:t>, </a:t>
            </a:r>
            <a:r>
              <a:rPr lang="ko-KR" altLang="en-US" sz="1200" dirty="0"/>
              <a:t>리더십</a:t>
            </a:r>
            <a:r>
              <a:rPr lang="en-US" altLang="ko-KR" sz="1200" dirty="0"/>
              <a:t>, </a:t>
            </a:r>
            <a:r>
              <a:rPr lang="ko-KR" altLang="en-US" sz="1200" dirty="0"/>
              <a:t>직무적합성을</a:t>
            </a:r>
            <a:r>
              <a:rPr lang="en-US" altLang="ko-KR" sz="1200" dirty="0"/>
              <a:t>, </a:t>
            </a:r>
            <a:r>
              <a:rPr lang="ko-KR" altLang="en-US" sz="1200" dirty="0"/>
              <a:t>조직은 </a:t>
            </a:r>
            <a:r>
              <a:rPr lang="ko-KR" altLang="en-US" sz="1200" dirty="0" err="1"/>
              <a:t>팀웍</a:t>
            </a:r>
            <a:r>
              <a:rPr lang="en-US" altLang="ko-KR" sz="1200" dirty="0"/>
              <a:t>, </a:t>
            </a:r>
            <a:r>
              <a:rPr lang="ko-KR" altLang="en-US" sz="1200" dirty="0"/>
              <a:t>융통성</a:t>
            </a:r>
            <a:r>
              <a:rPr lang="en-US" altLang="ko-KR" sz="1200" dirty="0"/>
              <a:t>, </a:t>
            </a:r>
            <a:r>
              <a:rPr lang="ko-KR" altLang="en-US" sz="1200" dirty="0"/>
              <a:t>역동성을 얻게 된다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758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46075" y="692696"/>
            <a:ext cx="84582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경력계획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3875" y="2066925"/>
            <a:ext cx="8296275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b="1" dirty="0">
                <a:latin typeface="굴림체" pitchFamily="49" charset="-127"/>
                <a:ea typeface="굴림체" pitchFamily="49" charset="-127"/>
                <a:sym typeface="Wingdings" pitchFamily="2" charset="2"/>
              </a:rPr>
              <a:t> </a:t>
            </a:r>
            <a:r>
              <a:rPr lang="ko-KR" altLang="en-US" sz="1500" b="1" dirty="0">
                <a:latin typeface="굴림체" pitchFamily="49" charset="-127"/>
                <a:ea typeface="굴림체" pitchFamily="49" charset="-127"/>
                <a:sym typeface="Wingdings" pitchFamily="2" charset="2"/>
              </a:rPr>
              <a:t>주요 </a:t>
            </a:r>
            <a:r>
              <a:rPr lang="ko-KR" altLang="en-US" sz="1500" b="1" dirty="0" err="1">
                <a:latin typeface="굴림체" pitchFamily="49" charset="-127"/>
                <a:ea typeface="굴림체" pitchFamily="49" charset="-127"/>
                <a:sym typeface="Wingdings" pitchFamily="2" charset="2"/>
              </a:rPr>
              <a:t>경력닻</a:t>
            </a:r>
            <a:r>
              <a:rPr lang="en-US" altLang="ko-KR" sz="1500" b="1" dirty="0">
                <a:latin typeface="굴림체" pitchFamily="49" charset="-127"/>
                <a:ea typeface="굴림체" pitchFamily="49" charset="-127"/>
                <a:sym typeface="Wingdings" pitchFamily="2" charset="2"/>
              </a:rPr>
              <a:t>(career anchor) </a:t>
            </a:r>
            <a:r>
              <a:rPr lang="ko-KR" altLang="en-US" sz="1500" b="1" dirty="0" err="1">
                <a:latin typeface="굴림체" pitchFamily="49" charset="-127"/>
                <a:ea typeface="굴림체" pitchFamily="49" charset="-127"/>
                <a:sym typeface="Wingdings" pitchFamily="2" charset="2"/>
              </a:rPr>
              <a:t>다섯가지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ko-KR" altLang="en-US" sz="1500" dirty="0">
                <a:latin typeface="+mn-ea"/>
                <a:sym typeface="Wingdings" pitchFamily="2" charset="2"/>
              </a:rPr>
              <a:t>  ① 기술적 </a:t>
            </a:r>
            <a:r>
              <a:rPr lang="en-US" altLang="ko-KR" sz="1500" dirty="0">
                <a:latin typeface="+mn-ea"/>
                <a:sym typeface="Wingdings" pitchFamily="2" charset="2"/>
              </a:rPr>
              <a:t>· </a:t>
            </a:r>
            <a:r>
              <a:rPr lang="ko-KR" altLang="en-US" sz="1500" dirty="0">
                <a:latin typeface="+mn-ea"/>
                <a:sym typeface="Wingdings" pitchFamily="2" charset="2"/>
              </a:rPr>
              <a:t>기능적 역량</a:t>
            </a:r>
            <a:r>
              <a:rPr lang="en-US" altLang="ko-KR" sz="1500" dirty="0">
                <a:latin typeface="+mn-ea"/>
                <a:sym typeface="Wingdings" pitchFamily="2" charset="2"/>
              </a:rPr>
              <a:t>(technical/functional competence) 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dirty="0">
                <a:latin typeface="+mn-ea"/>
                <a:sym typeface="Wingdings" pitchFamily="2" charset="2"/>
              </a:rPr>
              <a:t>  ② </a:t>
            </a:r>
            <a:r>
              <a:rPr lang="ko-KR" altLang="en-US" sz="1500" dirty="0">
                <a:latin typeface="+mn-ea"/>
                <a:sym typeface="Wingdings" pitchFamily="2" charset="2"/>
              </a:rPr>
              <a:t>관리적 역량</a:t>
            </a:r>
            <a:r>
              <a:rPr lang="en-US" altLang="ko-KR" sz="1500" dirty="0">
                <a:latin typeface="+mn-ea"/>
                <a:sym typeface="Wingdings" pitchFamily="2" charset="2"/>
              </a:rPr>
              <a:t>(managerial competence)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dirty="0">
                <a:latin typeface="+mn-ea"/>
                <a:sym typeface="Wingdings" pitchFamily="2" charset="2"/>
              </a:rPr>
              <a:t>  ③ </a:t>
            </a:r>
            <a:r>
              <a:rPr lang="ko-KR" altLang="en-US" sz="1500" dirty="0">
                <a:latin typeface="+mn-ea"/>
                <a:sym typeface="Wingdings" pitchFamily="2" charset="2"/>
              </a:rPr>
              <a:t>안정</a:t>
            </a:r>
            <a:r>
              <a:rPr lang="en-US" altLang="ko-KR" sz="1500" dirty="0">
                <a:latin typeface="+mn-ea"/>
                <a:sym typeface="Wingdings" pitchFamily="2" charset="2"/>
              </a:rPr>
              <a:t>(security)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dirty="0">
                <a:latin typeface="+mn-ea"/>
                <a:sym typeface="Wingdings" pitchFamily="2" charset="2"/>
              </a:rPr>
              <a:t>  ④ </a:t>
            </a:r>
            <a:r>
              <a:rPr lang="ko-KR" altLang="en-US" sz="1500" dirty="0">
                <a:latin typeface="+mn-ea"/>
                <a:sym typeface="Wingdings" pitchFamily="2" charset="2"/>
              </a:rPr>
              <a:t>창의성</a:t>
            </a:r>
            <a:r>
              <a:rPr lang="en-US" altLang="ko-KR" sz="1500" dirty="0">
                <a:latin typeface="+mn-ea"/>
                <a:sym typeface="Wingdings" pitchFamily="2" charset="2"/>
              </a:rPr>
              <a:t>(creativity)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dirty="0">
                <a:latin typeface="+mn-ea"/>
                <a:sym typeface="Wingdings" pitchFamily="2" charset="2"/>
              </a:rPr>
              <a:t>  ⑤ </a:t>
            </a:r>
            <a:r>
              <a:rPr lang="ko-KR" altLang="en-US" sz="1500" dirty="0">
                <a:latin typeface="+mn-ea"/>
                <a:sym typeface="Wingdings" pitchFamily="2" charset="2"/>
              </a:rPr>
              <a:t>자율성 </a:t>
            </a:r>
            <a:r>
              <a:rPr lang="en-US" altLang="ko-KR" sz="1500" dirty="0">
                <a:latin typeface="+mn-ea"/>
                <a:sym typeface="Wingdings" pitchFamily="2" charset="2"/>
              </a:rPr>
              <a:t>· </a:t>
            </a:r>
            <a:r>
              <a:rPr lang="ko-KR" altLang="en-US" sz="1500" dirty="0">
                <a:latin typeface="+mn-ea"/>
                <a:sym typeface="Wingdings" pitchFamily="2" charset="2"/>
              </a:rPr>
              <a:t>독립성</a:t>
            </a:r>
            <a:r>
              <a:rPr lang="en-US" altLang="ko-KR" sz="1500" dirty="0">
                <a:latin typeface="+mn-ea"/>
                <a:sym typeface="Wingdings" pitchFamily="2" charset="2"/>
              </a:rPr>
              <a:t>(autonomy/independence)</a:t>
            </a:r>
          </a:p>
        </p:txBody>
      </p:sp>
      <p:pic>
        <p:nvPicPr>
          <p:cNvPr id="7" name="Picture 7" descr="Blu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598613"/>
            <a:ext cx="288925" cy="288925"/>
          </a:xfrm>
          <a:prstGeom prst="rect">
            <a:avLst/>
          </a:prstGeom>
          <a:noFill/>
          <a:effectLst>
            <a:outerShdw dist="35921" dir="2700000" algn="ctr" rotWithShape="0">
              <a:srgbClr val="000066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23850" y="1539875"/>
            <a:ext cx="6408738" cy="33855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dirty="0"/>
              <a:t>1  </a:t>
            </a:r>
            <a:r>
              <a:rPr lang="ko-KR" altLang="en-US" sz="1600" dirty="0"/>
              <a:t>경력오리엔테이션</a:t>
            </a:r>
            <a:r>
              <a:rPr lang="en-US" altLang="ko-KR" sz="1600" dirty="0"/>
              <a:t>(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경력지향성</a:t>
            </a:r>
            <a:r>
              <a:rPr lang="en-US" altLang="ko-KR" sz="1600" dirty="0"/>
              <a:t>)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523875" y="4508500"/>
            <a:ext cx="8296275" cy="159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ko-KR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① </a:t>
            </a: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탐색단계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</a:t>
            </a:r>
            <a:r>
              <a:rPr lang="en-US" altLang="ko-KR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여러 활동을 탐색하고 다양한 작업역할 시도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</a:t>
            </a:r>
            <a:r>
              <a:rPr lang="en-US" altLang="ko-KR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- </a:t>
            </a: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 단계에서 가족과 학교에 대한 의존성은 감소되기 시작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예</a:t>
            </a:r>
            <a:r>
              <a:rPr lang="en-US" altLang="ko-KR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: </a:t>
            </a:r>
            <a:r>
              <a:rPr lang="ko-KR" altLang="en-US" sz="1500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인턴쉽이</a:t>
            </a:r>
            <a:r>
              <a:rPr lang="ko-KR" altLang="en-US" sz="15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탐색단계를 보다 구체화하는 데 도움을 줄 수 있음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endParaRPr lang="en-US" altLang="ko-KR" sz="1500" dirty="0">
              <a:latin typeface="굴림체" pitchFamily="49" charset="-127"/>
              <a:ea typeface="굴림체" pitchFamily="49" charset="-127"/>
              <a:sym typeface="Wingdings" pitchFamily="2" charset="2"/>
            </a:endParaRPr>
          </a:p>
        </p:txBody>
      </p:sp>
      <p:pic>
        <p:nvPicPr>
          <p:cNvPr id="10" name="Picture 15" descr="Blu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4040188"/>
            <a:ext cx="288925" cy="288925"/>
          </a:xfrm>
          <a:prstGeom prst="rect">
            <a:avLst/>
          </a:prstGeom>
          <a:noFill/>
          <a:effectLst>
            <a:outerShdw dist="35921" dir="2700000" algn="ctr" rotWithShape="0">
              <a:srgbClr val="000066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323850" y="3981450"/>
            <a:ext cx="6408738" cy="33855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b="1" dirty="0"/>
              <a:t>2  </a:t>
            </a:r>
            <a:r>
              <a:rPr lang="ko-KR" altLang="en-US" sz="1600" b="1" dirty="0"/>
              <a:t>경력단계</a:t>
            </a:r>
          </a:p>
        </p:txBody>
      </p:sp>
    </p:spTree>
    <p:extLst>
      <p:ext uri="{BB962C8B-B14F-4D97-AF65-F5344CB8AC3E}">
        <p14:creationId xmlns:p14="http://schemas.microsoft.com/office/powerpoint/2010/main" val="138211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:p14="http://schemas.microsoft.com/office/powerpoint/2010/main" val="3434994076"/>
              </p:ext>
            </p:extLst>
          </p:nvPr>
        </p:nvGraphicFramePr>
        <p:xfrm>
          <a:off x="539552" y="1196752"/>
          <a:ext cx="8269039" cy="4824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3568" y="620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경력개발</a:t>
            </a:r>
          </a:p>
        </p:txBody>
      </p:sp>
    </p:spTree>
    <p:extLst>
      <p:ext uri="{BB962C8B-B14F-4D97-AF65-F5344CB8AC3E}">
        <p14:creationId xmlns:p14="http://schemas.microsoft.com/office/powerpoint/2010/main" val="132638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143000"/>
            <a:ext cx="8229600" cy="54543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ko-KR" sz="1600" b="1" dirty="0"/>
              <a:t>1. </a:t>
            </a:r>
            <a:r>
              <a:rPr lang="ko-KR" altLang="en-US" sz="1600" b="1" dirty="0" err="1"/>
              <a:t>경력탐색</a:t>
            </a:r>
            <a:r>
              <a:rPr lang="ko-KR" altLang="en-US" sz="1600" b="1" dirty="0"/>
              <a:t>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경력과 관련한 </a:t>
            </a:r>
            <a:r>
              <a:rPr lang="ko-KR" altLang="en-US" sz="1400" dirty="0" err="1"/>
              <a:t>정보수집</a:t>
            </a:r>
            <a:r>
              <a:rPr lang="ko-KR" altLang="en-US" sz="1400" dirty="0"/>
              <a:t> 및 분석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자기탐색</a:t>
            </a:r>
            <a:r>
              <a:rPr lang="en-US" altLang="ko-KR" sz="1400" dirty="0"/>
              <a:t>(</a:t>
            </a:r>
            <a:r>
              <a:rPr lang="ko-KR" altLang="en-US" sz="1400" dirty="0"/>
              <a:t>자신의 흥미</a:t>
            </a:r>
            <a:r>
              <a:rPr lang="en-US" altLang="ko-KR" sz="1400" dirty="0"/>
              <a:t>, </a:t>
            </a:r>
            <a:r>
              <a:rPr lang="ko-KR" altLang="en-US" sz="1400" dirty="0"/>
              <a:t>재능</a:t>
            </a:r>
            <a:r>
              <a:rPr lang="en-US" altLang="ko-KR" sz="1400" dirty="0"/>
              <a:t>, </a:t>
            </a:r>
            <a:r>
              <a:rPr lang="ko-KR" altLang="en-US" sz="1400" dirty="0"/>
              <a:t>가치의 확인</a:t>
            </a:r>
            <a:r>
              <a:rPr lang="en-US" altLang="ko-KR" sz="1400" dirty="0"/>
              <a:t>)</a:t>
            </a:r>
            <a:r>
              <a:rPr lang="ko-KR" altLang="en-US" sz="1400" dirty="0"/>
              <a:t>과 </a:t>
            </a:r>
            <a:r>
              <a:rPr lang="ko-KR" altLang="en-US" sz="1400" dirty="0" err="1"/>
              <a:t>환경탐색</a:t>
            </a:r>
            <a:r>
              <a:rPr lang="en-US" altLang="ko-KR" sz="1400" dirty="0"/>
              <a:t>(</a:t>
            </a:r>
            <a:r>
              <a:rPr lang="ko-KR" altLang="en-US" sz="1400" dirty="0"/>
              <a:t>직업</a:t>
            </a:r>
            <a:r>
              <a:rPr lang="en-US" altLang="ko-KR" sz="1400" dirty="0"/>
              <a:t>, </a:t>
            </a:r>
            <a:r>
              <a:rPr lang="ko-KR" altLang="en-US" sz="1400" dirty="0"/>
              <a:t>직무</a:t>
            </a:r>
            <a:r>
              <a:rPr lang="en-US" altLang="ko-KR" sz="1400" dirty="0"/>
              <a:t>, </a:t>
            </a:r>
            <a:r>
              <a:rPr lang="ko-KR" altLang="en-US" sz="1400" dirty="0"/>
              <a:t>회사 등</a:t>
            </a:r>
            <a:r>
              <a:rPr lang="en-US" altLang="ko-KR" sz="1400" dirty="0"/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1600" b="1" dirty="0"/>
              <a:t>2. </a:t>
            </a:r>
            <a:r>
              <a:rPr lang="ko-KR" altLang="en-US" sz="1600" b="1" dirty="0" err="1"/>
              <a:t>목표설정</a:t>
            </a:r>
            <a:endParaRPr lang="ko-KR" altLang="en-US" sz="16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달성하려고 하는 경력과 관련한 성과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명확하고 구체적인 목표</a:t>
            </a:r>
            <a:r>
              <a:rPr lang="en-US" altLang="ko-KR" sz="1400" dirty="0"/>
              <a:t>, </a:t>
            </a:r>
            <a:r>
              <a:rPr lang="ko-KR" altLang="en-US" sz="1400" dirty="0"/>
              <a:t>도전적인 목표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승진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수평이동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전문능력의</a:t>
            </a:r>
            <a:r>
              <a:rPr lang="ko-KR" altLang="en-US" sz="1400" dirty="0"/>
              <a:t> 강화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장기단적</a:t>
            </a:r>
            <a:r>
              <a:rPr lang="ko-KR" altLang="en-US" sz="1400" dirty="0"/>
              <a:t> 목표</a:t>
            </a:r>
            <a:r>
              <a:rPr lang="en-US" altLang="ko-KR" sz="1400" dirty="0"/>
              <a:t>)</a:t>
            </a:r>
            <a:r>
              <a:rPr lang="ko-KR" altLang="en-US" sz="1400" dirty="0"/>
              <a:t>등</a:t>
            </a:r>
            <a:endParaRPr lang="en-US" altLang="ko-KR" sz="14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1600" b="1" dirty="0"/>
              <a:t>3. </a:t>
            </a:r>
            <a:r>
              <a:rPr lang="ko-KR" altLang="en-US" sz="1600" b="1" dirty="0" err="1"/>
              <a:t>전략개발</a:t>
            </a:r>
            <a:endParaRPr lang="ko-KR" altLang="en-US" sz="16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경력목표</a:t>
            </a:r>
            <a:r>
              <a:rPr lang="ko-KR" altLang="en-US" sz="1400" dirty="0"/>
              <a:t> 달성을 위한 일련의 활동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7</a:t>
            </a:r>
            <a:r>
              <a:rPr lang="ko-KR" altLang="en-US" sz="1400" dirty="0"/>
              <a:t>가지 전략 유형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현직무에서의</a:t>
            </a:r>
            <a:r>
              <a:rPr lang="ko-KR" altLang="en-US" sz="1400" dirty="0"/>
              <a:t> 역량 증대 </a:t>
            </a:r>
            <a:r>
              <a:rPr lang="en-US" altLang="ko-KR" sz="1400" dirty="0"/>
              <a:t>: </a:t>
            </a:r>
            <a:r>
              <a:rPr lang="ko-KR" altLang="en-US" sz="1400" dirty="0"/>
              <a:t>현 직무를 더 잘 수행하려는 노력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일에 대한 </a:t>
            </a:r>
            <a:r>
              <a:rPr lang="ko-KR" altLang="en-US" sz="1400" dirty="0" err="1"/>
              <a:t>몰입증대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자신의 일에 상당한 시간 및 에너지를 쏟으려는 결정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능력개발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교육훈련</a:t>
            </a:r>
            <a:r>
              <a:rPr lang="ko-KR" altLang="en-US" sz="1400" dirty="0"/>
              <a:t> 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직무경험</a:t>
            </a:r>
            <a:r>
              <a:rPr lang="ko-KR" altLang="en-US" sz="1400" dirty="0"/>
              <a:t> 등</a:t>
            </a:r>
            <a:r>
              <a:rPr lang="en-US" altLang="ko-KR" sz="1400" dirty="0"/>
              <a:t>) : </a:t>
            </a:r>
            <a:r>
              <a:rPr lang="ko-KR" altLang="en-US" sz="1400" dirty="0" err="1"/>
              <a:t>새롱운</a:t>
            </a:r>
            <a:r>
              <a:rPr lang="ko-KR" altLang="en-US" sz="1400" dirty="0"/>
              <a:t> 기술과 능력을 향상시키려는 시도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기회개발</a:t>
            </a:r>
            <a:r>
              <a:rPr lang="en-US" altLang="ko-KR" sz="1400" dirty="0"/>
              <a:t>(</a:t>
            </a:r>
            <a:r>
              <a:rPr lang="ko-KR" altLang="en-US" sz="1400" dirty="0"/>
              <a:t>새로운 </a:t>
            </a:r>
            <a:r>
              <a:rPr lang="ko-KR" altLang="en-US" sz="1400" dirty="0" err="1"/>
              <a:t>네트웍</a:t>
            </a:r>
            <a:r>
              <a:rPr lang="ko-KR" altLang="en-US" sz="1400" dirty="0"/>
              <a:t> 구축</a:t>
            </a:r>
            <a:r>
              <a:rPr lang="en-US" altLang="ko-KR" sz="1400" dirty="0"/>
              <a:t>) : </a:t>
            </a:r>
            <a:r>
              <a:rPr lang="ko-KR" altLang="en-US" sz="1400" dirty="0"/>
              <a:t>타인에게 자신의 흥미를 알리고 새로운 기회 탐색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지지적 관계 개발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멘토</a:t>
            </a:r>
            <a:r>
              <a:rPr lang="en-US" altLang="ko-KR" sz="1400" dirty="0"/>
              <a:t>, </a:t>
            </a:r>
            <a:r>
              <a:rPr lang="ko-KR" altLang="en-US" sz="1400" dirty="0"/>
              <a:t>스폰서</a:t>
            </a:r>
            <a:r>
              <a:rPr lang="en-US" altLang="ko-KR" sz="1400" dirty="0"/>
              <a:t>, </a:t>
            </a:r>
            <a:r>
              <a:rPr lang="ko-KR" altLang="en-US" sz="1400" dirty="0"/>
              <a:t>동료</a:t>
            </a:r>
            <a:r>
              <a:rPr lang="en-US" altLang="ko-KR" sz="1400" dirty="0"/>
              <a:t>):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이미지 빌딩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성공이미지</a:t>
            </a:r>
            <a:r>
              <a:rPr lang="ko-KR" altLang="en-US" sz="1400" dirty="0"/>
              <a:t> 구축</a:t>
            </a:r>
            <a:r>
              <a:rPr lang="en-US" altLang="ko-KR" sz="1400" dirty="0"/>
              <a:t>) : </a:t>
            </a:r>
            <a:r>
              <a:rPr lang="ko-KR" altLang="en-US" sz="1400" dirty="0" err="1"/>
              <a:t>조직내</a:t>
            </a:r>
            <a:r>
              <a:rPr lang="ko-KR" altLang="en-US" sz="1400" dirty="0"/>
              <a:t> 명성을 쌓고 어려운 과제를 수행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성공이미지</a:t>
            </a:r>
            <a:r>
              <a:rPr lang="ko-KR" altLang="en-US" sz="1400" dirty="0"/>
              <a:t> 구축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조직내</a:t>
            </a:r>
            <a:r>
              <a:rPr lang="ko-KR" altLang="en-US" sz="1400" dirty="0"/>
              <a:t> 정치적 역학 이해 </a:t>
            </a:r>
            <a:r>
              <a:rPr lang="en-US" altLang="ko-KR" sz="1400" dirty="0"/>
              <a:t>: </a:t>
            </a:r>
            <a:r>
              <a:rPr lang="ko-KR" altLang="en-US" sz="1400" dirty="0"/>
              <a:t>연합</a:t>
            </a:r>
            <a:r>
              <a:rPr lang="en-US" altLang="ko-KR" sz="1400" dirty="0"/>
              <a:t>, </a:t>
            </a:r>
            <a:r>
              <a:rPr lang="ko-KR" altLang="en-US" sz="1400" dirty="0"/>
              <a:t>영향력을 사용</a:t>
            </a:r>
            <a:r>
              <a:rPr lang="en-US" altLang="ko-KR" sz="1400" dirty="0"/>
              <a:t>, </a:t>
            </a:r>
            <a:r>
              <a:rPr lang="ko-KR" altLang="en-US" sz="1400" dirty="0"/>
              <a:t>자신의 지위를 높이려는 시도</a:t>
            </a:r>
            <a:endParaRPr lang="en-US" altLang="ko-KR" sz="1400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ko-KR" alt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ko-KR" sz="1600" b="1" dirty="0"/>
              <a:t>4. </a:t>
            </a:r>
            <a:r>
              <a:rPr lang="ko-KR" altLang="en-US" sz="1600" b="1" dirty="0" err="1"/>
              <a:t>경력평가</a:t>
            </a:r>
            <a:r>
              <a:rPr lang="ko-KR" altLang="en-US" sz="1600" b="1" dirty="0"/>
              <a:t>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경력과정에</a:t>
            </a:r>
            <a:r>
              <a:rPr lang="ko-KR" altLang="en-US" sz="1400" dirty="0"/>
              <a:t> 대한 탐색 및 </a:t>
            </a:r>
            <a:r>
              <a:rPr lang="ko-KR" altLang="en-US" sz="1400" dirty="0" err="1"/>
              <a:t>경력관리에</a:t>
            </a:r>
            <a:r>
              <a:rPr lang="ko-KR" altLang="en-US" sz="1400" dirty="0"/>
              <a:t> 대한 피드백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상사</a:t>
            </a:r>
            <a:r>
              <a:rPr lang="en-US" altLang="ko-KR" sz="1400" dirty="0"/>
              <a:t>, </a:t>
            </a:r>
            <a:r>
              <a:rPr lang="ko-KR" altLang="en-US" sz="1400" dirty="0"/>
              <a:t>동료</a:t>
            </a:r>
            <a:r>
              <a:rPr lang="en-US" altLang="ko-KR" sz="1400" dirty="0"/>
              <a:t>, </a:t>
            </a:r>
            <a:r>
              <a:rPr lang="ko-KR" altLang="en-US" sz="1400" dirty="0"/>
              <a:t>가정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멘토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주요인사로부터의</a:t>
            </a:r>
            <a:r>
              <a:rPr lang="ko-KR" altLang="en-US" sz="1400" dirty="0"/>
              <a:t> 피드백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목표 및 </a:t>
            </a:r>
            <a:r>
              <a:rPr lang="ko-KR" altLang="en-US" sz="1400" dirty="0" err="1"/>
              <a:t>전략행동의</a:t>
            </a:r>
            <a:r>
              <a:rPr lang="ko-KR" altLang="en-US" sz="1400" dirty="0"/>
              <a:t> 수정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Char char="v"/>
            </a:pPr>
            <a:endParaRPr lang="ko-KR" altLang="en-US" sz="1400" dirty="0"/>
          </a:p>
          <a:p>
            <a:pPr marL="914400" lvl="1" indent="-457200">
              <a:lnSpc>
                <a:spcPct val="90000"/>
              </a:lnSpc>
              <a:buFont typeface="Wingdings" pitchFamily="2" charset="2"/>
              <a:buChar char="v"/>
            </a:pPr>
            <a:endParaRPr lang="ko-KR" altLang="en-US" sz="1400" dirty="0"/>
          </a:p>
          <a:p>
            <a:pPr marL="914400" lvl="1" indent="-457200">
              <a:lnSpc>
                <a:spcPct val="90000"/>
              </a:lnSpc>
              <a:buFont typeface="Wingdings" pitchFamily="2" charset="2"/>
              <a:buChar char="v"/>
            </a:pPr>
            <a:endParaRPr lang="en-US" altLang="ko-KR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611560" y="54868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경력개발 단계</a:t>
            </a:r>
          </a:p>
        </p:txBody>
      </p:sp>
    </p:spTree>
    <p:extLst>
      <p:ext uri="{BB962C8B-B14F-4D97-AF65-F5344CB8AC3E}">
        <p14:creationId xmlns:p14="http://schemas.microsoft.com/office/powerpoint/2010/main" val="43998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620688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400" dirty="0" err="1"/>
              <a:t>니즈</a:t>
            </a:r>
            <a:r>
              <a:rPr lang="ko-KR" altLang="en-US" sz="1400" dirty="0"/>
              <a:t> 규명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경력개발을 사업전략과 연계하라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종업원과 조직의 </a:t>
            </a:r>
            <a:r>
              <a:rPr lang="ko-KR" altLang="en-US" sz="1400" dirty="0" err="1"/>
              <a:t>니즈를</a:t>
            </a:r>
            <a:r>
              <a:rPr lang="ko-KR" altLang="en-US" sz="1400" dirty="0"/>
              <a:t> </a:t>
            </a:r>
            <a:r>
              <a:rPr lang="en-US" altLang="ko-KR" sz="1400" dirty="0"/>
              <a:t>align </a:t>
            </a:r>
            <a:r>
              <a:rPr lang="ko-KR" altLang="en-US" sz="1400" dirty="0"/>
              <a:t>하라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lang="ko-KR" altLang="en-US" sz="1400" dirty="0"/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400" dirty="0"/>
              <a:t>변화에 대한 비전 수립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다른 </a:t>
            </a:r>
            <a:r>
              <a:rPr lang="en-US" altLang="ko-KR" sz="1400" dirty="0"/>
              <a:t>HR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(</a:t>
            </a:r>
            <a:r>
              <a:rPr lang="ko-KR" altLang="en-US" sz="1400" dirty="0"/>
              <a:t>성과평가</a:t>
            </a:r>
            <a:r>
              <a:rPr lang="en-US" altLang="ko-KR" sz="1400" dirty="0"/>
              <a:t>, </a:t>
            </a:r>
            <a:r>
              <a:rPr lang="ko-KR" altLang="en-US" sz="1400" dirty="0"/>
              <a:t>보상 등</a:t>
            </a:r>
            <a:r>
              <a:rPr lang="en-US" altLang="ko-KR" sz="1400" dirty="0"/>
              <a:t>)</a:t>
            </a:r>
            <a:r>
              <a:rPr lang="ko-KR" altLang="en-US" sz="1400" dirty="0"/>
              <a:t>과 연계된 시스템을 만들어라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다양한 툴과 접근방법을 사용하라</a:t>
            </a:r>
            <a:r>
              <a:rPr lang="en-US" altLang="ko-KR" sz="1400" dirty="0"/>
              <a:t>.</a:t>
            </a:r>
          </a:p>
          <a:p>
            <a:pPr lvl="1">
              <a:lnSpc>
                <a:spcPct val="120000"/>
              </a:lnSpc>
            </a:pPr>
            <a:endParaRPr lang="en-US" altLang="ko-KR" sz="1400" dirty="0"/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400" dirty="0"/>
              <a:t>행동계획을 개발하라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회사의 인프라를 만들되</a:t>
            </a:r>
            <a:r>
              <a:rPr lang="en-US" altLang="ko-KR" sz="1400" dirty="0"/>
              <a:t>, </a:t>
            </a:r>
            <a:r>
              <a:rPr lang="ko-KR" altLang="en-US" sz="1400" dirty="0"/>
              <a:t>경력개발 시스템은 개별 </a:t>
            </a:r>
            <a:r>
              <a:rPr lang="ko-KR" altLang="en-US" sz="1400" dirty="0" err="1"/>
              <a:t>사업단위별로</a:t>
            </a:r>
            <a:r>
              <a:rPr lang="ko-KR" altLang="en-US" sz="1400" dirty="0"/>
              <a:t> 실행하라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관리자의 참여를 독려하라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lang="ko-KR" altLang="en-US" sz="1400" dirty="0"/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400" dirty="0"/>
              <a:t>실행하라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관리자들에게 책임을 부여하고 그 책임을 완수할 </a:t>
            </a:r>
            <a:r>
              <a:rPr lang="ko-KR" altLang="en-US" sz="1400" dirty="0" err="1"/>
              <a:t>스킬을</a:t>
            </a:r>
            <a:r>
              <a:rPr lang="ko-KR" altLang="en-US" sz="1400" dirty="0"/>
              <a:t> 제공하라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경력개발을 위한 일련의 활동</a:t>
            </a:r>
            <a:r>
              <a:rPr lang="en-US" altLang="ko-KR" sz="1400" dirty="0"/>
              <a:t>(</a:t>
            </a:r>
            <a:r>
              <a:rPr lang="ko-KR" altLang="en-US" sz="1400" dirty="0"/>
              <a:t>정보공유</a:t>
            </a:r>
            <a:r>
              <a:rPr lang="en-US" altLang="ko-KR" sz="1400" dirty="0"/>
              <a:t>, </a:t>
            </a:r>
            <a:r>
              <a:rPr lang="ko-KR" altLang="en-US" sz="1400" dirty="0"/>
              <a:t>경력행동 팀 등</a:t>
            </a:r>
            <a:r>
              <a:rPr lang="en-US" altLang="ko-KR" sz="1400" dirty="0"/>
              <a:t>)</a:t>
            </a:r>
            <a:r>
              <a:rPr lang="ko-KR" altLang="en-US" sz="1400" dirty="0"/>
              <a:t>을 실행하라</a:t>
            </a:r>
            <a:endParaRPr lang="en-US" altLang="ko-KR" sz="1400" dirty="0"/>
          </a:p>
          <a:p>
            <a:pPr lvl="1">
              <a:lnSpc>
                <a:spcPct val="120000"/>
              </a:lnSpc>
            </a:pPr>
            <a:endParaRPr lang="ko-KR" altLang="en-US" sz="1400" dirty="0"/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400" dirty="0"/>
              <a:t>평가하고 유지하라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평가하라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지속적으로 경력개발의 노력을 개선하라</a:t>
            </a:r>
          </a:p>
          <a:p>
            <a:pPr lvl="1">
              <a:lnSpc>
                <a:spcPct val="120000"/>
              </a:lnSpc>
            </a:pPr>
            <a:r>
              <a:rPr lang="ko-KR" altLang="en-US" sz="1400" dirty="0"/>
              <a:t>경력개발에 관해 지속적으로 커뮤니케이션을 하라</a:t>
            </a:r>
          </a:p>
          <a:p>
            <a:pPr lvl="1">
              <a:lnSpc>
                <a:spcPct val="120000"/>
              </a:lnSpc>
            </a:pPr>
            <a:endParaRPr lang="en-US" altLang="ko-KR" sz="1400" dirty="0"/>
          </a:p>
        </p:txBody>
      </p:sp>
      <p:sp>
        <p:nvSpPr>
          <p:cNvPr id="5" name="직사각형 4"/>
          <p:cNvSpPr/>
          <p:nvPr/>
        </p:nvSpPr>
        <p:spPr>
          <a:xfrm>
            <a:off x="482393" y="183634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경력개발 절차</a:t>
            </a:r>
          </a:p>
        </p:txBody>
      </p:sp>
    </p:spTree>
    <p:extLst>
      <p:ext uri="{BB962C8B-B14F-4D97-AF65-F5344CB8AC3E}">
        <p14:creationId xmlns:p14="http://schemas.microsoft.com/office/powerpoint/2010/main" val="63897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/>
          <p:cNvGraphicFramePr/>
          <p:nvPr>
            <p:extLst>
              <p:ext uri="{D42A27DB-BD31-4B8C-83A1-F6EECF244321}">
                <p14:modId xmlns:p14="http://schemas.microsoft.com/office/powerpoint/2010/main" val="2762696119"/>
              </p:ext>
            </p:extLst>
          </p:nvPr>
        </p:nvGraphicFramePr>
        <p:xfrm>
          <a:off x="323528" y="1340768"/>
          <a:ext cx="8352928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직사각형 2"/>
          <p:cNvSpPr/>
          <p:nvPr/>
        </p:nvSpPr>
        <p:spPr>
          <a:xfrm>
            <a:off x="251520" y="764704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b="1" dirty="0">
                <a:latin typeface="+mn-ea"/>
              </a:rPr>
              <a:t>경력 개발 시행 이유</a:t>
            </a:r>
          </a:p>
        </p:txBody>
      </p:sp>
    </p:spTree>
    <p:extLst>
      <p:ext uri="{BB962C8B-B14F-4D97-AF65-F5344CB8AC3E}">
        <p14:creationId xmlns:p14="http://schemas.microsoft.com/office/powerpoint/2010/main" val="124322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/>
        </p:nvSpPr>
        <p:spPr bwMode="auto">
          <a:xfrm>
            <a:off x="395535" y="692696"/>
            <a:ext cx="8352929" cy="544388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멘토링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체제 개발</a:t>
            </a:r>
            <a:endParaRPr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사람들을 조직의 내부 네트워크로 안내해서 직원들의 경력 향상에 도움을 주는 것으로 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신입 사원 강점과 약점을 객관적을 평가하며 참여자들의 의견 전달 통로로써 기능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eaLnBrk="1" hangingPunct="1">
              <a:buNone/>
            </a:pP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eaLnBrk="1" hangingPunct="1">
              <a:buNone/>
            </a:pP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eaLnBrk="1" hangingPunct="1">
              <a:buNone/>
            </a:pP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멘토링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프로그램의 핵심적인 특징</a:t>
            </a:r>
            <a:endParaRPr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Tx/>
              <a:buChar char="-"/>
            </a:pP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(1)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최고 경영진의 지원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(2)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멘토링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프로그램을 전체 경력개발 프로그램의 속으로 통합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(3)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멘토링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프로그램에의 자발적 참여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(4)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프로그램의 단계나 순환주기를 짧게 유지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(5)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멘토와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멘티의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신중한 선발 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(6)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참여자들에 대한 오리엔테이션 제공 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(7)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유연성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(8)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도전정신 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(9)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체제 점검의 안내자</a:t>
            </a:r>
            <a:endParaRPr lang="en-US" altLang="ko-KR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endParaRPr lang="ko-KR" altLang="en-US" sz="14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공식적 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조직은 직원들 사이의 강한 유대감을 형성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비공식적 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멘토링은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새로운 조직 환경이나 문화에 대한 오리엔테이션을 위해 계획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58146" y="188640"/>
            <a:ext cx="25859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1600" b="1" dirty="0">
                <a:latin typeface="맑은 고딕" pitchFamily="50" charset="-127"/>
                <a:ea typeface="맑은 고딕" pitchFamily="50" charset="-127"/>
              </a:rPr>
              <a:t>경력개발에서 조직의 책임</a:t>
            </a:r>
          </a:p>
        </p:txBody>
      </p:sp>
    </p:spTree>
    <p:extLst>
      <p:ext uri="{BB962C8B-B14F-4D97-AF65-F5344CB8AC3E}">
        <p14:creationId xmlns:p14="http://schemas.microsoft.com/office/powerpoint/2010/main" val="222023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0728" y="1916832"/>
            <a:ext cx="8059331" cy="4065415"/>
          </a:xfrm>
          <a:prstGeom prst="rect">
            <a:avLst/>
          </a:prstGeom>
        </p:spPr>
      </p:pic>
      <p:sp>
        <p:nvSpPr>
          <p:cNvPr id="6" name="Text Box 88"/>
          <p:cNvSpPr txBox="1">
            <a:spLocks noChangeArrowheads="1"/>
          </p:cNvSpPr>
          <p:nvPr/>
        </p:nvSpPr>
        <p:spPr bwMode="auto">
          <a:xfrm>
            <a:off x="611560" y="1461193"/>
            <a:ext cx="6318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경력개발의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단계 접근법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8349" y="557972"/>
            <a:ext cx="273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b="1" dirty="0">
                <a:latin typeface="맑은 고딕" pitchFamily="50" charset="-127"/>
                <a:ea typeface="맑은 고딕" pitchFamily="50" charset="-127"/>
              </a:rPr>
              <a:t>조직과 직원 책임의 통합</a:t>
            </a:r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750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8"/>
          <p:cNvSpPr>
            <a:spLocks noChangeArrowheads="1"/>
          </p:cNvSpPr>
          <p:nvPr/>
        </p:nvSpPr>
        <p:spPr bwMode="auto">
          <a:xfrm>
            <a:off x="4299744" y="2239962"/>
            <a:ext cx="546100" cy="1079500"/>
          </a:xfrm>
          <a:prstGeom prst="upDownArrow">
            <a:avLst>
              <a:gd name="adj1" fmla="val 50000"/>
              <a:gd name="adj2" fmla="val 39535"/>
            </a:avLst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eaVert"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" name="Line 19"/>
          <p:cNvSpPr>
            <a:spLocks noChangeShapeType="1"/>
          </p:cNvSpPr>
          <p:nvPr/>
        </p:nvSpPr>
        <p:spPr bwMode="auto">
          <a:xfrm>
            <a:off x="3363119" y="3390900"/>
            <a:ext cx="23399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Oval 22"/>
          <p:cNvSpPr>
            <a:spLocks noChangeArrowheads="1"/>
          </p:cNvSpPr>
          <p:nvPr/>
        </p:nvSpPr>
        <p:spPr bwMode="auto">
          <a:xfrm>
            <a:off x="3009106" y="942975"/>
            <a:ext cx="3119438" cy="122396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ko-KR" altLang="en-US">
              <a:solidFill>
                <a:srgbClr val="000000"/>
              </a:solidFill>
              <a:ea typeface="굴림" pitchFamily="50" charset="-127"/>
            </a:endParaRPr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3596481" y="1158875"/>
            <a:ext cx="1951038" cy="7794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1800" b="1" dirty="0">
                <a:latin typeface="굴림" pitchFamily="50" charset="-127"/>
                <a:ea typeface="굴림" pitchFamily="50" charset="-127"/>
              </a:rPr>
              <a:t>조직의 </a:t>
            </a:r>
          </a:p>
          <a:p>
            <a:pPr algn="ctr">
              <a:spcBef>
                <a:spcPct val="50000"/>
              </a:spcBef>
            </a:pPr>
            <a:r>
              <a:rPr lang="ko-KR" altLang="en-US" sz="1800" b="1" dirty="0">
                <a:latin typeface="굴림" pitchFamily="50" charset="-127"/>
                <a:ea typeface="굴림" pitchFamily="50" charset="-127"/>
              </a:rPr>
              <a:t>경력개발</a:t>
            </a:r>
          </a:p>
        </p:txBody>
      </p:sp>
      <p:sp>
        <p:nvSpPr>
          <p:cNvPr id="8" name="Oval 29"/>
          <p:cNvSpPr>
            <a:spLocks noChangeArrowheads="1"/>
          </p:cNvSpPr>
          <p:nvPr/>
        </p:nvSpPr>
        <p:spPr bwMode="auto">
          <a:xfrm>
            <a:off x="554831" y="2671762"/>
            <a:ext cx="2808288" cy="1295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ko-KR" altLang="en-US">
              <a:solidFill>
                <a:srgbClr val="000000"/>
              </a:solidFill>
              <a:ea typeface="굴림" pitchFamily="50" charset="-127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1024731" y="3103562"/>
            <a:ext cx="1870075" cy="396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2000" b="1">
                <a:latin typeface="굴림" pitchFamily="50" charset="-127"/>
                <a:ea typeface="굴림" pitchFamily="50" charset="-127"/>
              </a:rPr>
              <a:t>경력 계획</a:t>
            </a:r>
          </a:p>
        </p:txBody>
      </p:sp>
      <p:sp>
        <p:nvSpPr>
          <p:cNvPr id="10" name="Oval 30"/>
          <p:cNvSpPr>
            <a:spLocks noChangeArrowheads="1"/>
          </p:cNvSpPr>
          <p:nvPr/>
        </p:nvSpPr>
        <p:spPr bwMode="auto">
          <a:xfrm>
            <a:off x="5703094" y="2671762"/>
            <a:ext cx="2886075" cy="1295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ko-KR" altLang="en-US">
              <a:solidFill>
                <a:srgbClr val="000000"/>
              </a:solidFill>
              <a:ea typeface="굴림" pitchFamily="50" charset="-127"/>
            </a:endParaRP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6250781" y="3103562"/>
            <a:ext cx="1870075" cy="396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2000" b="1">
                <a:latin typeface="굴림" pitchFamily="50" charset="-127"/>
                <a:ea typeface="굴림" pitchFamily="50" charset="-127"/>
              </a:rPr>
              <a:t>경력 관리</a:t>
            </a: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634206" y="4111625"/>
            <a:ext cx="2728913" cy="181588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ea typeface="굴림" pitchFamily="50" charset="-127"/>
              </a:rPr>
              <a:t>하위과정</a:t>
            </a:r>
            <a:endParaRPr lang="en-US" altLang="ko-KR" sz="1600" b="1" dirty="0">
              <a:solidFill>
                <a:srgbClr val="000000"/>
              </a:solidFill>
              <a:ea typeface="굴림" pitchFamily="50" charset="-127"/>
            </a:endParaRPr>
          </a:p>
          <a:p>
            <a:pPr algn="ctr">
              <a:spcBef>
                <a:spcPct val="50000"/>
              </a:spcBef>
            </a:pPr>
            <a:endParaRPr lang="ko-KR" altLang="en-US" sz="1600" b="1" dirty="0">
              <a:solidFill>
                <a:srgbClr val="000000"/>
              </a:solidFill>
              <a:ea typeface="굴림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직업 선택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조직 선택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업무배치 선택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자기경력 개발</a:t>
            </a:r>
          </a:p>
        </p:txBody>
      </p:sp>
      <p:sp>
        <p:nvSpPr>
          <p:cNvPr id="13" name="Text Box 32"/>
          <p:cNvSpPr txBox="1">
            <a:spLocks noChangeArrowheads="1"/>
          </p:cNvSpPr>
          <p:nvPr/>
        </p:nvSpPr>
        <p:spPr bwMode="auto">
          <a:xfrm>
            <a:off x="5860256" y="4111625"/>
            <a:ext cx="2728913" cy="181588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ea typeface="굴림" pitchFamily="50" charset="-127"/>
              </a:rPr>
              <a:t>하위과정</a:t>
            </a:r>
            <a:endParaRPr lang="en-US" altLang="ko-KR" sz="1600" b="1" dirty="0">
              <a:solidFill>
                <a:srgbClr val="000000"/>
              </a:solidFill>
              <a:ea typeface="굴림" pitchFamily="50" charset="-127"/>
            </a:endParaRPr>
          </a:p>
          <a:p>
            <a:pPr algn="ctr">
              <a:spcBef>
                <a:spcPct val="50000"/>
              </a:spcBef>
            </a:pPr>
            <a:endParaRPr lang="ko-KR" altLang="en-US" sz="1600" b="1" dirty="0">
              <a:solidFill>
                <a:srgbClr val="000000"/>
              </a:solidFill>
              <a:ea typeface="굴림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모집과 선발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인적자원 배치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사정과 평가</a:t>
            </a:r>
          </a:p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▪ 훈련과 개발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33102" y="692696"/>
            <a:ext cx="2699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b="1" dirty="0">
                <a:latin typeface="굴림" pitchFamily="50" charset="-127"/>
                <a:ea typeface="굴림" pitchFamily="50" charset="-127"/>
              </a:rPr>
              <a:t>조직의 경력개발</a:t>
            </a:r>
          </a:p>
        </p:txBody>
      </p:sp>
    </p:spTree>
    <p:extLst>
      <p:ext uri="{BB962C8B-B14F-4D97-AF65-F5344CB8AC3E}">
        <p14:creationId xmlns:p14="http://schemas.microsoft.com/office/powerpoint/2010/main" val="393745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26"/>
          <p:cNvSpPr>
            <a:spLocks noChangeShapeType="1"/>
          </p:cNvSpPr>
          <p:nvPr/>
        </p:nvSpPr>
        <p:spPr bwMode="auto">
          <a:xfrm>
            <a:off x="5135563" y="3903539"/>
            <a:ext cx="0" cy="1060450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676400" y="1155576"/>
            <a:ext cx="1358900" cy="68738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조직의 경영계획</a:t>
            </a:r>
          </a:p>
          <a:p>
            <a:pPr algn="ctr">
              <a:buFontTx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전략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장기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  <a:p>
            <a:pPr algn="ctr">
              <a:buFontTx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운영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단기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76400" y="2030289"/>
            <a:ext cx="13589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인적자원계획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직무스타일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종업원 수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849563" y="2903414"/>
            <a:ext cx="1358900" cy="6873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인적자원 계획에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대한 조직니즈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평가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849563" y="3716214"/>
            <a:ext cx="13589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세부 인적자원 계획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배치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개발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선발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738313" y="4963989"/>
            <a:ext cx="1358900" cy="6873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실행점검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평가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재계획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022725" y="1155576"/>
            <a:ext cx="1358900" cy="68738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수행평가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현 수행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미래의 잠재력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022725" y="2030289"/>
            <a:ext cx="13589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인적자원 목록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 기술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수행수준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잠재력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경력니즈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84900" y="1155576"/>
            <a:ext cx="1358900" cy="68738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개인의 직무경험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과제유형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개발활동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184900" y="2779589"/>
            <a:ext cx="13589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개인의 자기평가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경력닻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업무참여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경력니즈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6184900" y="3652714"/>
            <a:ext cx="1358900" cy="6873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구체적인 개인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경력계획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456113" y="4090864"/>
            <a:ext cx="13589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연결</a:t>
            </a:r>
          </a:p>
          <a:p>
            <a:pPr algn="ctr">
              <a:buFontTx/>
              <a:buChar char="•"/>
            </a:pPr>
            <a:r>
              <a:rPr lang="ko-KR" altLang="en-US" sz="1200">
                <a:solidFill>
                  <a:schemeClr val="tx1"/>
                </a:solidFill>
              </a:rPr>
              <a:t>상호동의하는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직무순환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개발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456113" y="4963989"/>
            <a:ext cx="1358900" cy="6873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계획실행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현 종업원의 새로운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직무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개발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채용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70113" y="1842964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V="1">
            <a:off x="2541588" y="1842964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4518025" y="1842964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4887913" y="1842964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7050088" y="1779464"/>
            <a:ext cx="0" cy="10001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5381625" y="1655639"/>
            <a:ext cx="1358900" cy="106045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6740525" y="3465389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V="1">
            <a:off x="7112000" y="3465389"/>
            <a:ext cx="0" cy="187325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529013" y="3590801"/>
            <a:ext cx="0" cy="125413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4208463" y="3903539"/>
            <a:ext cx="1976437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2971800" y="4432176"/>
            <a:ext cx="0" cy="533400"/>
          </a:xfrm>
          <a:prstGeom prst="line">
            <a:avLst/>
          </a:prstGeom>
          <a:ln>
            <a:headEnd type="none" w="sm" len="sm"/>
            <a:tailEnd type="triangl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>
            <a:off x="2362200" y="2755776"/>
            <a:ext cx="457200" cy="457200"/>
          </a:xfrm>
          <a:custGeom>
            <a:avLst/>
            <a:gdLst>
              <a:gd name="T0" fmla="*/ 288 w 288"/>
              <a:gd name="T1" fmla="*/ 288 h 288"/>
              <a:gd name="T2" fmla="*/ 0 w 288"/>
              <a:gd name="T3" fmla="*/ 288 h 288"/>
              <a:gd name="T4" fmla="*/ 0 w 288"/>
              <a:gd name="T5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8" h="288">
                <a:moveTo>
                  <a:pt x="288" y="288"/>
                </a:moveTo>
                <a:lnTo>
                  <a:pt x="0" y="288"/>
                </a:lnTo>
                <a:lnTo>
                  <a:pt x="0" y="0"/>
                </a:lnTo>
              </a:path>
            </a:pathLst>
          </a:custGeom>
          <a:ln>
            <a:headEnd type="diamond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3048000" y="2298576"/>
            <a:ext cx="9144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3505200" y="2298576"/>
            <a:ext cx="0" cy="609600"/>
          </a:xfrm>
          <a:prstGeom prst="line">
            <a:avLst/>
          </a:prstGeom>
          <a:ln>
            <a:headEnd type="none" w="sm" len="sm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3048000" y="5346576"/>
            <a:ext cx="1447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3733800" y="5346576"/>
            <a:ext cx="0" cy="6858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Freeform 34"/>
          <p:cNvSpPr>
            <a:spLocks/>
          </p:cNvSpPr>
          <p:nvPr/>
        </p:nvSpPr>
        <p:spPr bwMode="auto">
          <a:xfrm>
            <a:off x="1066800" y="2374776"/>
            <a:ext cx="6019800" cy="3733800"/>
          </a:xfrm>
          <a:custGeom>
            <a:avLst/>
            <a:gdLst>
              <a:gd name="T0" fmla="*/ 384 w 3792"/>
              <a:gd name="T1" fmla="*/ 0 h 2352"/>
              <a:gd name="T2" fmla="*/ 0 w 3792"/>
              <a:gd name="T3" fmla="*/ 0 h 2352"/>
              <a:gd name="T4" fmla="*/ 0 w 3792"/>
              <a:gd name="T5" fmla="*/ 2352 h 2352"/>
              <a:gd name="T6" fmla="*/ 3792 w 3792"/>
              <a:gd name="T7" fmla="*/ 2352 h 2352"/>
              <a:gd name="T8" fmla="*/ 3792 w 3792"/>
              <a:gd name="T9" fmla="*/ 1200 h 2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2" h="2352">
                <a:moveTo>
                  <a:pt x="384" y="0"/>
                </a:moveTo>
                <a:lnTo>
                  <a:pt x="0" y="0"/>
                </a:lnTo>
                <a:lnTo>
                  <a:pt x="0" y="2352"/>
                </a:lnTo>
                <a:lnTo>
                  <a:pt x="3792" y="2352"/>
                </a:lnTo>
                <a:lnTo>
                  <a:pt x="3792" y="1200"/>
                </a:ln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Freeform 35"/>
          <p:cNvSpPr>
            <a:spLocks/>
          </p:cNvSpPr>
          <p:nvPr/>
        </p:nvSpPr>
        <p:spPr bwMode="auto">
          <a:xfrm>
            <a:off x="5791200" y="4355976"/>
            <a:ext cx="914400" cy="228600"/>
          </a:xfrm>
          <a:custGeom>
            <a:avLst/>
            <a:gdLst>
              <a:gd name="T0" fmla="*/ 0 w 576"/>
              <a:gd name="T1" fmla="*/ 144 h 144"/>
              <a:gd name="T2" fmla="*/ 576 w 576"/>
              <a:gd name="T3" fmla="*/ 144 h 144"/>
              <a:gd name="T4" fmla="*/ 576 w 576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144">
                <a:moveTo>
                  <a:pt x="0" y="144"/>
                </a:moveTo>
                <a:lnTo>
                  <a:pt x="576" y="144"/>
                </a:lnTo>
                <a:lnTo>
                  <a:pt x="576" y="0"/>
                </a:lnTo>
              </a:path>
            </a:pathLst>
          </a:custGeom>
          <a:ln>
            <a:headEnd type="diamond" w="med" len="med"/>
            <a:tailEnd type="triangl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19385" y="476672"/>
            <a:ext cx="2656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/>
              <a:t>조직내</a:t>
            </a:r>
            <a:r>
              <a:rPr lang="ko-KR" altLang="en-US" b="1" dirty="0"/>
              <a:t> 경력개발 절차도</a:t>
            </a:r>
          </a:p>
        </p:txBody>
      </p:sp>
    </p:spTree>
    <p:extLst>
      <p:ext uri="{BB962C8B-B14F-4D97-AF65-F5344CB8AC3E}">
        <p14:creationId xmlns:p14="http://schemas.microsoft.com/office/powerpoint/2010/main" val="1957490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68413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개인의 역할</a:t>
            </a:r>
          </a:p>
          <a:p>
            <a:pPr lvl="1"/>
            <a:r>
              <a:rPr lang="en-US" altLang="ko-KR" sz="1600" dirty="0"/>
              <a:t>Know what : </a:t>
            </a:r>
            <a:r>
              <a:rPr lang="ko-KR" altLang="en-US" sz="1600" dirty="0"/>
              <a:t>산업의 기회</a:t>
            </a:r>
            <a:r>
              <a:rPr lang="en-US" altLang="ko-KR" sz="1600" dirty="0"/>
              <a:t>, </a:t>
            </a:r>
            <a:r>
              <a:rPr lang="ko-KR" altLang="en-US" sz="1600" dirty="0"/>
              <a:t>위협</a:t>
            </a:r>
            <a:r>
              <a:rPr lang="en-US" altLang="ko-KR" sz="1600" dirty="0"/>
              <a:t>, </a:t>
            </a:r>
            <a:r>
              <a:rPr lang="ko-KR" altLang="en-US" sz="1600" dirty="0"/>
              <a:t>요구조건을 이해하기</a:t>
            </a:r>
          </a:p>
          <a:p>
            <a:pPr lvl="1"/>
            <a:r>
              <a:rPr lang="en-US" altLang="ko-KR" sz="1600" dirty="0"/>
              <a:t>Know why : </a:t>
            </a:r>
            <a:r>
              <a:rPr lang="ko-KR" altLang="en-US" sz="1600" dirty="0"/>
              <a:t>추구하는 </a:t>
            </a:r>
            <a:r>
              <a:rPr lang="en-US" altLang="ko-KR" sz="1600" dirty="0"/>
              <a:t>career</a:t>
            </a:r>
            <a:r>
              <a:rPr lang="ko-KR" altLang="en-US" sz="1600" dirty="0"/>
              <a:t>에 대한 관심과 의미</a:t>
            </a:r>
            <a:r>
              <a:rPr lang="en-US" altLang="ko-KR" sz="1600" dirty="0"/>
              <a:t>, </a:t>
            </a:r>
            <a:r>
              <a:rPr lang="ko-KR" altLang="en-US" sz="1600" dirty="0"/>
              <a:t>자신의 동기를 이해하기</a:t>
            </a:r>
          </a:p>
          <a:p>
            <a:pPr lvl="1"/>
            <a:r>
              <a:rPr lang="en-US" altLang="ko-KR" sz="1600" dirty="0"/>
              <a:t>Know where : career system </a:t>
            </a:r>
            <a:r>
              <a:rPr lang="ko-KR" altLang="en-US" sz="1600" dirty="0"/>
              <a:t>내의 진입</a:t>
            </a:r>
            <a:r>
              <a:rPr lang="en-US" altLang="ko-KR" sz="1600" dirty="0"/>
              <a:t>, </a:t>
            </a:r>
            <a:r>
              <a:rPr lang="ko-KR" altLang="en-US" sz="1600" dirty="0"/>
              <a:t>훈련</a:t>
            </a:r>
            <a:r>
              <a:rPr lang="en-US" altLang="ko-KR" sz="1600" dirty="0"/>
              <a:t>, </a:t>
            </a:r>
            <a:r>
              <a:rPr lang="ko-KR" altLang="en-US" sz="1600" dirty="0"/>
              <a:t>진보와 관련한 위치와 영역을 이해하기</a:t>
            </a:r>
          </a:p>
          <a:p>
            <a:pPr lvl="1"/>
            <a:r>
              <a:rPr lang="en-US" altLang="ko-KR" sz="1600" dirty="0"/>
              <a:t>Know whom : </a:t>
            </a:r>
            <a:r>
              <a:rPr lang="ko-KR" altLang="en-US" sz="1600" dirty="0"/>
              <a:t>기회와 자원에 접근할 수 있는 사회적 자본</a:t>
            </a:r>
            <a:r>
              <a:rPr lang="en-US" altLang="ko-KR" sz="1600" dirty="0"/>
              <a:t>(</a:t>
            </a:r>
            <a:r>
              <a:rPr lang="ko-KR" altLang="en-US" sz="1600" dirty="0"/>
              <a:t>원</a:t>
            </a:r>
            <a:r>
              <a:rPr lang="en-US" altLang="ko-KR" sz="1600" dirty="0"/>
              <a:t>)</a:t>
            </a:r>
            <a:r>
              <a:rPr lang="ko-KR" altLang="en-US" sz="1600" dirty="0"/>
              <a:t>과의 관계 형성</a:t>
            </a:r>
          </a:p>
          <a:p>
            <a:pPr lvl="1"/>
            <a:r>
              <a:rPr lang="en-US" altLang="ko-KR" sz="1600" dirty="0"/>
              <a:t>Know when : </a:t>
            </a:r>
            <a:r>
              <a:rPr lang="ko-KR" altLang="en-US" sz="1600" dirty="0"/>
              <a:t>자신의 </a:t>
            </a:r>
            <a:r>
              <a:rPr lang="en-US" altLang="ko-KR" sz="1600" dirty="0"/>
              <a:t>career </a:t>
            </a:r>
            <a:r>
              <a:rPr lang="ko-KR" altLang="en-US" sz="1600" dirty="0"/>
              <a:t>내의 활동에 대한 선택과 시기를 이해하기</a:t>
            </a:r>
          </a:p>
          <a:p>
            <a:pPr lvl="1"/>
            <a:r>
              <a:rPr lang="en-US" altLang="ko-KR" sz="1600" dirty="0"/>
              <a:t>Know How : </a:t>
            </a:r>
            <a:r>
              <a:rPr lang="ko-KR" altLang="en-US" sz="1600" dirty="0"/>
              <a:t>직무와 책임에 따라 효과적인 수행을 위해 필요한 지식과 재능을 이해하고 습득하기</a:t>
            </a:r>
          </a:p>
          <a:p>
            <a:endParaRPr lang="ko-KR" altLang="en-US" sz="1800" dirty="0"/>
          </a:p>
          <a:p>
            <a:r>
              <a:rPr lang="ko-KR" altLang="en-US" sz="1800" dirty="0"/>
              <a:t>관리자의 역할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Leibowitz,Z</a:t>
            </a:r>
            <a:r>
              <a:rPr lang="en-US" altLang="ko-KR" sz="1800" dirty="0"/>
              <a:t>. &amp; Schlossberg, N.1981)</a:t>
            </a:r>
          </a:p>
          <a:p>
            <a:pPr lvl="1"/>
            <a:r>
              <a:rPr lang="en-US" altLang="ko-KR" sz="1600" dirty="0"/>
              <a:t>Coach : </a:t>
            </a:r>
            <a:r>
              <a:rPr lang="ko-KR" altLang="en-US" sz="1600" dirty="0"/>
              <a:t>구성원의 경력에 대한 관심에 귀를 기울이고 명료화하는 사람</a:t>
            </a:r>
          </a:p>
          <a:p>
            <a:pPr lvl="1"/>
            <a:r>
              <a:rPr lang="en-US" altLang="ko-KR" sz="1600" dirty="0"/>
              <a:t>Appraiser: </a:t>
            </a:r>
            <a:r>
              <a:rPr lang="ko-KR" altLang="en-US" sz="1600" dirty="0"/>
              <a:t>수행기준과 직무책임에 대해 피드백을 주고</a:t>
            </a:r>
            <a:r>
              <a:rPr lang="en-US" altLang="ko-KR" sz="1600" dirty="0"/>
              <a:t>, </a:t>
            </a:r>
            <a:r>
              <a:rPr lang="ko-KR" altLang="en-US" sz="1600" dirty="0"/>
              <a:t>명료화하는 사람</a:t>
            </a:r>
          </a:p>
          <a:p>
            <a:pPr lvl="1"/>
            <a:r>
              <a:rPr lang="en-US" altLang="ko-KR" sz="1600" dirty="0"/>
              <a:t>Adviser : </a:t>
            </a:r>
            <a:r>
              <a:rPr lang="ko-KR" altLang="en-US" sz="1600" dirty="0"/>
              <a:t>대안을 주고 목표설정을 도우며</a:t>
            </a:r>
            <a:r>
              <a:rPr lang="en-US" altLang="ko-KR" sz="1600" dirty="0"/>
              <a:t>, </a:t>
            </a:r>
            <a:r>
              <a:rPr lang="ko-KR" altLang="en-US" sz="1600" dirty="0"/>
              <a:t>추천하고 충고해주는 사람</a:t>
            </a:r>
          </a:p>
          <a:p>
            <a:pPr lvl="1"/>
            <a:r>
              <a:rPr lang="en-US" altLang="ko-KR" sz="1600" dirty="0"/>
              <a:t>Referral agent : </a:t>
            </a:r>
            <a:r>
              <a:rPr lang="ko-KR" altLang="en-US" sz="1600" dirty="0"/>
              <a:t>행동계획을 상담하고 구성원과 가용한 조직 내 다른 사람과 자원을 활용할 수 있도록 연결해주는 사람</a:t>
            </a:r>
          </a:p>
          <a:p>
            <a:pPr lvl="1"/>
            <a:endParaRPr lang="ko-KR" altLang="en-US" sz="1600" dirty="0"/>
          </a:p>
          <a:p>
            <a:pPr lvl="1"/>
            <a:endParaRPr lang="en-US" altLang="ko-KR" sz="1600" dirty="0"/>
          </a:p>
        </p:txBody>
      </p:sp>
      <p:sp>
        <p:nvSpPr>
          <p:cNvPr id="2" name="직사각형 1"/>
          <p:cNvSpPr/>
          <p:nvPr/>
        </p:nvSpPr>
        <p:spPr>
          <a:xfrm>
            <a:off x="323528" y="620688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경력관리 역할</a:t>
            </a:r>
          </a:p>
        </p:txBody>
      </p:sp>
    </p:spTree>
    <p:extLst>
      <p:ext uri="{BB962C8B-B14F-4D97-AF65-F5344CB8AC3E}">
        <p14:creationId xmlns:p14="http://schemas.microsoft.com/office/powerpoint/2010/main" val="637950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732854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개인중심의 경력개발 모델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Greenhaus</a:t>
            </a:r>
            <a:r>
              <a:rPr lang="en-US" altLang="ko-KR" sz="2400" dirty="0"/>
              <a:t>, 2000)</a:t>
            </a:r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26368" y="21328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1.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경력탐색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388568" y="21328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2.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자신과 환경에</a:t>
            </a:r>
          </a:p>
          <a:p>
            <a:pPr algn="ctr"/>
            <a:r>
              <a:rPr lang="ko-KR" altLang="en-US" sz="1600">
                <a:latin typeface="견고딕"/>
                <a:ea typeface="견고딕"/>
                <a:cs typeface="견고딕"/>
              </a:rPr>
              <a:t> 대한 인식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55568" y="21328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3.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목표설정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055568" y="42664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4.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전략개발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388568" y="42664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5.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전략실행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388568" y="32758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7.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피드백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26368" y="42664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6.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목표달성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026368" y="3275856"/>
            <a:ext cx="1828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1600">
                <a:latin typeface="견고딕"/>
                <a:ea typeface="견고딕"/>
                <a:cs typeface="견고딕"/>
              </a:rPr>
              <a:t>8. </a:t>
            </a:r>
            <a:r>
              <a:rPr lang="ko-KR" altLang="en-US" sz="1600">
                <a:latin typeface="견고딕"/>
                <a:ea typeface="견고딕"/>
                <a:cs typeface="견고딕"/>
              </a:rPr>
              <a:t>평가</a:t>
            </a:r>
          </a:p>
        </p:txBody>
      </p:sp>
      <p:cxnSp>
        <p:nvCxnSpPr>
          <p:cNvPr id="13" name="AutoShape 12"/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2855168" y="2399556"/>
            <a:ext cx="533400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3"/>
          <p:cNvCxnSpPr>
            <a:cxnSpLocks noChangeShapeType="1"/>
            <a:stCxn id="6" idx="3"/>
            <a:endCxn id="7" idx="1"/>
          </p:cNvCxnSpPr>
          <p:nvPr/>
        </p:nvCxnSpPr>
        <p:spPr bwMode="auto">
          <a:xfrm>
            <a:off x="5217368" y="2399556"/>
            <a:ext cx="838200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4"/>
          <p:cNvCxnSpPr>
            <a:cxnSpLocks noChangeShapeType="1"/>
            <a:stCxn id="7" idx="2"/>
            <a:endCxn id="8" idx="0"/>
          </p:cNvCxnSpPr>
          <p:nvPr/>
        </p:nvCxnSpPr>
        <p:spPr bwMode="auto">
          <a:xfrm>
            <a:off x="6969968" y="2666256"/>
            <a:ext cx="0" cy="16002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5"/>
          <p:cNvCxnSpPr>
            <a:cxnSpLocks noChangeShapeType="1"/>
            <a:stCxn id="8" idx="1"/>
            <a:endCxn id="9" idx="3"/>
          </p:cNvCxnSpPr>
          <p:nvPr/>
        </p:nvCxnSpPr>
        <p:spPr bwMode="auto">
          <a:xfrm flipH="1">
            <a:off x="5217368" y="4533156"/>
            <a:ext cx="838200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6"/>
          <p:cNvCxnSpPr>
            <a:cxnSpLocks noChangeShapeType="1"/>
            <a:stCxn id="9" idx="1"/>
            <a:endCxn id="11" idx="3"/>
          </p:cNvCxnSpPr>
          <p:nvPr/>
        </p:nvCxnSpPr>
        <p:spPr bwMode="auto">
          <a:xfrm flipH="1">
            <a:off x="2855168" y="4533156"/>
            <a:ext cx="533400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7"/>
          <p:cNvCxnSpPr>
            <a:cxnSpLocks noChangeShapeType="1"/>
            <a:stCxn id="10" idx="1"/>
            <a:endCxn id="12" idx="3"/>
          </p:cNvCxnSpPr>
          <p:nvPr/>
        </p:nvCxnSpPr>
        <p:spPr bwMode="auto">
          <a:xfrm flipH="1">
            <a:off x="2855168" y="3542556"/>
            <a:ext cx="533400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8"/>
          <p:cNvCxnSpPr>
            <a:cxnSpLocks noChangeShapeType="1"/>
            <a:stCxn id="11" idx="0"/>
            <a:endCxn id="12" idx="2"/>
          </p:cNvCxnSpPr>
          <p:nvPr/>
        </p:nvCxnSpPr>
        <p:spPr bwMode="auto">
          <a:xfrm flipV="1">
            <a:off x="1940768" y="3809256"/>
            <a:ext cx="0" cy="4572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19"/>
          <p:cNvCxnSpPr>
            <a:cxnSpLocks noChangeShapeType="1"/>
            <a:stCxn id="12" idx="0"/>
            <a:endCxn id="5" idx="2"/>
          </p:cNvCxnSpPr>
          <p:nvPr/>
        </p:nvCxnSpPr>
        <p:spPr bwMode="auto">
          <a:xfrm flipV="1">
            <a:off x="1940768" y="2666256"/>
            <a:ext cx="0" cy="6096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20"/>
          <p:cNvCxnSpPr>
            <a:cxnSpLocks noChangeShapeType="1"/>
            <a:stCxn id="9" idx="0"/>
            <a:endCxn id="10" idx="2"/>
          </p:cNvCxnSpPr>
          <p:nvPr/>
        </p:nvCxnSpPr>
        <p:spPr bwMode="auto">
          <a:xfrm flipV="1">
            <a:off x="4302968" y="3809256"/>
            <a:ext cx="0" cy="4572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Freeform 21"/>
          <p:cNvSpPr>
            <a:spLocks/>
          </p:cNvSpPr>
          <p:nvPr/>
        </p:nvSpPr>
        <p:spPr bwMode="auto">
          <a:xfrm>
            <a:off x="5217368" y="3504456"/>
            <a:ext cx="1371600" cy="838200"/>
          </a:xfrm>
          <a:custGeom>
            <a:avLst/>
            <a:gdLst>
              <a:gd name="T0" fmla="*/ 0 w 864"/>
              <a:gd name="T1" fmla="*/ 0 h 528"/>
              <a:gd name="T2" fmla="*/ 864 w 864"/>
              <a:gd name="T3" fmla="*/ 0 h 528"/>
              <a:gd name="T4" fmla="*/ 864 w 864"/>
              <a:gd name="T5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4" h="528">
                <a:moveTo>
                  <a:pt x="0" y="0"/>
                </a:moveTo>
                <a:lnTo>
                  <a:pt x="864" y="0"/>
                </a:lnTo>
                <a:lnTo>
                  <a:pt x="864" y="528"/>
                </a:lnTo>
              </a:path>
            </a:pathLst>
          </a:custGeom>
          <a:noFill/>
          <a:ln w="9525">
            <a:solidFill>
              <a:schemeClr val="hlink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72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23528" y="548680"/>
            <a:ext cx="8640960" cy="5904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팀 중심의 경력개발 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</a:t>
            </a:r>
            <a:r>
              <a:rPr lang="ko-KR" altLang="en-US" sz="1800" b="1" dirty="0"/>
              <a:t>개인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팀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조직이 경력개발의 책임을 공유하고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개인과 팀의 성장을 동시에 추구함</a:t>
            </a:r>
          </a:p>
          <a:p>
            <a:pPr lvl="1"/>
            <a:endParaRPr lang="ko-KR" altLang="en-US" sz="1600" dirty="0"/>
          </a:p>
          <a:p>
            <a:pPr lvl="1"/>
            <a:r>
              <a:rPr lang="ko-KR" altLang="en-US" sz="1600" b="1" dirty="0"/>
              <a:t>팀 경력개발의 모델</a:t>
            </a:r>
          </a:p>
          <a:p>
            <a:pPr lvl="2"/>
            <a:r>
              <a:rPr lang="ko-KR" altLang="en-US" sz="1600" dirty="0"/>
              <a:t>팀 구성원은 서로의 </a:t>
            </a:r>
            <a:r>
              <a:rPr lang="en-US" altLang="ko-KR" sz="1600" dirty="0"/>
              <a:t>role-models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팀은 팀 성과와 성장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개인적 성장과 개발을 강화하는 행동에 보상한다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팀은 팀과 개인 모듈을 위한 훈련기회를 결정한다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팀은 보다 높은 조직수준으로 함께 옮겨간다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사람들은 팀 내에서 수평적으로 옮겨간다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조직은 팀을 평가하고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팀은 개인을 평가한다</a:t>
            </a:r>
            <a:r>
              <a:rPr lang="en-US" altLang="ko-KR" sz="1600" dirty="0"/>
              <a:t>.</a:t>
            </a:r>
          </a:p>
          <a:p>
            <a:pPr lvl="2"/>
            <a:endParaRPr lang="en-US" altLang="ko-KR" sz="1600" dirty="0"/>
          </a:p>
          <a:p>
            <a:pPr lvl="1"/>
            <a:r>
              <a:rPr lang="ko-KR" altLang="en-US" sz="1600" b="1" dirty="0"/>
              <a:t>이를 위해 </a:t>
            </a:r>
          </a:p>
          <a:p>
            <a:pPr lvl="2">
              <a:buFont typeface="Wingdings" pitchFamily="2" charset="2"/>
              <a:buNone/>
            </a:pPr>
            <a:r>
              <a:rPr lang="en-US" altLang="ko-KR" sz="1600" dirty="0"/>
              <a:t>1</a:t>
            </a:r>
            <a:r>
              <a:rPr lang="ko-KR" altLang="en-US" sz="1600" dirty="0"/>
              <a:t>단계</a:t>
            </a:r>
            <a:r>
              <a:rPr lang="en-US" altLang="ko-KR" sz="1600" dirty="0"/>
              <a:t>) </a:t>
            </a:r>
            <a:r>
              <a:rPr lang="ko-KR" altLang="en-US" sz="1600" dirty="0"/>
              <a:t>팀 통합 </a:t>
            </a:r>
            <a:r>
              <a:rPr lang="en-US" altLang="ko-KR" sz="1600" dirty="0"/>
              <a:t>: </a:t>
            </a:r>
            <a:r>
              <a:rPr lang="ko-KR" altLang="en-US" sz="1600" dirty="0"/>
              <a:t>팀 빌딩</a:t>
            </a:r>
            <a:r>
              <a:rPr lang="en-US" altLang="ko-KR" sz="1600" dirty="0"/>
              <a:t>, </a:t>
            </a:r>
            <a:r>
              <a:rPr lang="ko-KR" altLang="en-US" sz="1600" dirty="0"/>
              <a:t>개인스타일 진단</a:t>
            </a:r>
            <a:r>
              <a:rPr lang="en-US" altLang="ko-KR" sz="1600" dirty="0"/>
              <a:t>, </a:t>
            </a:r>
            <a:r>
              <a:rPr lang="ko-KR" altLang="en-US" sz="1600" dirty="0"/>
              <a:t>팀 능력개발 훈련 등</a:t>
            </a:r>
          </a:p>
          <a:p>
            <a:pPr lvl="2">
              <a:buFont typeface="Wingdings" pitchFamily="2" charset="2"/>
              <a:buNone/>
            </a:pPr>
            <a:r>
              <a:rPr lang="en-US" altLang="ko-KR" sz="1600" dirty="0"/>
              <a:t>2</a:t>
            </a:r>
            <a:r>
              <a:rPr lang="ko-KR" altLang="en-US" sz="1600" dirty="0"/>
              <a:t>단계</a:t>
            </a:r>
            <a:r>
              <a:rPr lang="en-US" altLang="ko-KR" sz="1600" dirty="0"/>
              <a:t>) </a:t>
            </a:r>
            <a:r>
              <a:rPr lang="ko-KR" altLang="en-US" sz="1600" dirty="0"/>
              <a:t>팀 개발 </a:t>
            </a:r>
            <a:r>
              <a:rPr lang="en-US" altLang="ko-KR" sz="1600" dirty="0"/>
              <a:t>: </a:t>
            </a:r>
            <a:r>
              <a:rPr lang="ko-KR" altLang="en-US" sz="1600" dirty="0"/>
              <a:t>팀 문제해결 및 성과 평가 훈련</a:t>
            </a:r>
            <a:r>
              <a:rPr lang="en-US" altLang="ko-KR" sz="1600" dirty="0"/>
              <a:t>, </a:t>
            </a:r>
            <a:r>
              <a:rPr lang="ko-KR" altLang="en-US" sz="1600" dirty="0"/>
              <a:t>과업순환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코칭</a:t>
            </a:r>
            <a:r>
              <a:rPr lang="ko-KR" altLang="en-US" sz="1600" dirty="0"/>
              <a:t> 등</a:t>
            </a:r>
          </a:p>
          <a:p>
            <a:pPr lvl="2">
              <a:buFont typeface="Wingdings" pitchFamily="2" charset="2"/>
              <a:buNone/>
            </a:pPr>
            <a:r>
              <a:rPr lang="en-US" altLang="ko-KR" sz="1600" dirty="0"/>
              <a:t>3</a:t>
            </a:r>
            <a:r>
              <a:rPr lang="ko-KR" altLang="en-US" sz="1600" dirty="0"/>
              <a:t>단계</a:t>
            </a:r>
            <a:r>
              <a:rPr lang="en-US" altLang="ko-KR" sz="1600" dirty="0"/>
              <a:t>) </a:t>
            </a:r>
            <a:r>
              <a:rPr lang="ko-KR" altLang="en-US" sz="1600" dirty="0"/>
              <a:t>상호의존성과 책임감 개발 </a:t>
            </a:r>
            <a:r>
              <a:rPr lang="en-US" altLang="ko-KR" sz="1600" dirty="0"/>
              <a:t>: </a:t>
            </a:r>
            <a:r>
              <a:rPr lang="ko-KR" altLang="en-US" sz="1600" dirty="0"/>
              <a:t>학습조직의 툴</a:t>
            </a:r>
            <a:r>
              <a:rPr lang="en-US" altLang="ko-KR" sz="1600" dirty="0"/>
              <a:t>, </a:t>
            </a:r>
            <a:r>
              <a:rPr lang="ko-KR" altLang="en-US" sz="1600" dirty="0"/>
              <a:t>리더십 잠재력 평가</a:t>
            </a:r>
            <a:r>
              <a:rPr lang="en-US" altLang="ko-KR" sz="1600" dirty="0"/>
              <a:t>, </a:t>
            </a:r>
            <a:r>
              <a:rPr lang="ko-KR" altLang="en-US" sz="1600" dirty="0"/>
              <a:t>리더십 순환 등</a:t>
            </a:r>
          </a:p>
          <a:p>
            <a:pPr lvl="1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9187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/>
        </p:nvSpPr>
        <p:spPr bwMode="auto">
          <a:xfrm>
            <a:off x="228600" y="980729"/>
            <a:ext cx="891540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숙련되고 경험 있는 직원들의 이직률 감소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구시대적 </a:t>
            </a:r>
            <a:r>
              <a:rPr lang="ko-KR" altLang="en-US" sz="16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경력관의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교정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지속적으로 가치를 높이도록 동기화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최신기술 습득의 중요성에 대한 이해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지속적인 학습의 필요성에 대한 인식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“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후계자 양성</a:t>
            </a: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계획 강화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소수집단과 여성을 위한 평등한 기회 보장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관리자의 직원 개발의 중요성에 </a:t>
            </a:r>
            <a:r>
              <a:rPr lang="ko-KR" altLang="en-US" sz="18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대한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확신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생산성 있고 동기화된 직원들을 통한 경쟁력 있는 조직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유연성을 갖춘 직원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직원 모집 당시의 약속을 조직의 현실에 비추어 조정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국제적 유연성</a:t>
            </a:r>
          </a:p>
          <a:p>
            <a:pPr marL="812800" indent="-190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▪ </a:t>
            </a:r>
            <a:r>
              <a:rPr lang="ko-KR" altLang="en-US" sz="16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직원들의 유의미한 개발 계획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57076" y="381556"/>
            <a:ext cx="378821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경력개발제도의 효과 제시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169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9160" y="332656"/>
            <a:ext cx="8352928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변화하는 심리적 고용계약</a:t>
            </a:r>
            <a:endParaRPr lang="en-US" altLang="ko-KR" b="1" dirty="0"/>
          </a:p>
          <a:p>
            <a:endParaRPr lang="ko-KR" altLang="en-US" b="1" dirty="0"/>
          </a:p>
          <a:p>
            <a:pPr lvl="1"/>
            <a:r>
              <a:rPr lang="en-US" altLang="ko-KR" sz="1600" dirty="0"/>
              <a:t>1) </a:t>
            </a:r>
            <a:r>
              <a:rPr lang="ko-KR" altLang="en-US" sz="1600" dirty="0"/>
              <a:t>전통적인 심리적 계약</a:t>
            </a:r>
            <a:endParaRPr lang="en-US" altLang="ko-KR" sz="1600" dirty="0"/>
          </a:p>
          <a:p>
            <a:pPr lvl="2"/>
            <a:r>
              <a:rPr lang="ko-KR" altLang="en-US" sz="1400" dirty="0"/>
              <a:t>종업원</a:t>
            </a:r>
            <a:r>
              <a:rPr lang="en-US" altLang="ko-KR" sz="1400" dirty="0"/>
              <a:t>: </a:t>
            </a:r>
            <a:r>
              <a:rPr lang="ko-KR" altLang="en-US" sz="1400" dirty="0"/>
              <a:t>충성</a:t>
            </a:r>
          </a:p>
          <a:p>
            <a:pPr lvl="2"/>
            <a:r>
              <a:rPr lang="ko-KR" altLang="en-US" sz="1400" dirty="0"/>
              <a:t>고용주</a:t>
            </a:r>
            <a:r>
              <a:rPr lang="en-US" altLang="ko-KR" sz="1400" dirty="0"/>
              <a:t>: </a:t>
            </a:r>
            <a:r>
              <a:rPr lang="ko-KR" altLang="en-US" sz="1400" dirty="0"/>
              <a:t>직무에 대한 안전 및 안정성 제공</a:t>
            </a:r>
            <a:r>
              <a:rPr lang="en-US" altLang="ko-KR" sz="1400" dirty="0"/>
              <a:t>(career</a:t>
            </a:r>
            <a:r>
              <a:rPr lang="ko-KR" altLang="en-US" sz="1400" dirty="0"/>
              <a:t>의 진행</a:t>
            </a:r>
            <a:r>
              <a:rPr lang="en-US" altLang="ko-KR" sz="1400" dirty="0"/>
              <a:t>: </a:t>
            </a:r>
            <a:r>
              <a:rPr lang="ko-KR" altLang="en-US" sz="1400" dirty="0"/>
              <a:t>조직 내 승진</a:t>
            </a:r>
            <a:r>
              <a:rPr lang="en-US" altLang="ko-KR" sz="1400" dirty="0"/>
              <a:t>, </a:t>
            </a:r>
            <a:r>
              <a:rPr lang="ko-KR" altLang="en-US" sz="1400" dirty="0"/>
              <a:t>급여인상 등</a:t>
            </a:r>
            <a:r>
              <a:rPr lang="en-US" altLang="ko-KR" sz="1400" dirty="0"/>
              <a:t>)</a:t>
            </a:r>
          </a:p>
          <a:p>
            <a:pPr lvl="2"/>
            <a:endParaRPr lang="en-US" altLang="ko-KR" sz="1400" dirty="0"/>
          </a:p>
          <a:p>
            <a:pPr lvl="1"/>
            <a:r>
              <a:rPr lang="en-US" altLang="ko-KR" sz="1600" dirty="0"/>
              <a:t>2) </a:t>
            </a:r>
            <a:r>
              <a:rPr lang="ko-KR" altLang="en-US" sz="1600" dirty="0"/>
              <a:t>새로운 심리적 계약 </a:t>
            </a:r>
          </a:p>
          <a:p>
            <a:pPr lvl="2"/>
            <a:r>
              <a:rPr lang="ko-KR" altLang="en-US" sz="1600" b="1" dirty="0"/>
              <a:t>종업원</a:t>
            </a:r>
            <a:r>
              <a:rPr lang="ko-KR" altLang="en-US" sz="2000" dirty="0"/>
              <a:t> </a:t>
            </a:r>
          </a:p>
          <a:p>
            <a:pPr lvl="3"/>
            <a:r>
              <a:rPr lang="ko-KR" altLang="en-US" sz="1400" dirty="0"/>
              <a:t>고용주의 사업의 본질을 이해하고</a:t>
            </a:r>
          </a:p>
          <a:p>
            <a:pPr lvl="3"/>
            <a:r>
              <a:rPr lang="ko-KR" altLang="en-US" sz="1400" dirty="0"/>
              <a:t>조직의 가치를 높이며</a:t>
            </a:r>
          </a:p>
          <a:p>
            <a:pPr lvl="3"/>
            <a:r>
              <a:rPr lang="ko-KR" altLang="en-US" sz="1400" dirty="0"/>
              <a:t>종업원 기술을 개발</a:t>
            </a:r>
            <a:r>
              <a:rPr lang="en-US" altLang="ko-KR" sz="1400" dirty="0"/>
              <a:t>, </a:t>
            </a:r>
            <a:r>
              <a:rPr lang="ko-KR" altLang="en-US" sz="1400" dirty="0"/>
              <a:t>유지하는 책임을 진다</a:t>
            </a:r>
            <a:endParaRPr lang="en-US" altLang="ko-KR" sz="1400" dirty="0"/>
          </a:p>
          <a:p>
            <a:pPr lvl="3"/>
            <a:endParaRPr lang="ko-KR" altLang="en-US" sz="1400" dirty="0"/>
          </a:p>
          <a:p>
            <a:pPr lvl="2"/>
            <a:r>
              <a:rPr lang="ko-KR" altLang="en-US" sz="1600" b="1" dirty="0"/>
              <a:t>고용주</a:t>
            </a:r>
          </a:p>
          <a:p>
            <a:pPr lvl="3"/>
            <a:r>
              <a:rPr lang="ko-KR" altLang="en-US" sz="1400" dirty="0"/>
              <a:t>기술 개발</a:t>
            </a:r>
            <a:r>
              <a:rPr lang="en-US" altLang="ko-KR" sz="1400" dirty="0"/>
              <a:t>, </a:t>
            </a:r>
            <a:r>
              <a:rPr lang="ko-KR" altLang="en-US" sz="1400" dirty="0"/>
              <a:t>훈련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교육등의</a:t>
            </a:r>
            <a:r>
              <a:rPr lang="ko-KR" altLang="en-US" sz="1400" dirty="0"/>
              <a:t> 기회를 제공하고</a:t>
            </a:r>
          </a:p>
          <a:p>
            <a:pPr lvl="3"/>
            <a:r>
              <a:rPr lang="ko-KR" altLang="en-US" sz="1400" dirty="0"/>
              <a:t>경력관리를 돕고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코칭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멘토링</a:t>
            </a:r>
            <a:r>
              <a:rPr lang="en-US" altLang="ko-KR" sz="1400" dirty="0"/>
              <a:t>)</a:t>
            </a:r>
          </a:p>
          <a:p>
            <a:pPr lvl="3"/>
            <a:r>
              <a:rPr lang="ko-KR" altLang="en-US" sz="1400" dirty="0"/>
              <a:t>성과에 기초하여 보상한다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6659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11560" y="692696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3) </a:t>
            </a:r>
            <a:r>
              <a:rPr lang="ko-KR" altLang="en-US" sz="1800" dirty="0"/>
              <a:t>개인의 관점</a:t>
            </a:r>
          </a:p>
          <a:p>
            <a:pPr lvl="1"/>
            <a:r>
              <a:rPr lang="ko-KR" altLang="en-US" sz="1600" dirty="0"/>
              <a:t>환경변화에 따른 융통성과 적응력의 개발</a:t>
            </a:r>
          </a:p>
          <a:p>
            <a:pPr lvl="1"/>
            <a:r>
              <a:rPr lang="ko-KR" altLang="en-US" sz="1600" dirty="0"/>
              <a:t>자산의 삶과 경력에 대한 통제 욕구</a:t>
            </a:r>
          </a:p>
          <a:p>
            <a:pPr lvl="3"/>
            <a:r>
              <a:rPr lang="ko-KR" altLang="en-US" sz="1600" dirty="0"/>
              <a:t>최근 노동력의 변화</a:t>
            </a:r>
          </a:p>
          <a:p>
            <a:pPr lvl="4"/>
            <a:r>
              <a:rPr lang="ko-KR" altLang="en-US" sz="1400" dirty="0"/>
              <a:t>재미있고 </a:t>
            </a:r>
            <a:r>
              <a:rPr lang="ko-KR" altLang="en-US" sz="1400" dirty="0" err="1"/>
              <a:t>의미있는</a:t>
            </a:r>
            <a:r>
              <a:rPr lang="ko-KR" altLang="en-US" sz="1400" dirty="0"/>
              <a:t> 일에 대한 열망의 성취욕구</a:t>
            </a:r>
          </a:p>
          <a:p>
            <a:pPr lvl="4"/>
            <a:r>
              <a:rPr lang="ko-KR" altLang="en-US" sz="1400" dirty="0"/>
              <a:t>자유와 자율성의 성취욕구</a:t>
            </a:r>
          </a:p>
          <a:p>
            <a:pPr lvl="4"/>
            <a:r>
              <a:rPr lang="ko-KR" altLang="en-US" sz="1400" dirty="0"/>
              <a:t>일과 가정간의 균형에 대한 관심 고조</a:t>
            </a:r>
          </a:p>
          <a:p>
            <a:pPr lvl="4"/>
            <a:r>
              <a:rPr lang="ko-KR" altLang="en-US" sz="1400" dirty="0" err="1"/>
              <a:t>성역할의</a:t>
            </a:r>
            <a:r>
              <a:rPr lang="ko-KR" altLang="en-US" sz="1400" dirty="0"/>
              <a:t> 경계 약화</a:t>
            </a:r>
          </a:p>
          <a:p>
            <a:pPr lvl="4"/>
            <a:r>
              <a:rPr lang="ko-KR" altLang="en-US" sz="1400" dirty="0"/>
              <a:t>경력지향성의 다양화</a:t>
            </a:r>
          </a:p>
          <a:p>
            <a:pPr marL="0" indent="0">
              <a:buNone/>
            </a:pPr>
            <a:r>
              <a:rPr lang="en-US" altLang="ko-KR" sz="1800" dirty="0"/>
              <a:t>4) </a:t>
            </a:r>
            <a:r>
              <a:rPr lang="ko-KR" altLang="en-US" sz="1800" dirty="0"/>
              <a:t>조직의 관점</a:t>
            </a:r>
          </a:p>
          <a:p>
            <a:pPr lvl="1"/>
            <a:r>
              <a:rPr lang="ko-KR" altLang="en-US" sz="1600" dirty="0"/>
              <a:t>인적자원의 효율적 관리</a:t>
            </a:r>
            <a:r>
              <a:rPr lang="en-US" altLang="ko-KR" sz="1600" dirty="0"/>
              <a:t>(</a:t>
            </a:r>
            <a:r>
              <a:rPr lang="ko-KR" altLang="en-US" sz="1600" dirty="0"/>
              <a:t>선발</a:t>
            </a:r>
            <a:r>
              <a:rPr lang="en-US" altLang="ko-KR" sz="1600" dirty="0"/>
              <a:t>, </a:t>
            </a:r>
            <a:r>
              <a:rPr lang="ko-KR" altLang="en-US" sz="1600" dirty="0"/>
              <a:t>개발 및 활용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Career plateau</a:t>
            </a:r>
            <a:r>
              <a:rPr lang="ko-KR" altLang="en-US" sz="1600" dirty="0"/>
              <a:t>의 관리</a:t>
            </a:r>
          </a:p>
          <a:p>
            <a:pPr lvl="1"/>
            <a:r>
              <a:rPr lang="ko-KR" altLang="en-US" sz="1600" dirty="0"/>
              <a:t>다양한 욕구</a:t>
            </a:r>
            <a:r>
              <a:rPr lang="en-US" altLang="ko-KR" sz="1600" dirty="0"/>
              <a:t>, </a:t>
            </a:r>
            <a:r>
              <a:rPr lang="ko-KR" altLang="en-US" sz="1600" dirty="0"/>
              <a:t>가치를 가진 종업원의 관리</a:t>
            </a:r>
          </a:p>
          <a:p>
            <a:pPr lvl="1"/>
            <a:r>
              <a:rPr lang="ko-KR" altLang="en-US" sz="1600" dirty="0"/>
              <a:t>일과 가정에 대한 관심의 균형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796528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764704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dirty="0" err="1"/>
              <a:t>인턴십과</a:t>
            </a:r>
            <a:r>
              <a:rPr lang="ko-KR" altLang="en-US" sz="1800" dirty="0"/>
              <a:t> 도제제도를 통한 선행사회화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채용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오리엔테이션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개인학습 및 개발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직무도전 및 현장경험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수행피드백 및 </a:t>
            </a:r>
            <a:r>
              <a:rPr lang="ko-KR" altLang="en-US" sz="1800" dirty="0" err="1"/>
              <a:t>코칭</a:t>
            </a:r>
            <a:endParaRPr lang="ko-KR" altLang="en-US" sz="1800" dirty="0"/>
          </a:p>
          <a:p>
            <a:pPr>
              <a:lnSpc>
                <a:spcPct val="150000"/>
              </a:lnSpc>
            </a:pPr>
            <a:r>
              <a:rPr lang="ko-KR" altLang="en-US" sz="1800" dirty="0" err="1"/>
              <a:t>멘토링과</a:t>
            </a:r>
            <a:r>
              <a:rPr lang="ko-KR" altLang="en-US" sz="1800" dirty="0"/>
              <a:t> 지원활동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이중승진 사다리 </a:t>
            </a:r>
            <a:r>
              <a:rPr lang="en-US" altLang="ko-KR" sz="1800" dirty="0"/>
              <a:t>: </a:t>
            </a:r>
            <a:r>
              <a:rPr lang="ko-KR" altLang="en-US" sz="1800" dirty="0"/>
              <a:t>다중 경력사다리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경력정체에 대한 대처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경력말기 활동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재배치와 전직 프로그램</a:t>
            </a:r>
          </a:p>
          <a:p>
            <a:pPr>
              <a:lnSpc>
                <a:spcPct val="150000"/>
              </a:lnSpc>
            </a:pPr>
            <a:r>
              <a:rPr lang="ko-KR" altLang="en-US" sz="1800" dirty="0" err="1"/>
              <a:t>퇴직전</a:t>
            </a:r>
            <a:r>
              <a:rPr lang="ko-KR" altLang="en-US" sz="1800" dirty="0"/>
              <a:t> 프로그램</a:t>
            </a:r>
          </a:p>
        </p:txBody>
      </p:sp>
    </p:spTree>
    <p:extLst>
      <p:ext uri="{BB962C8B-B14F-4D97-AF65-F5344CB8AC3E}">
        <p14:creationId xmlns:p14="http://schemas.microsoft.com/office/powerpoint/2010/main" val="337892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836712"/>
            <a:ext cx="8229600" cy="50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경력개발 관리는 오늘날의 변화를 감안할 때 조직의 전략적 선택과 밀접히 관련되어야 한다</a:t>
            </a:r>
            <a:r>
              <a:rPr lang="en-US" altLang="ko-KR" sz="1800" dirty="0"/>
              <a:t>. 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pPr lvl="1"/>
            <a:r>
              <a:rPr lang="ko-KR" altLang="en-US" sz="1600" dirty="0"/>
              <a:t>개인개발계획과 조직전략 수립을 통합하라</a:t>
            </a:r>
          </a:p>
          <a:p>
            <a:pPr lvl="1"/>
            <a:r>
              <a:rPr lang="ko-KR" altLang="en-US" sz="1600" dirty="0"/>
              <a:t>경력개발과 다른 </a:t>
            </a:r>
            <a:r>
              <a:rPr lang="en-US" altLang="ko-KR" sz="1600" dirty="0"/>
              <a:t>HRM </a:t>
            </a:r>
            <a:r>
              <a:rPr lang="ko-KR" altLang="en-US" sz="1600" dirty="0"/>
              <a:t>시스템간의 연결을 강화하라</a:t>
            </a:r>
          </a:p>
          <a:p>
            <a:pPr lvl="1"/>
            <a:r>
              <a:rPr lang="ko-KR" altLang="en-US" sz="1600" dirty="0"/>
              <a:t>경력개발 시스템을 보다 개방적으로 운영하라</a:t>
            </a:r>
          </a:p>
          <a:p>
            <a:pPr lvl="1"/>
            <a:r>
              <a:rPr lang="ko-KR" altLang="en-US" sz="1600" dirty="0"/>
              <a:t>경력개발에 있어 관리자의 역할</a:t>
            </a:r>
            <a:r>
              <a:rPr lang="en-US" altLang="ko-KR" sz="1600" dirty="0"/>
              <a:t>(</a:t>
            </a:r>
            <a:r>
              <a:rPr lang="ko-KR" altLang="en-US" sz="1600" dirty="0"/>
              <a:t>기술과 책임</a:t>
            </a:r>
            <a:r>
              <a:rPr lang="en-US" altLang="ko-KR" sz="1600" dirty="0"/>
              <a:t>)</a:t>
            </a:r>
            <a:r>
              <a:rPr lang="ko-KR" altLang="en-US" sz="1600" dirty="0"/>
              <a:t>을 보다 강화하라</a:t>
            </a:r>
          </a:p>
          <a:p>
            <a:pPr lvl="1"/>
            <a:r>
              <a:rPr lang="ko-KR" altLang="en-US" sz="1600" dirty="0"/>
              <a:t>동료간의 학습과 다른 팀 중심의 개발활동을 개발하라</a:t>
            </a:r>
          </a:p>
          <a:p>
            <a:pPr lvl="1"/>
            <a:r>
              <a:rPr lang="en-US" altLang="ko-KR" sz="1600" dirty="0"/>
              <a:t>OJD</a:t>
            </a:r>
            <a:r>
              <a:rPr lang="ko-KR" altLang="en-US" sz="1600" dirty="0"/>
              <a:t>를 강조하라</a:t>
            </a:r>
            <a:r>
              <a:rPr lang="en-US" altLang="ko-KR" sz="1600" dirty="0"/>
              <a:t>: </a:t>
            </a:r>
            <a:r>
              <a:rPr lang="ko-KR" altLang="en-US" sz="1600" dirty="0"/>
              <a:t>전통적인 교육훈련</a:t>
            </a:r>
            <a:r>
              <a:rPr lang="en-US" altLang="ko-KR" sz="1600" dirty="0"/>
              <a:t>, </a:t>
            </a:r>
            <a:r>
              <a:rPr lang="ko-KR" altLang="en-US" sz="1600" dirty="0"/>
              <a:t>일회성 교육을 줄여라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Enrichment</a:t>
            </a:r>
            <a:r>
              <a:rPr lang="ko-KR" altLang="en-US" sz="1600" dirty="0"/>
              <a:t>와 수평적 이동을 강조하라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전이</a:t>
            </a:r>
            <a:r>
              <a:rPr lang="en-US" altLang="ko-KR" sz="1600" dirty="0"/>
              <a:t>(</a:t>
            </a:r>
            <a:r>
              <a:rPr lang="ko-KR" altLang="en-US" sz="1600" dirty="0"/>
              <a:t>변환</a:t>
            </a:r>
            <a:r>
              <a:rPr lang="en-US" altLang="ko-KR" sz="1600" dirty="0"/>
              <a:t>)</a:t>
            </a:r>
            <a:r>
              <a:rPr lang="ko-KR" altLang="en-US" sz="1600" dirty="0"/>
              <a:t>이 가능한 역량들을 규명하고 개발하라</a:t>
            </a:r>
          </a:p>
          <a:p>
            <a:pPr lvl="1"/>
            <a:r>
              <a:rPr lang="ko-KR" altLang="en-US" sz="1600" dirty="0"/>
              <a:t>경력개발 활동에 있어서 가치나 라이프스타일 진단을 포함하라</a:t>
            </a:r>
          </a:p>
          <a:p>
            <a:pPr lvl="1"/>
            <a:r>
              <a:rPr lang="ko-KR" altLang="en-US" sz="1600" dirty="0"/>
              <a:t>다양한 학습스타일을 조절하고 다양한 사람들의 욕구를 충족하는 다양한 경력개발 활동을 실행하라</a:t>
            </a:r>
          </a:p>
          <a:p>
            <a:pPr lvl="1"/>
            <a:r>
              <a:rPr lang="ko-KR" altLang="en-US" sz="1600" dirty="0"/>
              <a:t>경력개발의 측정과 평가를 확대하라</a:t>
            </a:r>
          </a:p>
          <a:p>
            <a:pPr lvl="1"/>
            <a:r>
              <a:rPr lang="ko-KR" altLang="en-US" sz="1600" dirty="0"/>
              <a:t>글로벌 환경에서의 최상의 경력개발 제도를 연구하라</a:t>
            </a:r>
          </a:p>
        </p:txBody>
      </p:sp>
    </p:spTree>
    <p:extLst>
      <p:ext uri="{BB962C8B-B14F-4D97-AF65-F5344CB8AC3E}">
        <p14:creationId xmlns:p14="http://schemas.microsoft.com/office/powerpoint/2010/main" val="3922485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균형">
  <a:themeElements>
    <a:clrScheme name="균형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균형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균형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1274</TotalTime>
  <Words>1609</Words>
  <Application>Microsoft Office PowerPoint</Application>
  <PresentationFormat>화면 슬라이드 쇼(4:3)</PresentationFormat>
  <Paragraphs>296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2" baseType="lpstr">
      <vt:lpstr>견고딕</vt:lpstr>
      <vt:lpstr>경기천년제목V Bold</vt:lpstr>
      <vt:lpstr>굴림</vt:lpstr>
      <vt:lpstr>굴림체</vt:lpstr>
      <vt:lpstr>맑은 고딕</vt:lpstr>
      <vt:lpstr>Arial</vt:lpstr>
      <vt:lpstr>Franklin Gothic Book</vt:lpstr>
      <vt:lpstr>Perpetua</vt:lpstr>
      <vt:lpstr>Times New Roman</vt:lpstr>
      <vt:lpstr>Wingdings</vt:lpstr>
      <vt:lpstr>Wingdings 2</vt:lpstr>
      <vt:lpstr>균형</vt:lpstr>
      <vt:lpstr>교직원 능력개발, 경력개발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교직원 능력개발, 경력개발</dc:title>
  <dc:creator>kim</dc:creator>
  <cp:lastModifiedBy>애본 이</cp:lastModifiedBy>
  <cp:revision>20</cp:revision>
  <dcterms:created xsi:type="dcterms:W3CDTF">2012-10-19T03:46:13Z</dcterms:created>
  <dcterms:modified xsi:type="dcterms:W3CDTF">2023-08-07T15:23:42Z</dcterms:modified>
</cp:coreProperties>
</file>