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7" r:id="rId2"/>
    <p:sldId id="258" r:id="rId3"/>
    <p:sldId id="260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</p:sldIdLst>
  <p:sldSz cx="9144000" cy="6858000" type="screen4x3"/>
  <p:notesSz cx="6864350" cy="999648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굴림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굴림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굴림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굴림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굴림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672">
          <p15:clr>
            <a:srgbClr val="A4A3A4"/>
          </p15:clr>
        </p15:guide>
        <p15:guide id="3" orient="horz" pos="912">
          <p15:clr>
            <a:srgbClr val="A4A3A4"/>
          </p15:clr>
        </p15:guide>
        <p15:guide id="4" orient="horz" pos="4032">
          <p15:clr>
            <a:srgbClr val="A4A3A4"/>
          </p15:clr>
        </p15:guide>
        <p15:guide id="5" pos="2880">
          <p15:clr>
            <a:srgbClr val="A4A3A4"/>
          </p15:clr>
        </p15:guide>
        <p15:guide id="6" pos="336">
          <p15:clr>
            <a:srgbClr val="A4A3A4"/>
          </p15:clr>
        </p15:guide>
        <p15:guide id="7" pos="547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CC"/>
    <a:srgbClr val="66FFFF"/>
    <a:srgbClr val="00518E"/>
    <a:srgbClr val="190074"/>
    <a:srgbClr val="A50021"/>
    <a:srgbClr val="9966FF"/>
    <a:srgbClr val="6699FF"/>
    <a:srgbClr val="66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DA37D80-6434-44D0-A028-1B22A696006F}" styleName="밝은 스타일 3 - 강조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보통 스타일 1 - 강조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 autoAdjust="0"/>
    <p:restoredTop sz="94661" autoAdjust="0"/>
  </p:normalViewPr>
  <p:slideViewPr>
    <p:cSldViewPr>
      <p:cViewPr varScale="1">
        <p:scale>
          <a:sx n="104" d="100"/>
          <a:sy n="104" d="100"/>
        </p:scale>
        <p:origin x="1746" y="108"/>
      </p:cViewPr>
      <p:guideLst>
        <p:guide orient="horz" pos="2160"/>
        <p:guide orient="horz" pos="672"/>
        <p:guide orient="horz" pos="912"/>
        <p:guide orient="horz" pos="4032"/>
        <p:guide pos="2880"/>
        <p:guide pos="336"/>
        <p:guide pos="547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F4E3D1A-7C59-4CCD-AE12-88254348A9EF}" type="doc">
      <dgm:prSet loTypeId="urn:microsoft.com/office/officeart/2005/8/layout/vList4#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E8EE3906-B228-4D54-B89A-A14FE159F0FD}">
      <dgm:prSet phldrT="[텍스트]" custT="1"/>
      <dgm:spPr>
        <a:solidFill>
          <a:srgbClr val="0070C0"/>
        </a:solidFill>
        <a:effectLst>
          <a:outerShdw blurRad="63500" sx="102000" sy="102000" algn="ctr" rotWithShape="0">
            <a:prstClr val="black">
              <a:alpha val="40000"/>
            </a:prstClr>
          </a:outerShdw>
        </a:effectLst>
      </dgm:spPr>
      <dgm:t>
        <a:bodyPr/>
        <a:lstStyle/>
        <a:p>
          <a:pPr latinLnBrk="1"/>
          <a:r>
            <a:rPr lang="ko-KR" altLang="en-US" sz="16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적극적으로 훈련에 참여하는 훈련생과 학습성취도가 높은 훈련생에게 포상</a:t>
          </a:r>
          <a:r>
            <a:rPr lang="en-US" altLang="ko-KR" sz="16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, </a:t>
          </a:r>
          <a:r>
            <a:rPr lang="ko-KR" altLang="en-US" sz="16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단합이 잘되는 훈련과정에 대해 회식비 지원</a:t>
          </a:r>
        </a:p>
      </dgm:t>
    </dgm:pt>
    <dgm:pt modelId="{80281CFD-35F2-4F35-93FE-9945F277E9AA}" type="parTrans" cxnId="{CCA27CFC-EF50-49DD-8BA5-AEF8579096C8}">
      <dgm:prSet/>
      <dgm:spPr/>
      <dgm:t>
        <a:bodyPr/>
        <a:lstStyle/>
        <a:p>
          <a:pPr latinLnBrk="1"/>
          <a:endParaRPr lang="ko-KR" altLang="en-US"/>
        </a:p>
      </dgm:t>
    </dgm:pt>
    <dgm:pt modelId="{28076BA2-A117-43F0-9D5C-000958830C68}" type="sibTrans" cxnId="{CCA27CFC-EF50-49DD-8BA5-AEF8579096C8}">
      <dgm:prSet/>
      <dgm:spPr/>
      <dgm:t>
        <a:bodyPr/>
        <a:lstStyle/>
        <a:p>
          <a:pPr latinLnBrk="1"/>
          <a:endParaRPr lang="ko-KR" altLang="en-US"/>
        </a:p>
      </dgm:t>
    </dgm:pt>
    <dgm:pt modelId="{13715B9F-E876-4A19-A37F-A6F8BBE8DC73}">
      <dgm:prSet phldrT="[텍스트]" custT="1"/>
      <dgm:spPr>
        <a:solidFill>
          <a:srgbClr val="0070C0"/>
        </a:solidFill>
        <a:effectLst>
          <a:outerShdw blurRad="63500" sx="102000" sy="102000" algn="ctr" rotWithShape="0">
            <a:prstClr val="black">
              <a:alpha val="40000"/>
            </a:prstClr>
          </a:outerShdw>
        </a:effectLst>
      </dgm:spPr>
      <dgm:t>
        <a:bodyPr/>
        <a:lstStyle/>
        <a:p>
          <a:pPr latinLnBrk="1"/>
          <a:r>
            <a:rPr lang="ko-KR" alt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외부강사 특강</a:t>
          </a:r>
          <a:r>
            <a:rPr lang="en-US" altLang="ko-KR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, </a:t>
          </a:r>
          <a:r>
            <a:rPr lang="ko-KR" alt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산업체실무자 특강</a:t>
          </a:r>
          <a:r>
            <a:rPr lang="en-US" altLang="ko-KR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, </a:t>
          </a:r>
          <a:r>
            <a:rPr lang="ko-KR" alt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기업체 인사담당자 특강 등으로 학습만이 아닌 현실을 자각하게 하고 흥미를 유발하여 적극성을 갖도록 한다</a:t>
          </a:r>
          <a:r>
            <a:rPr lang="en-US" altLang="ko-KR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.</a:t>
          </a:r>
          <a:endParaRPr lang="ko-KR" altLang="en-US" sz="1600" dirty="0"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HY헤드라인M" pitchFamily="18" charset="-127"/>
            <a:ea typeface="HY헤드라인M" pitchFamily="18" charset="-127"/>
          </a:endParaRPr>
        </a:p>
      </dgm:t>
    </dgm:pt>
    <dgm:pt modelId="{4378AADF-311E-4911-81C4-0ED8EE6F4BFC}" type="parTrans" cxnId="{6355FCE2-293A-41C7-BFE9-0277F3FAA990}">
      <dgm:prSet/>
      <dgm:spPr/>
      <dgm:t>
        <a:bodyPr/>
        <a:lstStyle/>
        <a:p>
          <a:pPr latinLnBrk="1"/>
          <a:endParaRPr lang="ko-KR" altLang="en-US"/>
        </a:p>
      </dgm:t>
    </dgm:pt>
    <dgm:pt modelId="{9746D753-AFD8-4B58-9FBE-B13BED35CE58}" type="sibTrans" cxnId="{6355FCE2-293A-41C7-BFE9-0277F3FAA990}">
      <dgm:prSet/>
      <dgm:spPr/>
      <dgm:t>
        <a:bodyPr/>
        <a:lstStyle/>
        <a:p>
          <a:pPr latinLnBrk="1"/>
          <a:endParaRPr lang="ko-KR" altLang="en-US"/>
        </a:p>
      </dgm:t>
    </dgm:pt>
    <dgm:pt modelId="{4CA277E7-5ABD-43D4-A2F8-D7B8E22A3027}">
      <dgm:prSet phldrT="[텍스트]" custT="1"/>
      <dgm:spPr>
        <a:solidFill>
          <a:srgbClr val="0070C0"/>
        </a:solidFill>
        <a:effectLst>
          <a:outerShdw blurRad="63500" sx="102000" sy="102000" algn="ctr" rotWithShape="0">
            <a:prstClr val="black">
              <a:alpha val="40000"/>
            </a:prstClr>
          </a:outerShdw>
        </a:effectLst>
      </dgm:spPr>
      <dgm:t>
        <a:bodyPr/>
        <a:lstStyle/>
        <a:p>
          <a:pPr latinLnBrk="1"/>
          <a:r>
            <a:rPr lang="ko-KR" altLang="en-US" sz="1600" dirty="0" err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학습조</a:t>
          </a:r>
          <a:r>
            <a:rPr lang="ko-KR" alt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 활동</a:t>
          </a:r>
          <a:r>
            <a:rPr lang="en-US" altLang="ko-KR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, </a:t>
          </a:r>
          <a:r>
            <a:rPr lang="ko-KR" alt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특강</a:t>
          </a:r>
          <a:r>
            <a:rPr lang="en-US" altLang="ko-KR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, </a:t>
          </a:r>
          <a:r>
            <a:rPr lang="ko-KR" alt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성취프로그램 등을 통하여 취업에 대한 명확한 목적의식을 갖도록 다각도로 지원한다</a:t>
          </a:r>
          <a:r>
            <a:rPr lang="en-US" altLang="ko-KR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.</a:t>
          </a:r>
          <a:endParaRPr lang="ko-KR" altLang="en-US" sz="1600" dirty="0"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HY헤드라인M" pitchFamily="18" charset="-127"/>
            <a:ea typeface="HY헤드라인M" pitchFamily="18" charset="-127"/>
          </a:endParaRPr>
        </a:p>
      </dgm:t>
    </dgm:pt>
    <dgm:pt modelId="{A43AA702-D335-47C9-91BE-86EA29017CDF}" type="parTrans" cxnId="{3F2929F4-879A-418B-A260-322017671CF3}">
      <dgm:prSet/>
      <dgm:spPr/>
      <dgm:t>
        <a:bodyPr/>
        <a:lstStyle/>
        <a:p>
          <a:pPr latinLnBrk="1"/>
          <a:endParaRPr lang="ko-KR" altLang="en-US"/>
        </a:p>
      </dgm:t>
    </dgm:pt>
    <dgm:pt modelId="{8988D4FA-F108-423D-876B-C3278533DFB1}" type="sibTrans" cxnId="{3F2929F4-879A-418B-A260-322017671CF3}">
      <dgm:prSet/>
      <dgm:spPr/>
      <dgm:t>
        <a:bodyPr/>
        <a:lstStyle/>
        <a:p>
          <a:pPr latinLnBrk="1"/>
          <a:endParaRPr lang="ko-KR" altLang="en-US"/>
        </a:p>
      </dgm:t>
    </dgm:pt>
    <dgm:pt modelId="{48CD5FBB-1BA3-4EF5-A63F-DA1958DBB7BB}">
      <dgm:prSet custT="1"/>
      <dgm:spPr>
        <a:solidFill>
          <a:srgbClr val="0070C0"/>
        </a:solidFill>
        <a:effectLst>
          <a:outerShdw blurRad="63500" sx="102000" sy="102000" algn="ctr" rotWithShape="0">
            <a:prstClr val="black">
              <a:alpha val="40000"/>
            </a:prstClr>
          </a:outerShdw>
        </a:effectLst>
      </dgm:spPr>
      <dgm:t>
        <a:bodyPr/>
        <a:lstStyle/>
        <a:p>
          <a:pPr latinLnBrk="1"/>
          <a:r>
            <a:rPr lang="ko-KR" alt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학습활동만이 아닌 간접적인 방법으로 자연스럽게 훈련에 참여할 수 있도록 기회와 동기를 부여한다</a:t>
          </a:r>
          <a:r>
            <a:rPr lang="en-US" altLang="ko-KR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.</a:t>
          </a:r>
          <a:endParaRPr lang="ko-KR" altLang="en-US" sz="1600" dirty="0"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HY헤드라인M" pitchFamily="18" charset="-127"/>
            <a:ea typeface="HY헤드라인M" pitchFamily="18" charset="-127"/>
          </a:endParaRPr>
        </a:p>
      </dgm:t>
    </dgm:pt>
    <dgm:pt modelId="{412D81DF-3109-4394-94CB-94C68F39045D}" type="parTrans" cxnId="{FC009849-B966-45BC-8637-923C795C3F24}">
      <dgm:prSet/>
      <dgm:spPr/>
      <dgm:t>
        <a:bodyPr/>
        <a:lstStyle/>
        <a:p>
          <a:pPr latinLnBrk="1"/>
          <a:endParaRPr lang="ko-KR" altLang="en-US"/>
        </a:p>
      </dgm:t>
    </dgm:pt>
    <dgm:pt modelId="{50567C45-8AEA-4DF7-8552-5BA797F1E0C3}" type="sibTrans" cxnId="{FC009849-B966-45BC-8637-923C795C3F24}">
      <dgm:prSet/>
      <dgm:spPr/>
      <dgm:t>
        <a:bodyPr/>
        <a:lstStyle/>
        <a:p>
          <a:pPr latinLnBrk="1"/>
          <a:endParaRPr lang="ko-KR" altLang="en-US"/>
        </a:p>
      </dgm:t>
    </dgm:pt>
    <dgm:pt modelId="{5B229753-83C6-4958-A0C9-C145BCA4878E}" type="pres">
      <dgm:prSet presAssocID="{0F4E3D1A-7C59-4CCD-AE12-88254348A9EF}" presName="linear" presStyleCnt="0">
        <dgm:presLayoutVars>
          <dgm:dir/>
          <dgm:resizeHandles val="exact"/>
        </dgm:presLayoutVars>
      </dgm:prSet>
      <dgm:spPr/>
    </dgm:pt>
    <dgm:pt modelId="{2E600658-8871-4389-94C3-5A7807176E83}" type="pres">
      <dgm:prSet presAssocID="{E8EE3906-B228-4D54-B89A-A14FE159F0FD}" presName="comp" presStyleCnt="0"/>
      <dgm:spPr/>
    </dgm:pt>
    <dgm:pt modelId="{69CD1BA4-7ACE-4529-9F62-1ED6DC8E47CB}" type="pres">
      <dgm:prSet presAssocID="{E8EE3906-B228-4D54-B89A-A14FE159F0FD}" presName="box" presStyleLbl="node1" presStyleIdx="0" presStyleCnt="4"/>
      <dgm:spPr/>
    </dgm:pt>
    <dgm:pt modelId="{2D3D527F-E20E-4F3F-AED7-563E2A3AAE60}" type="pres">
      <dgm:prSet presAssocID="{E8EE3906-B228-4D54-B89A-A14FE159F0FD}" presName="img" presStyleLbl="fgImgPlace1" presStyleIdx="0" presStyleCnt="4"/>
      <dgm:spPr>
        <a:solidFill>
          <a:schemeClr val="bg1"/>
        </a:solidFill>
        <a:effectLst>
          <a:outerShdw blurRad="63500" sx="102000" sy="102000" algn="ctr" rotWithShape="0">
            <a:prstClr val="black">
              <a:alpha val="40000"/>
            </a:prstClr>
          </a:outerShdw>
        </a:effectLst>
      </dgm:spPr>
    </dgm:pt>
    <dgm:pt modelId="{1F17DE1E-7E4A-40CE-98F8-99BB36AF301F}" type="pres">
      <dgm:prSet presAssocID="{E8EE3906-B228-4D54-B89A-A14FE159F0FD}" presName="text" presStyleLbl="node1" presStyleIdx="0" presStyleCnt="4">
        <dgm:presLayoutVars>
          <dgm:bulletEnabled val="1"/>
        </dgm:presLayoutVars>
      </dgm:prSet>
      <dgm:spPr/>
    </dgm:pt>
    <dgm:pt modelId="{1D80DC60-93B4-4FF1-B570-24A6AD957F70}" type="pres">
      <dgm:prSet presAssocID="{28076BA2-A117-43F0-9D5C-000958830C68}" presName="spacer" presStyleCnt="0"/>
      <dgm:spPr/>
    </dgm:pt>
    <dgm:pt modelId="{07FE538A-2A36-4CF6-B1E6-0B25BA225F7F}" type="pres">
      <dgm:prSet presAssocID="{13715B9F-E876-4A19-A37F-A6F8BBE8DC73}" presName="comp" presStyleCnt="0"/>
      <dgm:spPr/>
    </dgm:pt>
    <dgm:pt modelId="{3CA466FA-9979-40CD-9A45-1BEAA3E16481}" type="pres">
      <dgm:prSet presAssocID="{13715B9F-E876-4A19-A37F-A6F8BBE8DC73}" presName="box" presStyleLbl="node1" presStyleIdx="1" presStyleCnt="4"/>
      <dgm:spPr/>
    </dgm:pt>
    <dgm:pt modelId="{CF425C11-3879-4144-A68C-4B1A1C5B5E03}" type="pres">
      <dgm:prSet presAssocID="{13715B9F-E876-4A19-A37F-A6F8BBE8DC73}" presName="img" presStyleLbl="fgImgPlace1" presStyleIdx="1" presStyleCnt="4"/>
      <dgm:spPr>
        <a:solidFill>
          <a:schemeClr val="bg1"/>
        </a:solidFill>
        <a:effectLst>
          <a:outerShdw blurRad="63500" sx="102000" sy="102000" algn="ctr" rotWithShape="0">
            <a:prstClr val="black">
              <a:alpha val="40000"/>
            </a:prstClr>
          </a:outerShdw>
        </a:effectLst>
      </dgm:spPr>
    </dgm:pt>
    <dgm:pt modelId="{3E8C8285-BFC3-4E67-A0BE-218D215B644B}" type="pres">
      <dgm:prSet presAssocID="{13715B9F-E876-4A19-A37F-A6F8BBE8DC73}" presName="text" presStyleLbl="node1" presStyleIdx="1" presStyleCnt="4">
        <dgm:presLayoutVars>
          <dgm:bulletEnabled val="1"/>
        </dgm:presLayoutVars>
      </dgm:prSet>
      <dgm:spPr/>
    </dgm:pt>
    <dgm:pt modelId="{6B0B3A20-9DDE-4D91-8A2F-2ADDD7C8D107}" type="pres">
      <dgm:prSet presAssocID="{9746D753-AFD8-4B58-9FBE-B13BED35CE58}" presName="spacer" presStyleCnt="0"/>
      <dgm:spPr/>
    </dgm:pt>
    <dgm:pt modelId="{6216D107-2C53-4A28-A87D-E8F5EC0B7868}" type="pres">
      <dgm:prSet presAssocID="{48CD5FBB-1BA3-4EF5-A63F-DA1958DBB7BB}" presName="comp" presStyleCnt="0"/>
      <dgm:spPr/>
    </dgm:pt>
    <dgm:pt modelId="{270A86E0-5734-43FB-A0C4-BC259DA5E0C7}" type="pres">
      <dgm:prSet presAssocID="{48CD5FBB-1BA3-4EF5-A63F-DA1958DBB7BB}" presName="box" presStyleLbl="node1" presStyleIdx="2" presStyleCnt="4"/>
      <dgm:spPr/>
    </dgm:pt>
    <dgm:pt modelId="{3B06FE61-6F55-4D72-BF0E-99D7EC990829}" type="pres">
      <dgm:prSet presAssocID="{48CD5FBB-1BA3-4EF5-A63F-DA1958DBB7BB}" presName="img" presStyleLbl="fgImgPlace1" presStyleIdx="2" presStyleCnt="4"/>
      <dgm:spPr>
        <a:solidFill>
          <a:schemeClr val="bg1"/>
        </a:solidFill>
        <a:effectLst>
          <a:outerShdw blurRad="63500" sx="102000" sy="102000" algn="ctr" rotWithShape="0">
            <a:prstClr val="black">
              <a:alpha val="40000"/>
            </a:prstClr>
          </a:outerShdw>
        </a:effectLst>
      </dgm:spPr>
    </dgm:pt>
    <dgm:pt modelId="{410D1C2D-6D70-443D-8F02-E34874F71550}" type="pres">
      <dgm:prSet presAssocID="{48CD5FBB-1BA3-4EF5-A63F-DA1958DBB7BB}" presName="text" presStyleLbl="node1" presStyleIdx="2" presStyleCnt="4">
        <dgm:presLayoutVars>
          <dgm:bulletEnabled val="1"/>
        </dgm:presLayoutVars>
      </dgm:prSet>
      <dgm:spPr/>
    </dgm:pt>
    <dgm:pt modelId="{3D12E67C-2A67-4CFD-9ECE-4A779E5EA161}" type="pres">
      <dgm:prSet presAssocID="{50567C45-8AEA-4DF7-8552-5BA797F1E0C3}" presName="spacer" presStyleCnt="0"/>
      <dgm:spPr/>
    </dgm:pt>
    <dgm:pt modelId="{40D0D3D1-7082-44A3-B796-8082A16F899B}" type="pres">
      <dgm:prSet presAssocID="{4CA277E7-5ABD-43D4-A2F8-D7B8E22A3027}" presName="comp" presStyleCnt="0"/>
      <dgm:spPr/>
    </dgm:pt>
    <dgm:pt modelId="{BF308EB8-F2FD-4CC3-ACD0-302AE1B1FD84}" type="pres">
      <dgm:prSet presAssocID="{4CA277E7-5ABD-43D4-A2F8-D7B8E22A3027}" presName="box" presStyleLbl="node1" presStyleIdx="3" presStyleCnt="4"/>
      <dgm:spPr/>
    </dgm:pt>
    <dgm:pt modelId="{FB5A88C7-CD74-4E32-90E4-ED06662CF464}" type="pres">
      <dgm:prSet presAssocID="{4CA277E7-5ABD-43D4-A2F8-D7B8E22A3027}" presName="img" presStyleLbl="fgImgPlace1" presStyleIdx="3" presStyleCnt="4"/>
      <dgm:spPr>
        <a:solidFill>
          <a:schemeClr val="bg1"/>
        </a:solidFill>
        <a:effectLst>
          <a:outerShdw blurRad="63500" sx="102000" sy="102000" algn="ctr" rotWithShape="0">
            <a:prstClr val="black">
              <a:alpha val="40000"/>
            </a:prstClr>
          </a:outerShdw>
        </a:effectLst>
      </dgm:spPr>
    </dgm:pt>
    <dgm:pt modelId="{72124368-1679-442F-9D28-134C50078B47}" type="pres">
      <dgm:prSet presAssocID="{4CA277E7-5ABD-43D4-A2F8-D7B8E22A3027}" presName="text" presStyleLbl="node1" presStyleIdx="3" presStyleCnt="4">
        <dgm:presLayoutVars>
          <dgm:bulletEnabled val="1"/>
        </dgm:presLayoutVars>
      </dgm:prSet>
      <dgm:spPr/>
    </dgm:pt>
  </dgm:ptLst>
  <dgm:cxnLst>
    <dgm:cxn modelId="{C2BB6B0F-49DA-4938-A420-D3DFC266264E}" type="presOf" srcId="{E8EE3906-B228-4D54-B89A-A14FE159F0FD}" destId="{69CD1BA4-7ACE-4529-9F62-1ED6DC8E47CB}" srcOrd="0" destOrd="0" presId="urn:microsoft.com/office/officeart/2005/8/layout/vList4#1"/>
    <dgm:cxn modelId="{69F3105C-518D-40D6-BC55-75125BE37E9A}" type="presOf" srcId="{0F4E3D1A-7C59-4CCD-AE12-88254348A9EF}" destId="{5B229753-83C6-4958-A0C9-C145BCA4878E}" srcOrd="0" destOrd="0" presId="urn:microsoft.com/office/officeart/2005/8/layout/vList4#1"/>
    <dgm:cxn modelId="{D84FD841-24FC-42A7-BA52-53767415CD1C}" type="presOf" srcId="{4CA277E7-5ABD-43D4-A2F8-D7B8E22A3027}" destId="{72124368-1679-442F-9D28-134C50078B47}" srcOrd="1" destOrd="0" presId="urn:microsoft.com/office/officeart/2005/8/layout/vList4#1"/>
    <dgm:cxn modelId="{3985DC62-7678-4EA7-BF10-41A95DEBC8B3}" type="presOf" srcId="{4CA277E7-5ABD-43D4-A2F8-D7B8E22A3027}" destId="{BF308EB8-F2FD-4CC3-ACD0-302AE1B1FD84}" srcOrd="0" destOrd="0" presId="urn:microsoft.com/office/officeart/2005/8/layout/vList4#1"/>
    <dgm:cxn modelId="{F4CDF948-FD94-43F9-81BC-D3BD1F057C20}" type="presOf" srcId="{E8EE3906-B228-4D54-B89A-A14FE159F0FD}" destId="{1F17DE1E-7E4A-40CE-98F8-99BB36AF301F}" srcOrd="1" destOrd="0" presId="urn:microsoft.com/office/officeart/2005/8/layout/vList4#1"/>
    <dgm:cxn modelId="{FC009849-B966-45BC-8637-923C795C3F24}" srcId="{0F4E3D1A-7C59-4CCD-AE12-88254348A9EF}" destId="{48CD5FBB-1BA3-4EF5-A63F-DA1958DBB7BB}" srcOrd="2" destOrd="0" parTransId="{412D81DF-3109-4394-94CB-94C68F39045D}" sibTransId="{50567C45-8AEA-4DF7-8552-5BA797F1E0C3}"/>
    <dgm:cxn modelId="{9D779176-2C2E-47C7-A84E-7E8A774440D4}" type="presOf" srcId="{13715B9F-E876-4A19-A37F-A6F8BBE8DC73}" destId="{3E8C8285-BFC3-4E67-A0BE-218D215B644B}" srcOrd="1" destOrd="0" presId="urn:microsoft.com/office/officeart/2005/8/layout/vList4#1"/>
    <dgm:cxn modelId="{C8C11085-2819-48DE-B0B7-C3FEE877BC81}" type="presOf" srcId="{48CD5FBB-1BA3-4EF5-A63F-DA1958DBB7BB}" destId="{410D1C2D-6D70-443D-8F02-E34874F71550}" srcOrd="1" destOrd="0" presId="urn:microsoft.com/office/officeart/2005/8/layout/vList4#1"/>
    <dgm:cxn modelId="{0939EF9A-BB3E-4F37-B25A-DFD42F04BE74}" type="presOf" srcId="{13715B9F-E876-4A19-A37F-A6F8BBE8DC73}" destId="{3CA466FA-9979-40CD-9A45-1BEAA3E16481}" srcOrd="0" destOrd="0" presId="urn:microsoft.com/office/officeart/2005/8/layout/vList4#1"/>
    <dgm:cxn modelId="{19A547A1-3E6E-4D90-96D9-418D6099A66A}" type="presOf" srcId="{48CD5FBB-1BA3-4EF5-A63F-DA1958DBB7BB}" destId="{270A86E0-5734-43FB-A0C4-BC259DA5E0C7}" srcOrd="0" destOrd="0" presId="urn:microsoft.com/office/officeart/2005/8/layout/vList4#1"/>
    <dgm:cxn modelId="{6355FCE2-293A-41C7-BFE9-0277F3FAA990}" srcId="{0F4E3D1A-7C59-4CCD-AE12-88254348A9EF}" destId="{13715B9F-E876-4A19-A37F-A6F8BBE8DC73}" srcOrd="1" destOrd="0" parTransId="{4378AADF-311E-4911-81C4-0ED8EE6F4BFC}" sibTransId="{9746D753-AFD8-4B58-9FBE-B13BED35CE58}"/>
    <dgm:cxn modelId="{3F2929F4-879A-418B-A260-322017671CF3}" srcId="{0F4E3D1A-7C59-4CCD-AE12-88254348A9EF}" destId="{4CA277E7-5ABD-43D4-A2F8-D7B8E22A3027}" srcOrd="3" destOrd="0" parTransId="{A43AA702-D335-47C9-91BE-86EA29017CDF}" sibTransId="{8988D4FA-F108-423D-876B-C3278533DFB1}"/>
    <dgm:cxn modelId="{CCA27CFC-EF50-49DD-8BA5-AEF8579096C8}" srcId="{0F4E3D1A-7C59-4CCD-AE12-88254348A9EF}" destId="{E8EE3906-B228-4D54-B89A-A14FE159F0FD}" srcOrd="0" destOrd="0" parTransId="{80281CFD-35F2-4F35-93FE-9945F277E9AA}" sibTransId="{28076BA2-A117-43F0-9D5C-000958830C68}"/>
    <dgm:cxn modelId="{6EE018B4-13B1-44BC-8400-5190D4685128}" type="presParOf" srcId="{5B229753-83C6-4958-A0C9-C145BCA4878E}" destId="{2E600658-8871-4389-94C3-5A7807176E83}" srcOrd="0" destOrd="0" presId="urn:microsoft.com/office/officeart/2005/8/layout/vList4#1"/>
    <dgm:cxn modelId="{FE658223-0D16-4670-8413-A0967E87B246}" type="presParOf" srcId="{2E600658-8871-4389-94C3-5A7807176E83}" destId="{69CD1BA4-7ACE-4529-9F62-1ED6DC8E47CB}" srcOrd="0" destOrd="0" presId="urn:microsoft.com/office/officeart/2005/8/layout/vList4#1"/>
    <dgm:cxn modelId="{C50FDE87-E904-4B7C-BD79-01A02CF1AD67}" type="presParOf" srcId="{2E600658-8871-4389-94C3-5A7807176E83}" destId="{2D3D527F-E20E-4F3F-AED7-563E2A3AAE60}" srcOrd="1" destOrd="0" presId="urn:microsoft.com/office/officeart/2005/8/layout/vList4#1"/>
    <dgm:cxn modelId="{A42F06E3-8D8D-455D-9125-7275975F7DD7}" type="presParOf" srcId="{2E600658-8871-4389-94C3-5A7807176E83}" destId="{1F17DE1E-7E4A-40CE-98F8-99BB36AF301F}" srcOrd="2" destOrd="0" presId="urn:microsoft.com/office/officeart/2005/8/layout/vList4#1"/>
    <dgm:cxn modelId="{F915C4DA-4D0D-4C9D-BEFF-7AFC91FB1255}" type="presParOf" srcId="{5B229753-83C6-4958-A0C9-C145BCA4878E}" destId="{1D80DC60-93B4-4FF1-B570-24A6AD957F70}" srcOrd="1" destOrd="0" presId="urn:microsoft.com/office/officeart/2005/8/layout/vList4#1"/>
    <dgm:cxn modelId="{F2CFA9C7-D358-49AA-B44E-FFDC9FE9B805}" type="presParOf" srcId="{5B229753-83C6-4958-A0C9-C145BCA4878E}" destId="{07FE538A-2A36-4CF6-B1E6-0B25BA225F7F}" srcOrd="2" destOrd="0" presId="urn:microsoft.com/office/officeart/2005/8/layout/vList4#1"/>
    <dgm:cxn modelId="{95E57C65-2ECC-4E93-B8FC-AD32E54D1C56}" type="presParOf" srcId="{07FE538A-2A36-4CF6-B1E6-0B25BA225F7F}" destId="{3CA466FA-9979-40CD-9A45-1BEAA3E16481}" srcOrd="0" destOrd="0" presId="urn:microsoft.com/office/officeart/2005/8/layout/vList4#1"/>
    <dgm:cxn modelId="{195BA8F1-2DD8-4D1F-9592-D8ECC0317B83}" type="presParOf" srcId="{07FE538A-2A36-4CF6-B1E6-0B25BA225F7F}" destId="{CF425C11-3879-4144-A68C-4B1A1C5B5E03}" srcOrd="1" destOrd="0" presId="urn:microsoft.com/office/officeart/2005/8/layout/vList4#1"/>
    <dgm:cxn modelId="{A040AFAA-334E-4D34-A126-7BA05EA4AC65}" type="presParOf" srcId="{07FE538A-2A36-4CF6-B1E6-0B25BA225F7F}" destId="{3E8C8285-BFC3-4E67-A0BE-218D215B644B}" srcOrd="2" destOrd="0" presId="urn:microsoft.com/office/officeart/2005/8/layout/vList4#1"/>
    <dgm:cxn modelId="{9C9F25B3-B0F6-4720-A5C7-269E71916E22}" type="presParOf" srcId="{5B229753-83C6-4958-A0C9-C145BCA4878E}" destId="{6B0B3A20-9DDE-4D91-8A2F-2ADDD7C8D107}" srcOrd="3" destOrd="0" presId="urn:microsoft.com/office/officeart/2005/8/layout/vList4#1"/>
    <dgm:cxn modelId="{6508956E-7D57-444E-8632-3700CD4239F8}" type="presParOf" srcId="{5B229753-83C6-4958-A0C9-C145BCA4878E}" destId="{6216D107-2C53-4A28-A87D-E8F5EC0B7868}" srcOrd="4" destOrd="0" presId="urn:microsoft.com/office/officeart/2005/8/layout/vList4#1"/>
    <dgm:cxn modelId="{AA3AF6D1-7BF3-40DB-9AED-9813678D14C1}" type="presParOf" srcId="{6216D107-2C53-4A28-A87D-E8F5EC0B7868}" destId="{270A86E0-5734-43FB-A0C4-BC259DA5E0C7}" srcOrd="0" destOrd="0" presId="urn:microsoft.com/office/officeart/2005/8/layout/vList4#1"/>
    <dgm:cxn modelId="{F51F2B49-A046-4C8E-81AD-0ADCA6471CD3}" type="presParOf" srcId="{6216D107-2C53-4A28-A87D-E8F5EC0B7868}" destId="{3B06FE61-6F55-4D72-BF0E-99D7EC990829}" srcOrd="1" destOrd="0" presId="urn:microsoft.com/office/officeart/2005/8/layout/vList4#1"/>
    <dgm:cxn modelId="{00652C69-9692-45E5-828B-258426EEA789}" type="presParOf" srcId="{6216D107-2C53-4A28-A87D-E8F5EC0B7868}" destId="{410D1C2D-6D70-443D-8F02-E34874F71550}" srcOrd="2" destOrd="0" presId="urn:microsoft.com/office/officeart/2005/8/layout/vList4#1"/>
    <dgm:cxn modelId="{F5665816-539C-410D-A8AC-B3FDF031963D}" type="presParOf" srcId="{5B229753-83C6-4958-A0C9-C145BCA4878E}" destId="{3D12E67C-2A67-4CFD-9ECE-4A779E5EA161}" srcOrd="5" destOrd="0" presId="urn:microsoft.com/office/officeart/2005/8/layout/vList4#1"/>
    <dgm:cxn modelId="{7F01D313-229C-40FB-8D87-BC1580220C01}" type="presParOf" srcId="{5B229753-83C6-4958-A0C9-C145BCA4878E}" destId="{40D0D3D1-7082-44A3-B796-8082A16F899B}" srcOrd="6" destOrd="0" presId="urn:microsoft.com/office/officeart/2005/8/layout/vList4#1"/>
    <dgm:cxn modelId="{9251BBD1-FA61-4F97-ABA0-B8467557F0D6}" type="presParOf" srcId="{40D0D3D1-7082-44A3-B796-8082A16F899B}" destId="{BF308EB8-F2FD-4CC3-ACD0-302AE1B1FD84}" srcOrd="0" destOrd="0" presId="urn:microsoft.com/office/officeart/2005/8/layout/vList4#1"/>
    <dgm:cxn modelId="{9F5097D3-36A7-4872-BA0C-39763AEE110D}" type="presParOf" srcId="{40D0D3D1-7082-44A3-B796-8082A16F899B}" destId="{FB5A88C7-CD74-4E32-90E4-ED06662CF464}" srcOrd="1" destOrd="0" presId="urn:microsoft.com/office/officeart/2005/8/layout/vList4#1"/>
    <dgm:cxn modelId="{A406CE07-D929-44C7-995D-94301D3CD3FD}" type="presParOf" srcId="{40D0D3D1-7082-44A3-B796-8082A16F899B}" destId="{72124368-1679-442F-9D28-134C50078B47}" srcOrd="2" destOrd="0" presId="urn:microsoft.com/office/officeart/2005/8/layout/vList4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CD1BA4-7ACE-4529-9F62-1ED6DC8E47CB}">
      <dsp:nvSpPr>
        <dsp:cNvPr id="0" name=""/>
        <dsp:cNvSpPr/>
      </dsp:nvSpPr>
      <dsp:spPr>
        <a:xfrm>
          <a:off x="0" y="0"/>
          <a:ext cx="7696200" cy="1204317"/>
        </a:xfrm>
        <a:prstGeom prst="roundRect">
          <a:avLst>
            <a:gd name="adj" fmla="val 10000"/>
          </a:avLst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63500" sx="102000" sy="102000" algn="ctr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600" b="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적극적으로 훈련에 참여하는 훈련생과 학습성취도가 높은 훈련생에게 포상</a:t>
          </a:r>
          <a:r>
            <a:rPr lang="en-US" altLang="ko-KR" sz="1600" b="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, </a:t>
          </a:r>
          <a:r>
            <a:rPr lang="ko-KR" altLang="en-US" sz="1600" b="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단합이 잘되는 훈련과정에 대해 회식비 지원</a:t>
          </a:r>
        </a:p>
      </dsp:txBody>
      <dsp:txXfrm>
        <a:off x="1659671" y="0"/>
        <a:ext cx="6036528" cy="1204317"/>
      </dsp:txXfrm>
    </dsp:sp>
    <dsp:sp modelId="{2D3D527F-E20E-4F3F-AED7-563E2A3AAE60}">
      <dsp:nvSpPr>
        <dsp:cNvPr id="0" name=""/>
        <dsp:cNvSpPr/>
      </dsp:nvSpPr>
      <dsp:spPr>
        <a:xfrm>
          <a:off x="120431" y="120431"/>
          <a:ext cx="1539240" cy="963453"/>
        </a:xfrm>
        <a:prstGeom prst="roundRect">
          <a:avLst>
            <a:gd name="adj" fmla="val 10000"/>
          </a:avLst>
        </a:prstGeom>
        <a:solidFill>
          <a:schemeClr val="bg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63500" sx="102000" sy="102000" algn="ctr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A466FA-9979-40CD-9A45-1BEAA3E16481}">
      <dsp:nvSpPr>
        <dsp:cNvPr id="0" name=""/>
        <dsp:cNvSpPr/>
      </dsp:nvSpPr>
      <dsp:spPr>
        <a:xfrm>
          <a:off x="0" y="1324748"/>
          <a:ext cx="7696200" cy="1204317"/>
        </a:xfrm>
        <a:prstGeom prst="roundRect">
          <a:avLst>
            <a:gd name="adj" fmla="val 10000"/>
          </a:avLst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63500" sx="102000" sy="102000" algn="ctr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600" kern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외부강사 특강</a:t>
          </a:r>
          <a:r>
            <a:rPr lang="en-US" altLang="ko-KR" sz="1600" kern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, </a:t>
          </a:r>
          <a:r>
            <a:rPr lang="ko-KR" altLang="en-US" sz="1600" kern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산업체실무자 특강</a:t>
          </a:r>
          <a:r>
            <a:rPr lang="en-US" altLang="ko-KR" sz="1600" kern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, </a:t>
          </a:r>
          <a:r>
            <a:rPr lang="ko-KR" altLang="en-US" sz="1600" kern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기업체 인사담당자 특강 등으로 학습만이 아닌 현실을 자각하게 하고 흥미를 유발하여 적극성을 갖도록 한다</a:t>
          </a:r>
          <a:r>
            <a:rPr lang="en-US" altLang="ko-KR" sz="1600" kern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.</a:t>
          </a:r>
          <a:endParaRPr lang="ko-KR" altLang="en-US" sz="1600" kern="1200" dirty="0"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HY헤드라인M" pitchFamily="18" charset="-127"/>
            <a:ea typeface="HY헤드라인M" pitchFamily="18" charset="-127"/>
          </a:endParaRPr>
        </a:p>
      </dsp:txBody>
      <dsp:txXfrm>
        <a:off x="1659671" y="1324748"/>
        <a:ext cx="6036528" cy="1204317"/>
      </dsp:txXfrm>
    </dsp:sp>
    <dsp:sp modelId="{CF425C11-3879-4144-A68C-4B1A1C5B5E03}">
      <dsp:nvSpPr>
        <dsp:cNvPr id="0" name=""/>
        <dsp:cNvSpPr/>
      </dsp:nvSpPr>
      <dsp:spPr>
        <a:xfrm>
          <a:off x="120431" y="1445180"/>
          <a:ext cx="1539240" cy="963453"/>
        </a:xfrm>
        <a:prstGeom prst="roundRect">
          <a:avLst>
            <a:gd name="adj" fmla="val 10000"/>
          </a:avLst>
        </a:prstGeom>
        <a:solidFill>
          <a:schemeClr val="bg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63500" sx="102000" sy="102000" algn="ctr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0A86E0-5734-43FB-A0C4-BC259DA5E0C7}">
      <dsp:nvSpPr>
        <dsp:cNvPr id="0" name=""/>
        <dsp:cNvSpPr/>
      </dsp:nvSpPr>
      <dsp:spPr>
        <a:xfrm>
          <a:off x="0" y="2649497"/>
          <a:ext cx="7696200" cy="1204317"/>
        </a:xfrm>
        <a:prstGeom prst="roundRect">
          <a:avLst>
            <a:gd name="adj" fmla="val 10000"/>
          </a:avLst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63500" sx="102000" sy="102000" algn="ctr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600" kern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학습활동만이 아닌 간접적인 방법으로 자연스럽게 훈련에 참여할 수 있도록 기회와 동기를 부여한다</a:t>
          </a:r>
          <a:r>
            <a:rPr lang="en-US" altLang="ko-KR" sz="1600" kern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.</a:t>
          </a:r>
          <a:endParaRPr lang="ko-KR" altLang="en-US" sz="1600" kern="1200" dirty="0"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HY헤드라인M" pitchFamily="18" charset="-127"/>
            <a:ea typeface="HY헤드라인M" pitchFamily="18" charset="-127"/>
          </a:endParaRPr>
        </a:p>
      </dsp:txBody>
      <dsp:txXfrm>
        <a:off x="1659671" y="2649497"/>
        <a:ext cx="6036528" cy="1204317"/>
      </dsp:txXfrm>
    </dsp:sp>
    <dsp:sp modelId="{3B06FE61-6F55-4D72-BF0E-99D7EC990829}">
      <dsp:nvSpPr>
        <dsp:cNvPr id="0" name=""/>
        <dsp:cNvSpPr/>
      </dsp:nvSpPr>
      <dsp:spPr>
        <a:xfrm>
          <a:off x="120431" y="2769929"/>
          <a:ext cx="1539240" cy="963453"/>
        </a:xfrm>
        <a:prstGeom prst="roundRect">
          <a:avLst>
            <a:gd name="adj" fmla="val 10000"/>
          </a:avLst>
        </a:prstGeom>
        <a:solidFill>
          <a:schemeClr val="bg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63500" sx="102000" sy="102000" algn="ctr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308EB8-F2FD-4CC3-ACD0-302AE1B1FD84}">
      <dsp:nvSpPr>
        <dsp:cNvPr id="0" name=""/>
        <dsp:cNvSpPr/>
      </dsp:nvSpPr>
      <dsp:spPr>
        <a:xfrm>
          <a:off x="0" y="3974246"/>
          <a:ext cx="7696200" cy="1204317"/>
        </a:xfrm>
        <a:prstGeom prst="roundRect">
          <a:avLst>
            <a:gd name="adj" fmla="val 10000"/>
          </a:avLst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63500" sx="102000" sy="102000" algn="ctr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600" kern="1200" dirty="0" err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학습조</a:t>
          </a:r>
          <a:r>
            <a:rPr lang="ko-KR" altLang="en-US" sz="1600" kern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 활동</a:t>
          </a:r>
          <a:r>
            <a:rPr lang="en-US" altLang="ko-KR" sz="1600" kern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, </a:t>
          </a:r>
          <a:r>
            <a:rPr lang="ko-KR" altLang="en-US" sz="1600" kern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특강</a:t>
          </a:r>
          <a:r>
            <a:rPr lang="en-US" altLang="ko-KR" sz="1600" kern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, </a:t>
          </a:r>
          <a:r>
            <a:rPr lang="ko-KR" altLang="en-US" sz="1600" kern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성취프로그램 등을 통하여 취업에 대한 명확한 목적의식을 갖도록 다각도로 지원한다</a:t>
          </a:r>
          <a:r>
            <a:rPr lang="en-US" altLang="ko-KR" sz="1600" kern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.</a:t>
          </a:r>
          <a:endParaRPr lang="ko-KR" altLang="en-US" sz="1600" kern="1200" dirty="0"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HY헤드라인M" pitchFamily="18" charset="-127"/>
            <a:ea typeface="HY헤드라인M" pitchFamily="18" charset="-127"/>
          </a:endParaRPr>
        </a:p>
      </dsp:txBody>
      <dsp:txXfrm>
        <a:off x="1659671" y="3974246"/>
        <a:ext cx="6036528" cy="1204317"/>
      </dsp:txXfrm>
    </dsp:sp>
    <dsp:sp modelId="{FB5A88C7-CD74-4E32-90E4-ED06662CF464}">
      <dsp:nvSpPr>
        <dsp:cNvPr id="0" name=""/>
        <dsp:cNvSpPr/>
      </dsp:nvSpPr>
      <dsp:spPr>
        <a:xfrm>
          <a:off x="120431" y="4094678"/>
          <a:ext cx="1539240" cy="963453"/>
        </a:xfrm>
        <a:prstGeom prst="roundRect">
          <a:avLst>
            <a:gd name="adj" fmla="val 10000"/>
          </a:avLst>
        </a:prstGeom>
        <a:solidFill>
          <a:schemeClr val="bg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63500" sx="102000" sy="102000" algn="ctr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4#1">
  <dgm:title val=""/>
  <dgm:desc val=""/>
  <dgm:catLst>
    <dgm:cat type="list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74961" cy="500833"/>
          </a:xfrm>
          <a:prstGeom prst="rect">
            <a:avLst/>
          </a:prstGeom>
        </p:spPr>
        <p:txBody>
          <a:bodyPr vert="horz" lIns="96332" tIns="48167" rIns="96332" bIns="48167" rtlCol="0"/>
          <a:lstStyle>
            <a:lvl1pPr algn="l">
              <a:defRPr sz="13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7856" y="0"/>
            <a:ext cx="2974961" cy="500833"/>
          </a:xfrm>
          <a:prstGeom prst="rect">
            <a:avLst/>
          </a:prstGeom>
        </p:spPr>
        <p:txBody>
          <a:bodyPr vert="horz" lIns="96332" tIns="48167" rIns="96332" bIns="48167" rtlCol="0"/>
          <a:lstStyle>
            <a:lvl1pPr algn="r">
              <a:defRPr sz="13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9EB09AD5-5344-45A3-B20D-C47D4582ED3E}" type="datetimeFigureOut">
              <a:rPr lang="ko-KR" altLang="en-US"/>
              <a:pPr>
                <a:defRPr/>
              </a:pPr>
              <a:t>2023-08-07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494105"/>
            <a:ext cx="2974961" cy="500832"/>
          </a:xfrm>
          <a:prstGeom prst="rect">
            <a:avLst/>
          </a:prstGeom>
        </p:spPr>
        <p:txBody>
          <a:bodyPr vert="horz" lIns="96332" tIns="48167" rIns="96332" bIns="48167" rtlCol="0" anchor="b"/>
          <a:lstStyle>
            <a:lvl1pPr algn="l">
              <a:defRPr sz="13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7856" y="9494105"/>
            <a:ext cx="2974961" cy="500832"/>
          </a:xfrm>
          <a:prstGeom prst="rect">
            <a:avLst/>
          </a:prstGeom>
        </p:spPr>
        <p:txBody>
          <a:bodyPr vert="horz" lIns="96332" tIns="48167" rIns="96332" bIns="48167" rtlCol="0" anchor="b"/>
          <a:lstStyle>
            <a:lvl1pPr algn="r">
              <a:defRPr sz="13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AD873F1F-3EE4-4DAC-B054-E6A1D709FCE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55727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74961" cy="500833"/>
          </a:xfrm>
          <a:prstGeom prst="rect">
            <a:avLst/>
          </a:prstGeom>
        </p:spPr>
        <p:txBody>
          <a:bodyPr vert="horz" lIns="96332" tIns="48167" rIns="96332" bIns="48167" rtlCol="0"/>
          <a:lstStyle>
            <a:lvl1pPr algn="l">
              <a:defRPr sz="13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7856" y="0"/>
            <a:ext cx="2974961" cy="500833"/>
          </a:xfrm>
          <a:prstGeom prst="rect">
            <a:avLst/>
          </a:prstGeom>
        </p:spPr>
        <p:txBody>
          <a:bodyPr vert="horz" lIns="96332" tIns="48167" rIns="96332" bIns="48167" rtlCol="0"/>
          <a:lstStyle>
            <a:lvl1pPr algn="r">
              <a:defRPr sz="13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901E5CCD-0193-4CC9-B8B8-9DCDF764B89B}" type="datetimeFigureOut">
              <a:rPr lang="ko-KR" altLang="en-US"/>
              <a:pPr>
                <a:defRPr/>
              </a:pPr>
              <a:t>2023-08-07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33450" y="750888"/>
            <a:ext cx="4997450" cy="37480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332" tIns="48167" rIns="96332" bIns="48167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22" y="4747828"/>
            <a:ext cx="5492707" cy="4498187"/>
          </a:xfrm>
          <a:prstGeom prst="rect">
            <a:avLst/>
          </a:prstGeom>
        </p:spPr>
        <p:txBody>
          <a:bodyPr vert="horz" lIns="96332" tIns="48167" rIns="96332" bIns="48167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94105"/>
            <a:ext cx="2974961" cy="500832"/>
          </a:xfrm>
          <a:prstGeom prst="rect">
            <a:avLst/>
          </a:prstGeom>
        </p:spPr>
        <p:txBody>
          <a:bodyPr vert="horz" lIns="96332" tIns="48167" rIns="96332" bIns="48167" rtlCol="0" anchor="b"/>
          <a:lstStyle>
            <a:lvl1pPr algn="l">
              <a:defRPr sz="13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7856" y="9494105"/>
            <a:ext cx="2974961" cy="500832"/>
          </a:xfrm>
          <a:prstGeom prst="rect">
            <a:avLst/>
          </a:prstGeom>
        </p:spPr>
        <p:txBody>
          <a:bodyPr vert="horz" lIns="96332" tIns="48167" rIns="96332" bIns="48167" rtlCol="0" anchor="b"/>
          <a:lstStyle>
            <a:lvl1pPr algn="r">
              <a:defRPr sz="13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D66CA663-939A-4349-9469-6CA9387ECC65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652916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66CA663-939A-4349-9469-6CA9387ECC65}" type="slidenum">
              <a:rPr lang="ko-KR" altLang="en-US" smtClean="0"/>
              <a:pPr>
                <a:defRPr/>
              </a:pPr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7493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66CA663-939A-4349-9469-6CA9387ECC65}" type="slidenum">
              <a:rPr lang="ko-KR" altLang="en-US" smtClean="0"/>
              <a:pPr>
                <a:defRPr/>
              </a:pPr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47060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0"/>
          <p:cNvGrpSpPr>
            <a:grpSpLocks/>
          </p:cNvGrpSpPr>
          <p:nvPr userDrawn="1"/>
        </p:nvGrpSpPr>
        <p:grpSpPr bwMode="auto">
          <a:xfrm>
            <a:off x="0" y="0"/>
            <a:ext cx="9144000" cy="6381750"/>
            <a:chOff x="0" y="-1"/>
            <a:chExt cx="9144000" cy="6381751"/>
          </a:xfrm>
        </p:grpSpPr>
        <p:sp>
          <p:nvSpPr>
            <p:cNvPr id="3" name="Rectangle 29"/>
            <p:cNvSpPr>
              <a:spLocks noChangeArrowheads="1"/>
            </p:cNvSpPr>
            <p:nvPr userDrawn="1"/>
          </p:nvSpPr>
          <p:spPr bwMode="ltGray">
            <a:xfrm>
              <a:off x="0" y="3648075"/>
              <a:ext cx="9144000" cy="390525"/>
            </a:xfrm>
            <a:prstGeom prst="rect">
              <a:avLst/>
            </a:prstGeom>
            <a:gradFill rotWithShape="1">
              <a:gsLst>
                <a:gs pos="0">
                  <a:schemeClr val="bg2">
                    <a:gamma/>
                    <a:shade val="87843"/>
                    <a:invGamma/>
                    <a:alpha val="60001"/>
                  </a:schemeClr>
                </a:gs>
                <a:gs pos="100000">
                  <a:schemeClr val="bg2">
                    <a:alpha val="0"/>
                  </a:schemeClr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000">
                <a:solidFill>
                  <a:srgbClr val="000000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4" name="Rectangle 7"/>
            <p:cNvSpPr>
              <a:spLocks noChangeArrowheads="1"/>
            </p:cNvSpPr>
            <p:nvPr userDrawn="1"/>
          </p:nvSpPr>
          <p:spPr bwMode="ltGray">
            <a:xfrm flipV="1">
              <a:off x="0" y="-1"/>
              <a:ext cx="9144000" cy="3652839"/>
            </a:xfrm>
            <a:prstGeom prst="rect">
              <a:avLst/>
            </a:prstGeom>
            <a:gradFill rotWithShape="1">
              <a:gsLst>
                <a:gs pos="0">
                  <a:srgbClr val="182F47"/>
                </a:gs>
                <a:gs pos="100000">
                  <a:srgbClr val="336699"/>
                </a:gs>
              </a:gsLst>
              <a:lin ang="5400000" scaled="1"/>
            </a:gradFill>
            <a:ln>
              <a:noFill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ko-KR" sz="1000">
                <a:solidFill>
                  <a:srgbClr val="000000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pic>
          <p:nvPicPr>
            <p:cNvPr id="5" name="Picture 24" descr="sub02-copy_02"/>
            <p:cNvPicPr>
              <a:picLocks noChangeArrowheads="1"/>
            </p:cNvPicPr>
            <p:nvPr userDrawn="1"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0" y="1003300"/>
              <a:ext cx="9144000" cy="19685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6" name="Group 410"/>
            <p:cNvGrpSpPr>
              <a:grpSpLocks/>
            </p:cNvGrpSpPr>
            <p:nvPr userDrawn="1"/>
          </p:nvGrpSpPr>
          <p:grpSpPr bwMode="auto">
            <a:xfrm>
              <a:off x="277019" y="2971800"/>
              <a:ext cx="719137" cy="720725"/>
              <a:chOff x="4992" y="816"/>
              <a:chExt cx="576" cy="576"/>
            </a:xfrm>
          </p:grpSpPr>
          <p:sp>
            <p:nvSpPr>
              <p:cNvPr id="18" name="Oval 411"/>
              <p:cNvSpPr>
                <a:spLocks noChangeArrowheads="1"/>
              </p:cNvSpPr>
              <p:nvPr/>
            </p:nvSpPr>
            <p:spPr bwMode="gray">
              <a:xfrm>
                <a:off x="4995" y="816"/>
                <a:ext cx="570" cy="576"/>
              </a:xfrm>
              <a:prstGeom prst="ellipse">
                <a:avLst/>
              </a:prstGeom>
              <a:solidFill>
                <a:schemeClr val="accent1">
                  <a:alpha val="52940"/>
                </a:schemeClr>
              </a:solidFill>
              <a:ln>
                <a:noFill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ko-KR" altLang="ko-KR" sz="1000">
                  <a:solidFill>
                    <a:srgbClr val="000000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19" name="Oval 412"/>
              <p:cNvSpPr>
                <a:spLocks noChangeArrowheads="1"/>
              </p:cNvSpPr>
              <p:nvPr/>
            </p:nvSpPr>
            <p:spPr bwMode="gray">
              <a:xfrm>
                <a:off x="4995" y="912"/>
                <a:ext cx="477" cy="383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34902"/>
                      <a:invGamma/>
                      <a:alpha val="0"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ko-KR" altLang="en-US" sz="1000">
                  <a:solidFill>
                    <a:srgbClr val="000000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</p:grpSp>
        <p:grpSp>
          <p:nvGrpSpPr>
            <p:cNvPr id="7" name="Group 401"/>
            <p:cNvGrpSpPr>
              <a:grpSpLocks/>
            </p:cNvGrpSpPr>
            <p:nvPr userDrawn="1"/>
          </p:nvGrpSpPr>
          <p:grpSpPr bwMode="auto">
            <a:xfrm>
              <a:off x="5203825" y="152400"/>
              <a:ext cx="1079500" cy="1079500"/>
              <a:chOff x="4992" y="816"/>
              <a:chExt cx="576" cy="576"/>
            </a:xfrm>
          </p:grpSpPr>
          <p:sp>
            <p:nvSpPr>
              <p:cNvPr id="16" name="Oval 402"/>
              <p:cNvSpPr>
                <a:spLocks noChangeArrowheads="1"/>
              </p:cNvSpPr>
              <p:nvPr/>
            </p:nvSpPr>
            <p:spPr bwMode="gray">
              <a:xfrm>
                <a:off x="4992" y="816"/>
                <a:ext cx="576" cy="576"/>
              </a:xfrm>
              <a:prstGeom prst="ellipse">
                <a:avLst/>
              </a:prstGeom>
              <a:solidFill>
                <a:schemeClr val="accent1">
                  <a:alpha val="52940"/>
                </a:schemeClr>
              </a:solidFill>
              <a:ln>
                <a:noFill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ko-KR" altLang="ko-KR" sz="1000">
                  <a:solidFill>
                    <a:srgbClr val="000000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17" name="Oval 403"/>
              <p:cNvSpPr>
                <a:spLocks noChangeArrowheads="1"/>
              </p:cNvSpPr>
              <p:nvPr/>
            </p:nvSpPr>
            <p:spPr bwMode="gray">
              <a:xfrm>
                <a:off x="4992" y="912"/>
                <a:ext cx="480" cy="383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34902"/>
                      <a:invGamma/>
                      <a:alpha val="0"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ko-KR" altLang="en-US" sz="1000">
                  <a:solidFill>
                    <a:srgbClr val="000000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</p:grpSp>
        <p:grpSp>
          <p:nvGrpSpPr>
            <p:cNvPr id="8" name="Group 404"/>
            <p:cNvGrpSpPr>
              <a:grpSpLocks/>
            </p:cNvGrpSpPr>
            <p:nvPr userDrawn="1"/>
          </p:nvGrpSpPr>
          <p:grpSpPr bwMode="auto">
            <a:xfrm>
              <a:off x="558800" y="166495"/>
              <a:ext cx="720725" cy="720725"/>
              <a:chOff x="4992" y="816"/>
              <a:chExt cx="576" cy="576"/>
            </a:xfrm>
          </p:grpSpPr>
          <p:sp>
            <p:nvSpPr>
              <p:cNvPr id="14" name="Oval 405"/>
              <p:cNvSpPr>
                <a:spLocks noChangeArrowheads="1"/>
              </p:cNvSpPr>
              <p:nvPr/>
            </p:nvSpPr>
            <p:spPr bwMode="gray">
              <a:xfrm>
                <a:off x="4992" y="816"/>
                <a:ext cx="576" cy="576"/>
              </a:xfrm>
              <a:prstGeom prst="ellipse">
                <a:avLst/>
              </a:prstGeom>
              <a:solidFill>
                <a:schemeClr val="accent1">
                  <a:alpha val="52940"/>
                </a:schemeClr>
              </a:solidFill>
              <a:ln>
                <a:noFill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ko-KR" altLang="ko-KR" sz="1000">
                  <a:solidFill>
                    <a:srgbClr val="000000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15" name="Oval 406"/>
              <p:cNvSpPr>
                <a:spLocks noChangeArrowheads="1"/>
              </p:cNvSpPr>
              <p:nvPr/>
            </p:nvSpPr>
            <p:spPr bwMode="gray">
              <a:xfrm>
                <a:off x="4992" y="911"/>
                <a:ext cx="481" cy="384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34902"/>
                      <a:invGamma/>
                      <a:alpha val="0"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ko-KR" altLang="en-US" sz="1000">
                  <a:solidFill>
                    <a:srgbClr val="000000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</p:grpSp>
        <p:grpSp>
          <p:nvGrpSpPr>
            <p:cNvPr id="9" name="Group 407"/>
            <p:cNvGrpSpPr>
              <a:grpSpLocks/>
            </p:cNvGrpSpPr>
            <p:nvPr userDrawn="1"/>
          </p:nvGrpSpPr>
          <p:grpSpPr bwMode="auto">
            <a:xfrm>
              <a:off x="7480300" y="3048000"/>
              <a:ext cx="1079500" cy="1079500"/>
              <a:chOff x="4992" y="816"/>
              <a:chExt cx="576" cy="576"/>
            </a:xfrm>
          </p:grpSpPr>
          <p:sp>
            <p:nvSpPr>
              <p:cNvPr id="12" name="Oval 408"/>
              <p:cNvSpPr>
                <a:spLocks noChangeArrowheads="1"/>
              </p:cNvSpPr>
              <p:nvPr/>
            </p:nvSpPr>
            <p:spPr bwMode="gray">
              <a:xfrm>
                <a:off x="4992" y="816"/>
                <a:ext cx="576" cy="576"/>
              </a:xfrm>
              <a:prstGeom prst="ellipse">
                <a:avLst/>
              </a:prstGeom>
              <a:solidFill>
                <a:schemeClr val="accent1">
                  <a:alpha val="52940"/>
                </a:schemeClr>
              </a:solidFill>
              <a:ln>
                <a:noFill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ko-KR" altLang="ko-KR" sz="1000">
                  <a:solidFill>
                    <a:srgbClr val="000000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13" name="Oval 409"/>
              <p:cNvSpPr>
                <a:spLocks noChangeArrowheads="1"/>
              </p:cNvSpPr>
              <p:nvPr/>
            </p:nvSpPr>
            <p:spPr bwMode="gray">
              <a:xfrm>
                <a:off x="4992" y="912"/>
                <a:ext cx="480" cy="381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34902"/>
                      <a:invGamma/>
                      <a:alpha val="0"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ko-KR" altLang="en-US" sz="1000">
                  <a:solidFill>
                    <a:srgbClr val="000000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</p:grpSp>
        <p:pic>
          <p:nvPicPr>
            <p:cNvPr id="10" name="Picture 8"/>
            <p:cNvPicPr>
              <a:picLocks noChangeAspect="1" noChangeArrowheads="1"/>
            </p:cNvPicPr>
            <p:nvPr userDrawn="1"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907631" y="3886200"/>
              <a:ext cx="1335088" cy="1517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1" name="_x72392304" descr="EMB0000081c5aea"/>
            <p:cNvPicPr>
              <a:picLocks noChangeAspect="1" noChangeArrowheads="1"/>
            </p:cNvPicPr>
            <p:nvPr userDrawn="1"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3533775" y="5811838"/>
              <a:ext cx="2066925" cy="5699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39A507-16FA-42FF-A34F-E147D3AFCA6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9B009E-C655-4C25-87AC-18CECB8D5CF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71500" y="1504950"/>
            <a:ext cx="3941763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65663" y="1504950"/>
            <a:ext cx="3941762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3B826-A516-46FE-9A6A-50EF3081122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F20B04-4DA9-4CFF-91FB-CEF29B9BDDA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2492EE-D0B0-4B31-8581-C346CA71567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8737EF-0712-49D0-A2B2-5DD038798CE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C3F647-D233-4183-97EC-2BDC95261FE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C2AC8F-D646-4954-BA0C-E8823FF91AB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276763-B075-4888-9A26-61974C037E7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99238" y="152400"/>
            <a:ext cx="2008187" cy="615315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571500" y="152400"/>
            <a:ext cx="5875338" cy="615315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310E71-6945-422B-8B21-811518FE3E3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81025" y="152400"/>
            <a:ext cx="7086600" cy="6858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571500" y="1504950"/>
            <a:ext cx="3941763" cy="48006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65663" y="1504950"/>
            <a:ext cx="3941762" cy="48006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07ED9D-B0D2-4D7B-A706-C89165325F9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제목, 텍스트 및 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81025" y="152400"/>
            <a:ext cx="7086600" cy="6858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571500" y="1504950"/>
            <a:ext cx="3941763" cy="48006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4665663" y="1504950"/>
            <a:ext cx="3941762" cy="23241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4665663" y="3981450"/>
            <a:ext cx="3941762" cy="23241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8C6A9-B49D-4336-9BD4-800D3D83E2B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81025" y="590550"/>
            <a:ext cx="70866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71500" y="1504950"/>
            <a:ext cx="8035925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400">
                <a:effectLst/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400">
                <a:effectLst/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400">
                <a:effectLst/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8E531F33-5520-4942-AAFB-B73BBE4DBF1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7" name="Rectangle 1488"/>
          <p:cNvSpPr>
            <a:spLocks noChangeArrowheads="1"/>
          </p:cNvSpPr>
          <p:nvPr userDrawn="1"/>
        </p:nvSpPr>
        <p:spPr bwMode="gray">
          <a:xfrm>
            <a:off x="0" y="590550"/>
            <a:ext cx="9144000" cy="434975"/>
          </a:xfrm>
          <a:prstGeom prst="rect">
            <a:avLst/>
          </a:prstGeom>
          <a:gradFill rotWithShape="1">
            <a:gsLst>
              <a:gs pos="0">
                <a:srgbClr val="03060A"/>
              </a:gs>
              <a:gs pos="100000">
                <a:srgbClr val="336699"/>
              </a:gs>
            </a:gsLst>
            <a:lin ang="0" scaled="1"/>
          </a:gradFill>
          <a:ln>
            <a:noFill/>
          </a:ln>
        </p:spPr>
        <p:txBody>
          <a:bodyPr wrap="none" anchor="ctr"/>
          <a:lstStyle/>
          <a:p>
            <a:pPr>
              <a:defRPr/>
            </a:pPr>
            <a:endParaRPr lang="ko-KR" altLang="en-US" sz="1000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grpSp>
        <p:nvGrpSpPr>
          <p:cNvPr id="1032" name="Group 1489"/>
          <p:cNvGrpSpPr>
            <a:grpSpLocks/>
          </p:cNvGrpSpPr>
          <p:nvPr userDrawn="1"/>
        </p:nvGrpSpPr>
        <p:grpSpPr bwMode="auto">
          <a:xfrm>
            <a:off x="0" y="-39688"/>
            <a:ext cx="9144000" cy="625476"/>
            <a:chOff x="0" y="-1"/>
            <a:chExt cx="5760" cy="392"/>
          </a:xfrm>
        </p:grpSpPr>
        <p:pic>
          <p:nvPicPr>
            <p:cNvPr id="1033" name="Picture 1490" descr="GlobalGreen_3 copy"/>
            <p:cNvPicPr>
              <a:picLocks noChangeAspect="1" noChangeArrowheads="1"/>
            </p:cNvPicPr>
            <p:nvPr userDrawn="1"/>
          </p:nvPicPr>
          <p:blipFill>
            <a:blip r:embed="rId15" cstate="print"/>
            <a:srcRect t="2975" b="54944"/>
            <a:stretch>
              <a:fillRect/>
            </a:stretch>
          </p:blipFill>
          <p:spPr bwMode="gray">
            <a:xfrm>
              <a:off x="0" y="-1"/>
              <a:ext cx="5760" cy="3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" name="Rectangle 1491"/>
            <p:cNvSpPr>
              <a:spLocks noChangeArrowheads="1"/>
            </p:cNvSpPr>
            <p:nvPr userDrawn="1"/>
          </p:nvSpPr>
          <p:spPr bwMode="gray">
            <a:xfrm>
              <a:off x="0" y="346"/>
              <a:ext cx="5760" cy="45"/>
            </a:xfrm>
            <a:prstGeom prst="rect">
              <a:avLst/>
            </a:prstGeom>
            <a:gradFill rotWithShape="1">
              <a:gsLst>
                <a:gs pos="0">
                  <a:schemeClr val="bg2">
                    <a:gamma/>
                    <a:shade val="46275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000">
                <a:solidFill>
                  <a:srgbClr val="000000"/>
                </a:solidFill>
                <a:latin typeface="굴림" pitchFamily="50" charset="-127"/>
                <a:ea typeface="굴림" pitchFamily="50" charset="-127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5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  <p:sldLayoutId id="2147483883" r:id="rId12"/>
    <p:sldLayoutId id="2147483884" r:id="rId13"/>
  </p:sldLayoutIdLst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200">
          <a:solidFill>
            <a:srgbClr val="4D4D4D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200">
          <a:solidFill>
            <a:srgbClr val="4D4D4D"/>
          </a:solidFill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200">
          <a:solidFill>
            <a:srgbClr val="4D4D4D"/>
          </a:solidFill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200">
          <a:solidFill>
            <a:srgbClr val="4D4D4D"/>
          </a:solidFill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200">
          <a:solidFill>
            <a:srgbClr val="4D4D4D"/>
          </a:solidFill>
          <a:latin typeface="HY견고딕" pitchFamily="18" charset="-127"/>
          <a:ea typeface="HY견고딕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200">
          <a:solidFill>
            <a:srgbClr val="4D4D4D"/>
          </a:solidFill>
          <a:latin typeface="HY견고딕" pitchFamily="18" charset="-127"/>
          <a:ea typeface="HY견고딕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200">
          <a:solidFill>
            <a:srgbClr val="4D4D4D"/>
          </a:solidFill>
          <a:latin typeface="HY견고딕" pitchFamily="18" charset="-127"/>
          <a:ea typeface="HY견고딕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200">
          <a:solidFill>
            <a:srgbClr val="4D4D4D"/>
          </a:solidFill>
          <a:latin typeface="HY견고딕" pitchFamily="18" charset="-127"/>
          <a:ea typeface="HY견고딕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200">
          <a:solidFill>
            <a:srgbClr val="4D4D4D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6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7"/>
          <p:cNvSpPr>
            <a:spLocks noChangeArrowheads="1"/>
          </p:cNvSpPr>
          <p:nvPr/>
        </p:nvSpPr>
        <p:spPr bwMode="ltGray">
          <a:xfrm flipV="1">
            <a:off x="0" y="2438400"/>
            <a:ext cx="9144000" cy="1214438"/>
          </a:xfrm>
          <a:prstGeom prst="rect">
            <a:avLst/>
          </a:prstGeom>
          <a:gradFill rotWithShape="1">
            <a:gsLst>
              <a:gs pos="0">
                <a:srgbClr val="182F47"/>
              </a:gs>
              <a:gs pos="100000">
                <a:srgbClr val="336699"/>
              </a:gs>
            </a:gsLst>
            <a:lin ang="5400000" scaled="1"/>
          </a:gradFill>
          <a:ln>
            <a:noFill/>
          </a:ln>
        </p:spPr>
        <p:txBody>
          <a:bodyPr wrap="none" anchor="ctr"/>
          <a:lstStyle/>
          <a:p>
            <a:pPr>
              <a:defRPr/>
            </a:pPr>
            <a:endParaRPr lang="ko-KR" altLang="ko-KR" sz="1000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3083" name="Text Box 8"/>
          <p:cNvSpPr txBox="1">
            <a:spLocks noChangeArrowheads="1"/>
          </p:cNvSpPr>
          <p:nvPr/>
        </p:nvSpPr>
        <p:spPr bwMode="auto">
          <a:xfrm>
            <a:off x="1371600" y="2784009"/>
            <a:ext cx="6629400" cy="52322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1">
                <a:alpha val="50000"/>
              </a:schemeClr>
            </a:outerShdw>
          </a:effec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ko-KR" altLang="en-US" sz="2800" dirty="0">
                <a:solidFill>
                  <a:schemeClr val="bg1"/>
                </a:solidFill>
                <a:effectLst/>
                <a:latin typeface="HY견고딕" pitchFamily="18" charset="-127"/>
                <a:ea typeface="HY견고딕" pitchFamily="18" charset="-127"/>
              </a:rPr>
              <a:t>중도탈락 방지방안 계획서</a:t>
            </a:r>
          </a:p>
        </p:txBody>
      </p:sp>
      <p:sp>
        <p:nvSpPr>
          <p:cNvPr id="22" name="Rectangle 29"/>
          <p:cNvSpPr>
            <a:spLocks noChangeArrowheads="1"/>
          </p:cNvSpPr>
          <p:nvPr/>
        </p:nvSpPr>
        <p:spPr bwMode="ltGray">
          <a:xfrm>
            <a:off x="0" y="3648075"/>
            <a:ext cx="9144000" cy="390525"/>
          </a:xfrm>
          <a:prstGeom prst="rect">
            <a:avLst/>
          </a:prstGeom>
          <a:gradFill rotWithShape="1">
            <a:gsLst>
              <a:gs pos="0">
                <a:schemeClr val="bg2">
                  <a:gamma/>
                  <a:shade val="87843"/>
                  <a:invGamma/>
                  <a:alpha val="60001"/>
                </a:schemeClr>
              </a:gs>
              <a:gs pos="100000">
                <a:schemeClr val="bg2"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000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5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7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D64F6B6-54DB-93BA-A02B-2EB94F1308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1578" y="432122"/>
            <a:ext cx="1473200" cy="1247497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5B2917CF-012E-2A24-86A1-C5EB48C8CD00}"/>
              </a:ext>
            </a:extLst>
          </p:cNvPr>
          <p:cNvGrpSpPr/>
          <p:nvPr/>
        </p:nvGrpSpPr>
        <p:grpSpPr>
          <a:xfrm>
            <a:off x="2819400" y="5759449"/>
            <a:ext cx="9780778" cy="341503"/>
            <a:chOff x="2411222" y="5830697"/>
            <a:chExt cx="9780778" cy="34150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81CB3B4-8871-0D86-04C2-AFC87E777F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8000" y="6172200"/>
              <a:ext cx="914400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2600" b="1" i="0" u="none" strike="noStrike" cap="none" normalizeH="0" baseline="0" dirty="0" err="1">
                  <a:ln>
                    <a:noFill/>
                  </a:ln>
                  <a:solidFill>
                    <a:srgbClr val="203A7B"/>
                  </a:solidFill>
                  <a:effectLst/>
                  <a:latin typeface="함초롬바탕" panose="02030604000101010101" pitchFamily="18" charset="-127"/>
                  <a:ea typeface="한컴 윤고딕 230"/>
                </a:rPr>
                <a:t>에듀컴퓨터교육학원</a:t>
              </a:r>
              <a:endPara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pic>
          <p:nvPicPr>
            <p:cNvPr id="5" name="Picture 1">
              <a:extLst>
                <a:ext uri="{FF2B5EF4-FFF2-40B4-BE49-F238E27FC236}">
                  <a16:creationId xmlns:a16="http://schemas.microsoft.com/office/drawing/2014/main" id="{D882F5B7-04CC-3F59-8BD6-806C249DDE6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22646"/>
            <a:stretch>
              <a:fillRect/>
            </a:stretch>
          </p:blipFill>
          <p:spPr>
            <a:xfrm>
              <a:off x="2411222" y="5830697"/>
              <a:ext cx="636778" cy="341503"/>
            </a:xfrm>
            <a:prstGeom prst="rect">
              <a:avLst/>
            </a:prstGeom>
            <a:noFill/>
            <a:ln>
              <a:noFill/>
            </a:ln>
            <a:effectLst/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265488" y="1219200"/>
            <a:ext cx="2601912" cy="688975"/>
            <a:chOff x="2433" y="890"/>
            <a:chExt cx="1936" cy="300"/>
          </a:xfrm>
        </p:grpSpPr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2433" y="890"/>
              <a:ext cx="1936" cy="23"/>
            </a:xfrm>
            <a:prstGeom prst="rect">
              <a:avLst/>
            </a:prstGeom>
            <a:solidFill>
              <a:srgbClr val="CBBCAD"/>
            </a:solidFill>
            <a:ln>
              <a:noFill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/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2434" y="1167"/>
              <a:ext cx="1935" cy="23"/>
            </a:xfrm>
            <a:prstGeom prst="rect">
              <a:avLst/>
            </a:prstGeom>
            <a:solidFill>
              <a:srgbClr val="CBBCAD"/>
            </a:solidFill>
            <a:ln>
              <a:noFill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/>
            </a:p>
          </p:txBody>
        </p:sp>
        <p:sp>
          <p:nvSpPr>
            <p:cNvPr id="7" name="Text Box 7"/>
            <p:cNvSpPr txBox="1">
              <a:spLocks noChangeArrowheads="1"/>
            </p:cNvSpPr>
            <p:nvPr/>
          </p:nvSpPr>
          <p:spPr bwMode="auto">
            <a:xfrm>
              <a:off x="2527" y="953"/>
              <a:ext cx="1758" cy="174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defRPr/>
              </a:pPr>
              <a:r>
                <a:rPr lang="en-US" altLang="ko-KR" sz="2000" b="1" dirty="0">
                  <a:latin typeface="+mj-ea"/>
                  <a:ea typeface="+mj-ea"/>
                </a:rPr>
                <a:t>C O N T E N T S</a:t>
              </a:r>
            </a:p>
          </p:txBody>
        </p:sp>
      </p:grpSp>
      <p:sp>
        <p:nvSpPr>
          <p:cNvPr id="12" name="AutoShape 8"/>
          <p:cNvSpPr>
            <a:spLocks noChangeArrowheads="1"/>
          </p:cNvSpPr>
          <p:nvPr/>
        </p:nvSpPr>
        <p:spPr bwMode="gray">
          <a:xfrm>
            <a:off x="2133600" y="2057400"/>
            <a:ext cx="4724400" cy="694267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1C3D5A"/>
              </a:gs>
              <a:gs pos="50000">
                <a:srgbClr val="3D83C3"/>
              </a:gs>
              <a:gs pos="100000">
                <a:srgbClr val="1C3D5A"/>
              </a:gs>
            </a:gsLst>
            <a:lin ang="5400000" scaled="1"/>
          </a:gradFill>
          <a:ln w="38100">
            <a:solidFill>
              <a:schemeClr val="bg1"/>
            </a:solidFill>
            <a:round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 wrap="none" anchor="ctr"/>
          <a:lstStyle/>
          <a:p>
            <a:pPr marL="533400" algn="just">
              <a:defRPr/>
            </a:pPr>
            <a:r>
              <a:rPr lang="en-US" altLang="ko-KR" dirty="0">
                <a:solidFill>
                  <a:schemeClr val="bg1"/>
                </a:solidFill>
                <a:latin typeface="+mj-ea"/>
                <a:ea typeface="+mj-ea"/>
              </a:rPr>
              <a:t>Ⅰ. </a:t>
            </a:r>
            <a:r>
              <a:rPr lang="ko-KR" altLang="en-US" dirty="0">
                <a:solidFill>
                  <a:schemeClr val="bg1"/>
                </a:solidFill>
                <a:latin typeface="+mj-ea"/>
                <a:ea typeface="+mj-ea"/>
              </a:rPr>
              <a:t>중도탈락 방지목적</a:t>
            </a:r>
            <a:endParaRPr lang="en-US" altLang="ko-KR" sz="16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3" name="AutoShape 8"/>
          <p:cNvSpPr>
            <a:spLocks noChangeArrowheads="1"/>
          </p:cNvSpPr>
          <p:nvPr/>
        </p:nvSpPr>
        <p:spPr bwMode="gray">
          <a:xfrm>
            <a:off x="2133600" y="2971800"/>
            <a:ext cx="4724400" cy="694267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1C3D5A"/>
              </a:gs>
              <a:gs pos="50000">
                <a:srgbClr val="3D83C3"/>
              </a:gs>
              <a:gs pos="100000">
                <a:srgbClr val="1C3D5A"/>
              </a:gs>
            </a:gsLst>
            <a:lin ang="5400000" scaled="1"/>
          </a:gradFill>
          <a:ln w="38100">
            <a:solidFill>
              <a:schemeClr val="bg1"/>
            </a:solidFill>
            <a:round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 wrap="none" anchor="ctr"/>
          <a:lstStyle/>
          <a:p>
            <a:r>
              <a:rPr lang="en-US" altLang="ko-KR" dirty="0">
                <a:solidFill>
                  <a:schemeClr val="bg1"/>
                </a:solidFill>
                <a:latin typeface="+mj-ea"/>
                <a:ea typeface="+mj-ea"/>
              </a:rPr>
              <a:t>       Ⅱ. </a:t>
            </a:r>
            <a:r>
              <a:rPr lang="ko-KR" altLang="en-US" dirty="0">
                <a:solidFill>
                  <a:schemeClr val="bg1"/>
                </a:solidFill>
                <a:latin typeface="+mj-ea"/>
                <a:ea typeface="+mj-ea"/>
              </a:rPr>
              <a:t>중도탈락 현황</a:t>
            </a:r>
            <a:r>
              <a:rPr lang="en-US" altLang="ko-KR" dirty="0">
                <a:solidFill>
                  <a:schemeClr val="bg1"/>
                </a:solidFill>
                <a:latin typeface="+mj-ea"/>
                <a:ea typeface="+mj-ea"/>
              </a:rPr>
              <a:t> </a:t>
            </a:r>
            <a:endParaRPr lang="ko-KR" altLang="en-US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4" name="AutoShape 8"/>
          <p:cNvSpPr>
            <a:spLocks noChangeArrowheads="1"/>
          </p:cNvSpPr>
          <p:nvPr/>
        </p:nvSpPr>
        <p:spPr bwMode="gray">
          <a:xfrm>
            <a:off x="2133600" y="3886200"/>
            <a:ext cx="4724400" cy="694267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1C3D5A"/>
              </a:gs>
              <a:gs pos="50000">
                <a:srgbClr val="3D83C3"/>
              </a:gs>
              <a:gs pos="100000">
                <a:srgbClr val="1C3D5A"/>
              </a:gs>
            </a:gsLst>
            <a:lin ang="5400000" scaled="1"/>
          </a:gradFill>
          <a:ln w="38100">
            <a:solidFill>
              <a:schemeClr val="bg1"/>
            </a:solidFill>
            <a:round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 wrap="none" anchor="ctr"/>
          <a:lstStyle/>
          <a:p>
            <a:r>
              <a:rPr lang="en-US" altLang="ko-KR" dirty="0">
                <a:solidFill>
                  <a:schemeClr val="bg1"/>
                </a:solidFill>
                <a:latin typeface="+mj-ea"/>
                <a:ea typeface="+mj-ea"/>
              </a:rPr>
              <a:t>       Ⅲ. </a:t>
            </a:r>
            <a:r>
              <a:rPr lang="ko-KR" altLang="en-US" dirty="0">
                <a:solidFill>
                  <a:schemeClr val="bg1"/>
                </a:solidFill>
                <a:latin typeface="+mj-ea"/>
                <a:ea typeface="+mj-ea"/>
              </a:rPr>
              <a:t>중도탈락 원인분석</a:t>
            </a:r>
            <a:r>
              <a:rPr lang="en-US" altLang="ko-KR" dirty="0">
                <a:solidFill>
                  <a:schemeClr val="bg1"/>
                </a:solidFill>
                <a:latin typeface="+mj-ea"/>
                <a:ea typeface="+mj-ea"/>
              </a:rPr>
              <a:t>  </a:t>
            </a:r>
            <a:endParaRPr lang="ko-KR" altLang="en-US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AutoShape 8"/>
          <p:cNvSpPr>
            <a:spLocks noChangeArrowheads="1"/>
          </p:cNvSpPr>
          <p:nvPr/>
        </p:nvSpPr>
        <p:spPr bwMode="gray">
          <a:xfrm>
            <a:off x="2133600" y="4800600"/>
            <a:ext cx="4724400" cy="694267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1C3D5A"/>
              </a:gs>
              <a:gs pos="50000">
                <a:srgbClr val="3D83C3"/>
              </a:gs>
              <a:gs pos="100000">
                <a:srgbClr val="1C3D5A"/>
              </a:gs>
            </a:gsLst>
            <a:lin ang="5400000" scaled="1"/>
          </a:gradFill>
          <a:ln w="38100">
            <a:solidFill>
              <a:schemeClr val="bg1"/>
            </a:solidFill>
            <a:round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 wrap="none" anchor="ctr"/>
          <a:lstStyle/>
          <a:p>
            <a:r>
              <a:rPr lang="en-US" altLang="ko-KR" dirty="0">
                <a:solidFill>
                  <a:schemeClr val="bg1"/>
                </a:solidFill>
                <a:latin typeface="+mj-ea"/>
                <a:ea typeface="+mj-ea"/>
              </a:rPr>
              <a:t>       Ⅳ. </a:t>
            </a:r>
            <a:r>
              <a:rPr lang="ko-KR" altLang="en-US" dirty="0">
                <a:solidFill>
                  <a:schemeClr val="bg1"/>
                </a:solidFill>
                <a:latin typeface="+mj-ea"/>
                <a:ea typeface="+mj-ea"/>
              </a:rPr>
              <a:t>중도탈락 방지방안</a:t>
            </a:r>
            <a:r>
              <a:rPr lang="en-US" altLang="ko-KR" dirty="0">
                <a:solidFill>
                  <a:schemeClr val="bg1"/>
                </a:solidFill>
                <a:latin typeface="+mj-ea"/>
                <a:ea typeface="+mj-ea"/>
              </a:rPr>
              <a:t>  </a:t>
            </a:r>
            <a:endParaRPr lang="ko-KR" altLang="en-US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AutoShape 8"/>
          <p:cNvSpPr>
            <a:spLocks noChangeArrowheads="1"/>
          </p:cNvSpPr>
          <p:nvPr/>
        </p:nvSpPr>
        <p:spPr bwMode="gray">
          <a:xfrm>
            <a:off x="2133600" y="5715000"/>
            <a:ext cx="4724400" cy="694267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1C3D5A"/>
              </a:gs>
              <a:gs pos="50000">
                <a:srgbClr val="3D83C3"/>
              </a:gs>
              <a:gs pos="100000">
                <a:srgbClr val="1C3D5A"/>
              </a:gs>
            </a:gsLst>
            <a:lin ang="5400000" scaled="1"/>
          </a:gradFill>
          <a:ln w="38100">
            <a:solidFill>
              <a:schemeClr val="bg1"/>
            </a:solidFill>
            <a:round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 wrap="none" anchor="ctr"/>
          <a:lstStyle/>
          <a:p>
            <a:r>
              <a:rPr lang="en-US" altLang="ko-KR" dirty="0">
                <a:solidFill>
                  <a:schemeClr val="bg1"/>
                </a:solidFill>
                <a:latin typeface="+mj-ea"/>
                <a:ea typeface="+mj-ea"/>
              </a:rPr>
              <a:t>       Ⅴ. </a:t>
            </a:r>
            <a:r>
              <a:rPr lang="ko-KR" altLang="en-US" dirty="0">
                <a:solidFill>
                  <a:schemeClr val="bg1"/>
                </a:solidFill>
                <a:latin typeface="+mj-ea"/>
                <a:ea typeface="+mj-ea"/>
              </a:rPr>
              <a:t>향후 추진계획</a:t>
            </a:r>
            <a:r>
              <a:rPr lang="en-US" altLang="ko-KR" dirty="0">
                <a:solidFill>
                  <a:schemeClr val="bg1"/>
                </a:solidFill>
                <a:latin typeface="+mj-ea"/>
                <a:ea typeface="+mj-ea"/>
              </a:rPr>
              <a:t>  </a:t>
            </a:r>
            <a:endParaRPr lang="ko-KR" altLang="en-US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1"/>
          <p:cNvSpPr>
            <a:spLocks noGrp="1"/>
          </p:cNvSpPr>
          <p:nvPr>
            <p:ph type="title"/>
          </p:nvPr>
        </p:nvSpPr>
        <p:spPr>
          <a:xfrm>
            <a:off x="0" y="590550"/>
            <a:ext cx="8229600" cy="400050"/>
          </a:xfrm>
        </p:spPr>
        <p:txBody>
          <a:bodyPr/>
          <a:lstStyle/>
          <a:p>
            <a:r>
              <a:rPr lang="en-US" altLang="ko-KR" dirty="0"/>
              <a:t>Ⅰ. </a:t>
            </a:r>
            <a:r>
              <a:rPr lang="ko-KR" altLang="en-US" dirty="0"/>
              <a:t>중도탈락 방지목적</a:t>
            </a:r>
          </a:p>
        </p:txBody>
      </p:sp>
      <p:grpSp>
        <p:nvGrpSpPr>
          <p:cNvPr id="2" name="그룹 9"/>
          <p:cNvGrpSpPr/>
          <p:nvPr/>
        </p:nvGrpSpPr>
        <p:grpSpPr>
          <a:xfrm>
            <a:off x="304800" y="1371602"/>
            <a:ext cx="8610600" cy="5181601"/>
            <a:chOff x="4932040" y="4581128"/>
            <a:chExt cx="3929090" cy="1872208"/>
          </a:xfrm>
        </p:grpSpPr>
        <p:sp>
          <p:nvSpPr>
            <p:cNvPr id="11" name="모서리가 둥근 직사각형 10"/>
            <p:cNvSpPr/>
            <p:nvPr/>
          </p:nvSpPr>
          <p:spPr>
            <a:xfrm>
              <a:off x="4932040" y="4581128"/>
              <a:ext cx="3929090" cy="1872208"/>
            </a:xfrm>
            <a:prstGeom prst="roundRect">
              <a:avLst>
                <a:gd name="adj" fmla="val 4133"/>
              </a:avLst>
            </a:prstGeom>
            <a:solidFill>
              <a:schemeClr val="bg1"/>
            </a:solidFill>
            <a:ln w="25400">
              <a:solidFill>
                <a:srgbClr val="51A1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헤드라인M" pitchFamily="18" charset="-127"/>
                <a:ea typeface="HY헤드라인M" pitchFamily="18" charset="-127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004048" y="4653136"/>
              <a:ext cx="3785651" cy="122326"/>
            </a:xfrm>
            <a:prstGeom prst="rect">
              <a:avLst/>
            </a:prstGeom>
            <a:solidFill>
              <a:srgbClr val="002060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 latinLnBrk="0">
                <a:defRPr/>
              </a:pPr>
              <a:r>
                <a:rPr lang="ko-KR" altLang="en-US" sz="1600" dirty="0">
                  <a:solidFill>
                    <a:schemeClr val="bg1"/>
                  </a:solidFill>
                  <a:latin typeface="HY헤드라인M" pitchFamily="18" charset="-127"/>
                  <a:ea typeface="HY헤드라인M" pitchFamily="18" charset="-127"/>
                </a:rPr>
                <a:t>중도탈락 방지목적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004048" y="4828919"/>
              <a:ext cx="3785651" cy="1544086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>
                <a:lnSpc>
                  <a:spcPct val="110000"/>
                </a:lnSpc>
              </a:pPr>
              <a:endParaRPr lang="en-US" altLang="ko-KR" sz="11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>
                <a:lnSpc>
                  <a:spcPct val="110000"/>
                </a:lnSpc>
              </a:pPr>
              <a:r>
                <a:rPr lang="ko-KR" altLang="en-US" sz="1400" dirty="0">
                  <a:effectLst/>
                  <a:latin typeface="HY헤드라인M" pitchFamily="18" charset="-127"/>
                  <a:ea typeface="HY헤드라인M" pitchFamily="18" charset="-127"/>
                </a:rPr>
                <a:t>평생교육 시대의 도래와 함께 일반 학교의 교육과 함께 평생직업능력의 교육이 가장 큰 화두가 되고 있는 상황에서 학교에서 다루지 못하는 직업에 대한 기술과 소양을 직업훈련기관이 담당하고 있다</a:t>
              </a:r>
              <a:r>
                <a:rPr lang="en-US" altLang="ko-KR" sz="1400" dirty="0">
                  <a:effectLst/>
                  <a:latin typeface="HY헤드라인M" pitchFamily="18" charset="-127"/>
                  <a:ea typeface="HY헤드라인M" pitchFamily="18" charset="-127"/>
                </a:rPr>
                <a:t>. </a:t>
              </a:r>
              <a:r>
                <a:rPr lang="ko-KR" altLang="en-US" sz="1400" dirty="0">
                  <a:effectLst/>
                  <a:latin typeface="HY헤드라인M" pitchFamily="18" charset="-127"/>
                  <a:ea typeface="HY헤드라인M" pitchFamily="18" charset="-127"/>
                </a:rPr>
                <a:t>직업훈련을 담당하고 있는 교육기관의 가장 큰 목표는 현장능력을 갖춘 전문기술양성과 </a:t>
              </a:r>
              <a:r>
                <a:rPr lang="ko-KR" altLang="en-US" sz="1400" dirty="0" err="1">
                  <a:effectLst/>
                  <a:latin typeface="HY헤드라인M" pitchFamily="18" charset="-127"/>
                  <a:ea typeface="HY헤드라인M" pitchFamily="18" charset="-127"/>
                </a:rPr>
                <a:t>취업율</a:t>
              </a:r>
              <a:r>
                <a:rPr lang="ko-KR" altLang="en-US" sz="1400" dirty="0">
                  <a:effectLst/>
                  <a:latin typeface="HY헤드라인M" pitchFamily="18" charset="-127"/>
                  <a:ea typeface="HY헤드라인M" pitchFamily="18" charset="-127"/>
                </a:rPr>
                <a:t> 향상에 있다</a:t>
              </a:r>
              <a:r>
                <a:rPr lang="en-US" altLang="ko-KR" sz="1400" dirty="0">
                  <a:effectLst/>
                  <a:latin typeface="HY헤드라인M" pitchFamily="18" charset="-127"/>
                  <a:ea typeface="HY헤드라인M" pitchFamily="18" charset="-127"/>
                </a:rPr>
                <a:t>. </a:t>
              </a:r>
            </a:p>
            <a:p>
              <a:pPr>
                <a:lnSpc>
                  <a:spcPct val="110000"/>
                </a:lnSpc>
              </a:pPr>
              <a:endParaRPr lang="en-US" altLang="ko-KR" sz="14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>
                <a:lnSpc>
                  <a:spcPct val="110000"/>
                </a:lnSpc>
              </a:pPr>
              <a:r>
                <a:rPr lang="ko-KR" altLang="en-US" sz="1400" dirty="0">
                  <a:effectLst/>
                  <a:latin typeface="HY헤드라인M" pitchFamily="18" charset="-127"/>
                  <a:ea typeface="HY헤드라인M" pitchFamily="18" charset="-127"/>
                </a:rPr>
                <a:t>그 목표를 달성하기 위한 요소로는 현장에서 요구하는 훈련과정과 독창적인 교수방법</a:t>
              </a:r>
              <a:r>
                <a:rPr lang="en-US" altLang="ko-KR" sz="1400" dirty="0">
                  <a:effectLst/>
                  <a:latin typeface="HY헤드라인M" pitchFamily="18" charset="-127"/>
                  <a:ea typeface="HY헤드라인M" pitchFamily="18" charset="-127"/>
                </a:rPr>
                <a:t>, </a:t>
              </a:r>
              <a:r>
                <a:rPr lang="ko-KR" altLang="en-US" sz="1400" dirty="0">
                  <a:effectLst/>
                  <a:latin typeface="HY헤드라인M" pitchFamily="18" charset="-127"/>
                  <a:ea typeface="HY헤드라인M" pitchFamily="18" charset="-127"/>
                </a:rPr>
                <a:t>훈련생들의 적극적인 참여의식이 필요하다</a:t>
              </a:r>
              <a:r>
                <a:rPr lang="en-US" altLang="ko-KR" sz="1400" dirty="0">
                  <a:effectLst/>
                  <a:latin typeface="HY헤드라인M" pitchFamily="18" charset="-127"/>
                  <a:ea typeface="HY헤드라인M" pitchFamily="18" charset="-127"/>
                </a:rPr>
                <a:t>.</a:t>
              </a:r>
            </a:p>
            <a:p>
              <a:pPr>
                <a:lnSpc>
                  <a:spcPct val="110000"/>
                </a:lnSpc>
              </a:pPr>
              <a:endParaRPr lang="en-US" altLang="ko-KR" sz="14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>
                <a:lnSpc>
                  <a:spcPct val="110000"/>
                </a:lnSpc>
              </a:pPr>
              <a:r>
                <a:rPr lang="ko-KR" altLang="en-US" sz="1400" dirty="0">
                  <a:effectLst/>
                  <a:latin typeface="HY헤드라인M" pitchFamily="18" charset="-127"/>
                  <a:ea typeface="HY헤드라인M" pitchFamily="18" charset="-127"/>
                </a:rPr>
                <a:t>위에서 언급한 요소들 중에서 가장 중요한 요소는 훈련생들의 적극적인 참여의식일 것이다</a:t>
              </a:r>
              <a:r>
                <a:rPr lang="en-US" altLang="ko-KR" sz="1400" dirty="0">
                  <a:effectLst/>
                  <a:latin typeface="HY헤드라인M" pitchFamily="18" charset="-127"/>
                  <a:ea typeface="HY헤드라인M" pitchFamily="18" charset="-127"/>
                </a:rPr>
                <a:t>.</a:t>
              </a:r>
            </a:p>
            <a:p>
              <a:pPr>
                <a:lnSpc>
                  <a:spcPct val="110000"/>
                </a:lnSpc>
              </a:pPr>
              <a:endParaRPr lang="en-US" altLang="ko-KR" sz="14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>
                <a:lnSpc>
                  <a:spcPct val="110000"/>
                </a:lnSpc>
              </a:pPr>
              <a:r>
                <a:rPr lang="ko-KR" altLang="en-US" sz="1400" dirty="0">
                  <a:effectLst/>
                  <a:latin typeface="HY헤드라인M" pitchFamily="18" charset="-127"/>
                  <a:ea typeface="HY헤드라인M" pitchFamily="18" charset="-127"/>
                </a:rPr>
                <a:t>직업훈련을 실시하는 훈련기관에서는 훈련생들이 가지고 있는 적성과 흥미</a:t>
              </a:r>
              <a:r>
                <a:rPr lang="en-US" altLang="ko-KR" sz="1400" dirty="0">
                  <a:effectLst/>
                  <a:latin typeface="HY헤드라인M" pitchFamily="18" charset="-127"/>
                  <a:ea typeface="HY헤드라인M" pitchFamily="18" charset="-127"/>
                </a:rPr>
                <a:t>, </a:t>
              </a:r>
              <a:r>
                <a:rPr lang="ko-KR" altLang="en-US" sz="1400" dirty="0">
                  <a:effectLst/>
                  <a:latin typeface="HY헤드라인M" pitchFamily="18" charset="-127"/>
                  <a:ea typeface="HY헤드라인M" pitchFamily="18" charset="-127"/>
                </a:rPr>
                <a:t>이루고자 하는 목표 등을 </a:t>
              </a:r>
              <a:endParaRPr lang="en-US" altLang="ko-KR" sz="14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>
                <a:lnSpc>
                  <a:spcPct val="110000"/>
                </a:lnSpc>
              </a:pPr>
              <a:r>
                <a:rPr lang="ko-KR" altLang="en-US" sz="1400" dirty="0">
                  <a:effectLst/>
                  <a:latin typeface="HY헤드라인M" pitchFamily="18" charset="-127"/>
                  <a:ea typeface="HY헤드라인M" pitchFamily="18" charset="-127"/>
                </a:rPr>
                <a:t>명확히 설정하고</a:t>
              </a:r>
              <a:r>
                <a:rPr lang="en-US" altLang="ko-KR" sz="1400" dirty="0">
                  <a:effectLst/>
                  <a:latin typeface="HY헤드라인M" pitchFamily="18" charset="-127"/>
                  <a:ea typeface="HY헤드라인M" pitchFamily="18" charset="-127"/>
                </a:rPr>
                <a:t>, </a:t>
              </a:r>
              <a:r>
                <a:rPr lang="ko-KR" altLang="en-US" sz="1400" dirty="0">
                  <a:effectLst/>
                  <a:latin typeface="HY헤드라인M" pitchFamily="18" charset="-127"/>
                  <a:ea typeface="HY헤드라인M" pitchFamily="18" charset="-127"/>
                </a:rPr>
                <a:t>훈련수료 후 직업인으로써 가져야 할 모든 부분에 대해 훈련에 이루어져야 할 것이다</a:t>
              </a:r>
              <a:r>
                <a:rPr lang="en-US" altLang="ko-KR" sz="1400" dirty="0">
                  <a:effectLst/>
                  <a:latin typeface="HY헤드라인M" pitchFamily="18" charset="-127"/>
                  <a:ea typeface="HY헤드라인M" pitchFamily="18" charset="-127"/>
                </a:rPr>
                <a:t>.</a:t>
              </a:r>
            </a:p>
            <a:p>
              <a:pPr>
                <a:lnSpc>
                  <a:spcPct val="110000"/>
                </a:lnSpc>
              </a:pPr>
              <a:endParaRPr lang="en-US" altLang="ko-KR" sz="14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>
                <a:lnSpc>
                  <a:spcPct val="110000"/>
                </a:lnSpc>
              </a:pPr>
              <a:r>
                <a:rPr lang="ko-KR" altLang="en-US" sz="1400" dirty="0">
                  <a:effectLst/>
                  <a:latin typeface="HY헤드라인M" pitchFamily="18" charset="-127"/>
                  <a:ea typeface="HY헤드라인M" pitchFamily="18" charset="-127"/>
                </a:rPr>
                <a:t>따라서</a:t>
              </a:r>
              <a:r>
                <a:rPr lang="en-US" altLang="ko-KR" sz="1400" dirty="0">
                  <a:effectLst/>
                  <a:latin typeface="HY헤드라인M" pitchFamily="18" charset="-127"/>
                  <a:ea typeface="HY헤드라인M" pitchFamily="18" charset="-127"/>
                </a:rPr>
                <a:t>,</a:t>
              </a:r>
              <a:r>
                <a:rPr lang="ko-KR" altLang="en-US" sz="1400" dirty="0">
                  <a:effectLst/>
                  <a:latin typeface="HY헤드라인M" pitchFamily="18" charset="-127"/>
                  <a:ea typeface="HY헤드라인M" pitchFamily="18" charset="-127"/>
                </a:rPr>
                <a:t> 본 훈련기관에서는 훈련생들의 학원 적응과 훈련에 대한 흥미를 유발하고</a:t>
              </a:r>
              <a:r>
                <a:rPr lang="en-US" altLang="ko-KR" sz="1400" dirty="0">
                  <a:effectLst/>
                  <a:latin typeface="HY헤드라인M" pitchFamily="18" charset="-127"/>
                  <a:ea typeface="HY헤드라인M" pitchFamily="18" charset="-127"/>
                </a:rPr>
                <a:t>, </a:t>
              </a:r>
              <a:r>
                <a:rPr lang="ko-KR" altLang="en-US" sz="1400" dirty="0">
                  <a:effectLst/>
                  <a:latin typeface="HY헤드라인M" pitchFamily="18" charset="-127"/>
                  <a:ea typeface="HY헤드라인M" pitchFamily="18" charset="-127"/>
                </a:rPr>
                <a:t>수료 후에 훈련생들에 원하는 목표를 이루기 위해 훈련생들의 적극적인 수업참여와 중도탈락 방지대책을 수립하여 훈련생들의 목표달성과 </a:t>
              </a:r>
              <a:r>
                <a:rPr lang="ko-KR" altLang="en-US" sz="1400" dirty="0" err="1">
                  <a:effectLst/>
                  <a:latin typeface="HY헤드라인M" pitchFamily="18" charset="-127"/>
                  <a:ea typeface="HY헤드라인M" pitchFamily="18" charset="-127"/>
                </a:rPr>
                <a:t>취업율</a:t>
              </a:r>
              <a:r>
                <a:rPr lang="ko-KR" altLang="en-US" sz="1400" dirty="0">
                  <a:effectLst/>
                  <a:latin typeface="HY헤드라인M" pitchFamily="18" charset="-127"/>
                  <a:ea typeface="HY헤드라인M" pitchFamily="18" charset="-127"/>
                </a:rPr>
                <a:t> 그리고 중도탈락의 최소화를 목적으로 한다</a:t>
              </a:r>
              <a:r>
                <a:rPr lang="en-US" altLang="ko-KR" sz="1400" dirty="0">
                  <a:effectLst/>
                  <a:latin typeface="HY헤드라인M" pitchFamily="18" charset="-127"/>
                  <a:ea typeface="HY헤드라인M" pitchFamily="18" charset="-127"/>
                </a:rPr>
                <a:t>. </a:t>
              </a:r>
            </a:p>
            <a:p>
              <a:pPr>
                <a:lnSpc>
                  <a:spcPct val="110000"/>
                </a:lnSpc>
              </a:pPr>
              <a:endParaRPr lang="ko-KR" altLang="en-US" sz="1200" dirty="0">
                <a:effectLst/>
                <a:latin typeface="HY헤드라인M" pitchFamily="18" charset="-127"/>
                <a:ea typeface="HY헤드라인M" pitchFamily="18" charset="-127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1"/>
          <p:cNvSpPr>
            <a:spLocks noGrp="1"/>
          </p:cNvSpPr>
          <p:nvPr>
            <p:ph type="title"/>
          </p:nvPr>
        </p:nvSpPr>
        <p:spPr>
          <a:xfrm>
            <a:off x="0" y="590550"/>
            <a:ext cx="8229600" cy="400050"/>
          </a:xfrm>
        </p:spPr>
        <p:txBody>
          <a:bodyPr/>
          <a:lstStyle/>
          <a:p>
            <a:r>
              <a:rPr lang="en-US" altLang="ko-KR" dirty="0"/>
              <a:t>Ⅲ. </a:t>
            </a:r>
            <a:r>
              <a:rPr lang="ko-KR" altLang="en-US" dirty="0"/>
              <a:t>중도탈락 원인분석</a:t>
            </a:r>
            <a:r>
              <a:rPr lang="en-US" altLang="ko-KR" dirty="0"/>
              <a:t>(1)</a:t>
            </a:r>
            <a:endParaRPr lang="ko-KR" altLang="en-US" dirty="0"/>
          </a:p>
        </p:txBody>
      </p:sp>
      <p:grpSp>
        <p:nvGrpSpPr>
          <p:cNvPr id="2" name="그룹 9"/>
          <p:cNvGrpSpPr/>
          <p:nvPr/>
        </p:nvGrpSpPr>
        <p:grpSpPr>
          <a:xfrm>
            <a:off x="304800" y="1371597"/>
            <a:ext cx="8610600" cy="5181599"/>
            <a:chOff x="4932040" y="4581128"/>
            <a:chExt cx="3929090" cy="1872208"/>
          </a:xfrm>
        </p:grpSpPr>
        <p:sp>
          <p:nvSpPr>
            <p:cNvPr id="11" name="모서리가 둥근 직사각형 10"/>
            <p:cNvSpPr/>
            <p:nvPr/>
          </p:nvSpPr>
          <p:spPr>
            <a:xfrm>
              <a:off x="4932040" y="4581128"/>
              <a:ext cx="3929090" cy="1872208"/>
            </a:xfrm>
            <a:prstGeom prst="roundRect">
              <a:avLst>
                <a:gd name="adj" fmla="val 4133"/>
              </a:avLst>
            </a:prstGeom>
            <a:solidFill>
              <a:schemeClr val="bg1"/>
            </a:solidFill>
            <a:ln w="25400">
              <a:solidFill>
                <a:srgbClr val="51A1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헤드라인M" pitchFamily="18" charset="-127"/>
                <a:ea typeface="HY헤드라인M" pitchFamily="18" charset="-127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004048" y="4653136"/>
              <a:ext cx="3785651" cy="122326"/>
            </a:xfrm>
            <a:prstGeom prst="rect">
              <a:avLst/>
            </a:prstGeom>
            <a:solidFill>
              <a:srgbClr val="002060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 latinLnBrk="0">
                <a:defRPr/>
              </a:pPr>
              <a:r>
                <a:rPr lang="ko-KR" altLang="en-US" sz="1600" dirty="0">
                  <a:solidFill>
                    <a:schemeClr val="bg1"/>
                  </a:solidFill>
                  <a:latin typeface="HY헤드라인M" pitchFamily="18" charset="-127"/>
                  <a:ea typeface="HY헤드라인M" pitchFamily="18" charset="-127"/>
                </a:rPr>
                <a:t>중도탈락 동기부여에 따른 분류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004048" y="4828921"/>
              <a:ext cx="3785651" cy="1568552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>
                <a:lnSpc>
                  <a:spcPct val="110000"/>
                </a:lnSpc>
              </a:pPr>
              <a:endParaRPr lang="en-US" altLang="ko-KR" sz="11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algn="just">
                <a:lnSpc>
                  <a:spcPct val="110000"/>
                </a:lnSpc>
              </a:pP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훈련과정 중에 학습을 포기한 훈련생들의 특성에서 많은 요인들을 발견할 수 있었지만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,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그 중에서 중도탈락을 결심한 동기에 따른 분류를 조사한 결과 몇 가지 유형으로 나뉘어진다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.</a:t>
              </a:r>
            </a:p>
            <a:p>
              <a:pPr algn="just">
                <a:lnSpc>
                  <a:spcPct val="110000"/>
                </a:lnSpc>
              </a:pPr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 algn="just">
                <a:lnSpc>
                  <a:spcPct val="110000"/>
                </a:lnSpc>
                <a:buAutoNum type="arabicParenBoth"/>
              </a:pPr>
              <a:r>
                <a:rPr lang="ko-KR" altLang="en-US" sz="1600" dirty="0" err="1">
                  <a:effectLst/>
                  <a:latin typeface="HY헤드라인M" pitchFamily="18" charset="-127"/>
                  <a:ea typeface="HY헤드라인M" pitchFamily="18" charset="-127"/>
                </a:rPr>
                <a:t>능동형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 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: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문제의 해결을 위한 중도탈락을 결심한 유형으로 자신이 목표로 한 훈련과정과 훈련기관이 제시한 훈련목표와 훈련내용이 상이하여 중도포기 하는 유형   </a:t>
              </a:r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 algn="just">
                <a:lnSpc>
                  <a:spcPct val="110000"/>
                </a:lnSpc>
                <a:buAutoNum type="arabicParenBoth"/>
              </a:pPr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 algn="just">
                <a:lnSpc>
                  <a:spcPct val="110000"/>
                </a:lnSpc>
                <a:buAutoNum type="arabicParenBoth"/>
              </a:pPr>
              <a:r>
                <a:rPr lang="ko-KR" altLang="en-US" sz="1600" dirty="0" err="1">
                  <a:effectLst/>
                  <a:latin typeface="HY헤드라인M" pitchFamily="18" charset="-127"/>
                  <a:ea typeface="HY헤드라인M" pitchFamily="18" charset="-127"/>
                </a:rPr>
                <a:t>도피형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 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: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능동적인 문제해결보다는 소극적이고 문제해결을 기피하려는 성향으로 인내와 끈기가 부족하여 중도포기 하는 유형</a:t>
              </a:r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 algn="just">
                <a:lnSpc>
                  <a:spcPct val="110000"/>
                </a:lnSpc>
                <a:buAutoNum type="arabicParenBoth"/>
              </a:pPr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 algn="just">
                <a:lnSpc>
                  <a:spcPct val="110000"/>
                </a:lnSpc>
                <a:buAutoNum type="arabicParenBoth"/>
              </a:pPr>
              <a:r>
                <a:rPr lang="ko-KR" altLang="en-US" sz="1600" dirty="0" err="1">
                  <a:effectLst/>
                  <a:latin typeface="HY헤드라인M" pitchFamily="18" charset="-127"/>
                  <a:ea typeface="HY헤드라인M" pitchFamily="18" charset="-127"/>
                </a:rPr>
                <a:t>불가피형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 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: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 본인의 의지보다는 주위의 여건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,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환경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,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건강악화 등으로 인한 불가피한 상황으로 더 이상의 훈련을 학습할 수 없어 중도포기 하는 유형</a:t>
              </a:r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 algn="just">
                <a:lnSpc>
                  <a:spcPct val="110000"/>
                </a:lnSpc>
                <a:buAutoNum type="arabicParenBoth"/>
              </a:pPr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 algn="just">
                <a:lnSpc>
                  <a:spcPct val="110000"/>
                </a:lnSpc>
                <a:buAutoNum type="arabicParenBoth"/>
              </a:pPr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 algn="just">
                <a:lnSpc>
                  <a:spcPct val="110000"/>
                </a:lnSpc>
                <a:buAutoNum type="arabicParenBoth"/>
              </a:pPr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 algn="just">
                <a:lnSpc>
                  <a:spcPct val="110000"/>
                </a:lnSpc>
              </a:pP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 </a:t>
              </a:r>
              <a:endParaRPr lang="ko-KR" altLang="en-US" sz="1200" dirty="0">
                <a:effectLst/>
                <a:latin typeface="HY헤드라인M" pitchFamily="18" charset="-127"/>
                <a:ea typeface="HY헤드라인M" pitchFamily="18" charset="-127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1"/>
          <p:cNvSpPr>
            <a:spLocks noGrp="1"/>
          </p:cNvSpPr>
          <p:nvPr>
            <p:ph type="title"/>
          </p:nvPr>
        </p:nvSpPr>
        <p:spPr>
          <a:xfrm>
            <a:off x="0" y="590550"/>
            <a:ext cx="8229600" cy="400050"/>
          </a:xfrm>
        </p:spPr>
        <p:txBody>
          <a:bodyPr/>
          <a:lstStyle/>
          <a:p>
            <a:r>
              <a:rPr lang="en-US" altLang="ko-KR" dirty="0"/>
              <a:t>Ⅲ. </a:t>
            </a:r>
            <a:r>
              <a:rPr lang="ko-KR" altLang="en-US" dirty="0"/>
              <a:t>중도탈락 원인분석</a:t>
            </a:r>
            <a:r>
              <a:rPr lang="en-US" altLang="ko-KR" dirty="0"/>
              <a:t>(2)</a:t>
            </a:r>
            <a:endParaRPr lang="ko-KR" altLang="en-US" dirty="0"/>
          </a:p>
        </p:txBody>
      </p:sp>
      <p:grpSp>
        <p:nvGrpSpPr>
          <p:cNvPr id="2" name="그룹 9"/>
          <p:cNvGrpSpPr/>
          <p:nvPr/>
        </p:nvGrpSpPr>
        <p:grpSpPr>
          <a:xfrm>
            <a:off x="304800" y="1371597"/>
            <a:ext cx="8610600" cy="5181599"/>
            <a:chOff x="4932040" y="4581128"/>
            <a:chExt cx="3929090" cy="1872208"/>
          </a:xfrm>
        </p:grpSpPr>
        <p:sp>
          <p:nvSpPr>
            <p:cNvPr id="11" name="모서리가 둥근 직사각형 10"/>
            <p:cNvSpPr/>
            <p:nvPr/>
          </p:nvSpPr>
          <p:spPr>
            <a:xfrm>
              <a:off x="4932040" y="4581128"/>
              <a:ext cx="3929090" cy="1872208"/>
            </a:xfrm>
            <a:prstGeom prst="roundRect">
              <a:avLst>
                <a:gd name="adj" fmla="val 4133"/>
              </a:avLst>
            </a:prstGeom>
            <a:solidFill>
              <a:schemeClr val="bg1"/>
            </a:solidFill>
            <a:ln w="25400">
              <a:solidFill>
                <a:srgbClr val="51A1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헤드라인M" pitchFamily="18" charset="-127"/>
                <a:ea typeface="HY헤드라인M" pitchFamily="18" charset="-127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004048" y="4653136"/>
              <a:ext cx="3785651" cy="122326"/>
            </a:xfrm>
            <a:prstGeom prst="rect">
              <a:avLst/>
            </a:prstGeom>
            <a:solidFill>
              <a:srgbClr val="002060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 latinLnBrk="0">
                <a:defRPr/>
              </a:pPr>
              <a:r>
                <a:rPr lang="ko-KR" altLang="en-US" sz="1600" dirty="0">
                  <a:solidFill>
                    <a:schemeClr val="bg1"/>
                  </a:solidFill>
                  <a:latin typeface="HY헤드라인M" pitchFamily="18" charset="-127"/>
                  <a:ea typeface="HY헤드라인M" pitchFamily="18" charset="-127"/>
                </a:rPr>
                <a:t>중도탈락자의 공통된 특성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004048" y="4828920"/>
              <a:ext cx="3785651" cy="1559655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>
                <a:lnSpc>
                  <a:spcPct val="110000"/>
                </a:lnSpc>
              </a:pPr>
              <a:endParaRPr lang="en-US" altLang="ko-KR" sz="11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훈련부적응으로 성적부진과 열의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,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동기가 미약하다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. (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훈련목표 </a:t>
              </a:r>
              <a:r>
                <a:rPr lang="ko-KR" altLang="en-US" sz="1600" dirty="0"/>
                <a:t>≠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나의 취업계획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]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 </a:t>
              </a:r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algn="just">
                <a:lnSpc>
                  <a:spcPct val="110000"/>
                </a:lnSpc>
              </a:pPr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algn="just">
                <a:lnSpc>
                  <a:spcPct val="110000"/>
                </a:lnSpc>
              </a:pPr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 algn="just">
                <a:lnSpc>
                  <a:spcPct val="110000"/>
                </a:lnSpc>
                <a:buAutoNum type="arabicParenBoth"/>
              </a:pP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장래에 대한 계획이 없다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.</a:t>
              </a:r>
            </a:p>
            <a:p>
              <a:pPr marL="342900" indent="-342900" algn="just">
                <a:lnSpc>
                  <a:spcPct val="110000"/>
                </a:lnSpc>
                <a:buAutoNum type="arabicParenBoth"/>
              </a:pPr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 algn="just">
                <a:lnSpc>
                  <a:spcPct val="110000"/>
                </a:lnSpc>
                <a:buAutoNum type="arabicParenBoth"/>
              </a:pP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가정환경이 좋지 않다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.</a:t>
              </a:r>
            </a:p>
            <a:p>
              <a:pPr marL="342900" indent="-342900" algn="just">
                <a:lnSpc>
                  <a:spcPct val="110000"/>
                </a:lnSpc>
                <a:buAutoNum type="arabicParenBoth"/>
              </a:pPr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 algn="just">
                <a:lnSpc>
                  <a:spcPct val="110000"/>
                </a:lnSpc>
                <a:buAutoNum type="arabicParenBoth"/>
              </a:pP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비행성향이 있다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.</a:t>
              </a:r>
            </a:p>
            <a:p>
              <a:pPr marL="342900" indent="-342900" algn="just">
                <a:lnSpc>
                  <a:spcPct val="110000"/>
                </a:lnSpc>
                <a:buAutoNum type="arabicParenBoth"/>
              </a:pPr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 algn="just">
                <a:lnSpc>
                  <a:spcPct val="110000"/>
                </a:lnSpc>
                <a:buAutoNum type="arabicParenBoth"/>
              </a:pP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연령이 너무 높거나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,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너무 낮다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.</a:t>
              </a:r>
            </a:p>
            <a:p>
              <a:pPr marL="342900" indent="-342900" algn="just">
                <a:lnSpc>
                  <a:spcPct val="110000"/>
                </a:lnSpc>
                <a:buAutoNum type="arabicParenBoth"/>
              </a:pPr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 algn="just">
                <a:lnSpc>
                  <a:spcPct val="110000"/>
                </a:lnSpc>
                <a:buAutoNum type="arabicParenBoth"/>
              </a:pP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학력이 낮다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.</a:t>
              </a:r>
            </a:p>
            <a:p>
              <a:pPr marL="342900" indent="-342900" algn="just">
                <a:lnSpc>
                  <a:spcPct val="110000"/>
                </a:lnSpc>
                <a:buAutoNum type="arabicParenBoth"/>
              </a:pPr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 algn="just">
                <a:lnSpc>
                  <a:spcPct val="110000"/>
                </a:lnSpc>
                <a:buAutoNum type="arabicParenBoth"/>
              </a:pPr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 algn="just">
                <a:lnSpc>
                  <a:spcPct val="110000"/>
                </a:lnSpc>
                <a:buAutoNum type="arabicParenBoth"/>
              </a:pPr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462607" y="1295400"/>
            <a:ext cx="8224194" cy="338554"/>
          </a:xfrm>
          <a:prstGeom prst="rect">
            <a:avLst/>
          </a:prstGeom>
          <a:solidFill>
            <a:srgbClr val="00206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 latinLnBrk="0">
              <a:defRPr/>
            </a:pPr>
            <a:r>
              <a:rPr lang="ko-KR" altLang="en-US" sz="1600" dirty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중도탈락 원인 종합분석표</a:t>
            </a:r>
          </a:p>
        </p:txBody>
      </p:sp>
      <p:sp>
        <p:nvSpPr>
          <p:cNvPr id="16" name="제목 1"/>
          <p:cNvSpPr>
            <a:spLocks noGrp="1"/>
          </p:cNvSpPr>
          <p:nvPr>
            <p:ph type="title"/>
          </p:nvPr>
        </p:nvSpPr>
        <p:spPr>
          <a:xfrm>
            <a:off x="0" y="590550"/>
            <a:ext cx="8229600" cy="400050"/>
          </a:xfrm>
        </p:spPr>
        <p:txBody>
          <a:bodyPr/>
          <a:lstStyle/>
          <a:p>
            <a:r>
              <a:rPr lang="en-US" altLang="ko-KR" dirty="0"/>
              <a:t>Ⅲ. </a:t>
            </a:r>
            <a:r>
              <a:rPr lang="ko-KR" altLang="en-US" dirty="0"/>
              <a:t>중도탈락 원인분석</a:t>
            </a:r>
            <a:r>
              <a:rPr lang="en-US" altLang="ko-KR" dirty="0"/>
              <a:t>(3)</a:t>
            </a:r>
            <a:endParaRPr lang="ko-KR" altLang="en-US" dirty="0"/>
          </a:p>
        </p:txBody>
      </p:sp>
      <p:graphicFrame>
        <p:nvGraphicFramePr>
          <p:cNvPr id="17" name="표 16"/>
          <p:cNvGraphicFramePr>
            <a:graphicFrameLocks noGrp="1"/>
          </p:cNvGraphicFramePr>
          <p:nvPr/>
        </p:nvGraphicFramePr>
        <p:xfrm>
          <a:off x="457200" y="1752600"/>
          <a:ext cx="8229600" cy="2305050"/>
        </p:xfrm>
        <a:graphic>
          <a:graphicData uri="http://schemas.openxmlformats.org/drawingml/2006/table">
            <a:tbl>
              <a:tblPr/>
              <a:tblGrid>
                <a:gridCol w="13247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710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337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err="1">
                          <a:solidFill>
                            <a:srgbClr val="FFFFFF"/>
                          </a:solidFill>
                          <a:latin typeface="맑은 고딕"/>
                        </a:rPr>
                        <a:t>변인군</a:t>
                      </a:r>
                      <a:endParaRPr lang="ko-KR" altLang="en-US" sz="1100" b="1" i="0" u="none" strike="noStrike" dirty="0">
                        <a:solidFill>
                          <a:srgbClr val="FFFFFF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FFFFFF"/>
                          </a:solidFill>
                          <a:latin typeface="맑은 고딕"/>
                        </a:rPr>
                        <a:t>변인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FFFFFF"/>
                          </a:solidFill>
                          <a:latin typeface="맑은 고딕"/>
                        </a:rPr>
                        <a:t>세부내용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550">
                <a:tc rowSpan="10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개인변인군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학습자 배경변인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나이</a:t>
                      </a: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&amp;</a:t>
                      </a:r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결혼여부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95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학습에 대한 자아개념 변인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훈련목표에 대한 인식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95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err="1">
                          <a:solidFill>
                            <a:srgbClr val="000000"/>
                          </a:solidFill>
                          <a:latin typeface="맑은 고딕"/>
                        </a:rPr>
                        <a:t>지적능력에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 대한 자아개념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95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자기신뢰감</a:t>
                      </a: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&amp;</a:t>
                      </a:r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자존감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95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훈련포부수준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95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외부요인으로 인한 변인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훈련비용 </a:t>
                      </a:r>
                      <a:r>
                        <a:rPr lang="ko-KR" altLang="en-US" sz="1100" b="1" i="0" u="none" strike="noStrike" dirty="0" err="1">
                          <a:solidFill>
                            <a:srgbClr val="000000"/>
                          </a:solidFill>
                          <a:latin typeface="맑은 고딕"/>
                        </a:rPr>
                        <a:t>자각정도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95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가족의 지원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95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통학에 걸리는 시간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95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직업과 학습시간과의 갈등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95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err="1">
                          <a:solidFill>
                            <a:srgbClr val="000000"/>
                          </a:solidFill>
                          <a:latin typeface="맑은 고딕"/>
                        </a:rPr>
                        <a:t>과정이후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 활용도에 대한 </a:t>
                      </a:r>
                      <a:r>
                        <a:rPr lang="ko-KR" altLang="en-US" sz="1100" b="1" i="0" u="none" strike="noStrike" dirty="0" err="1">
                          <a:solidFill>
                            <a:srgbClr val="000000"/>
                          </a:solidFill>
                          <a:latin typeface="맑은 고딕"/>
                        </a:rPr>
                        <a:t>기대정도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18" name="표 17"/>
          <p:cNvGraphicFramePr>
            <a:graphicFrameLocks noGrp="1"/>
          </p:cNvGraphicFramePr>
          <p:nvPr/>
        </p:nvGraphicFramePr>
        <p:xfrm>
          <a:off x="457200" y="4191000"/>
          <a:ext cx="8229601" cy="2438400"/>
        </p:xfrm>
        <a:graphic>
          <a:graphicData uri="http://schemas.openxmlformats.org/drawingml/2006/table">
            <a:tbl>
              <a:tblPr/>
              <a:tblGrid>
                <a:gridCol w="27511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59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725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566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FFFFFF"/>
                          </a:solidFill>
                          <a:latin typeface="맑은 고딕"/>
                        </a:rPr>
                        <a:t>변인군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FFFFFF"/>
                          </a:solidFill>
                          <a:latin typeface="맑은 고딕"/>
                        </a:rPr>
                        <a:t>변인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FFFFFF"/>
                          </a:solidFill>
                          <a:latin typeface="맑은 고딕"/>
                        </a:rPr>
                        <a:t>세부내용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566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사회구조적변인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사회구조적변인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성</a:t>
                      </a: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&amp;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사회적 배경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5667"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훈련프로그램 실행기관 변인군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학문적 통합변인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지적분위기에 대한 만족도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566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개인의 지적</a:t>
                      </a: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, 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기능적 발달에 대한 만족도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566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사회적 통합변인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동료간</a:t>
                      </a: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, 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강사간 사회적 친밀도에 대한 만족도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566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훈련환경의 변인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과외활동 참여도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566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학급코기에 대한 지각도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566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학습을 위한 캠퍼스 환경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30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훈련과정 운영의 융통성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1"/>
          <p:cNvSpPr>
            <a:spLocks noGrp="1"/>
          </p:cNvSpPr>
          <p:nvPr>
            <p:ph type="title"/>
          </p:nvPr>
        </p:nvSpPr>
        <p:spPr>
          <a:xfrm>
            <a:off x="0" y="590550"/>
            <a:ext cx="8229600" cy="400050"/>
          </a:xfrm>
        </p:spPr>
        <p:txBody>
          <a:bodyPr/>
          <a:lstStyle/>
          <a:p>
            <a:r>
              <a:rPr lang="en-US" altLang="ko-KR" dirty="0"/>
              <a:t>Ⅳ. </a:t>
            </a:r>
            <a:r>
              <a:rPr lang="ko-KR" altLang="en-US" dirty="0"/>
              <a:t>중도탈락 방지방안 제시</a:t>
            </a:r>
          </a:p>
        </p:txBody>
      </p:sp>
      <p:grpSp>
        <p:nvGrpSpPr>
          <p:cNvPr id="2" name="그룹 9"/>
          <p:cNvGrpSpPr/>
          <p:nvPr/>
        </p:nvGrpSpPr>
        <p:grpSpPr>
          <a:xfrm>
            <a:off x="304800" y="1371598"/>
            <a:ext cx="8610600" cy="5181599"/>
            <a:chOff x="4932040" y="4581128"/>
            <a:chExt cx="3929090" cy="1872208"/>
          </a:xfrm>
        </p:grpSpPr>
        <p:sp>
          <p:nvSpPr>
            <p:cNvPr id="11" name="모서리가 둥근 직사각형 10"/>
            <p:cNvSpPr/>
            <p:nvPr/>
          </p:nvSpPr>
          <p:spPr>
            <a:xfrm>
              <a:off x="4932040" y="4581128"/>
              <a:ext cx="3929090" cy="1872208"/>
            </a:xfrm>
            <a:prstGeom prst="roundRect">
              <a:avLst>
                <a:gd name="adj" fmla="val 4133"/>
              </a:avLst>
            </a:prstGeom>
            <a:solidFill>
              <a:schemeClr val="bg1"/>
            </a:solidFill>
            <a:ln w="25400">
              <a:solidFill>
                <a:srgbClr val="51A1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헤드라인M" pitchFamily="18" charset="-127"/>
                <a:ea typeface="HY헤드라인M" pitchFamily="18" charset="-127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004048" y="4608661"/>
              <a:ext cx="3785651" cy="122326"/>
            </a:xfrm>
            <a:prstGeom prst="rect">
              <a:avLst/>
            </a:prstGeom>
            <a:solidFill>
              <a:srgbClr val="002060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 latinLnBrk="0">
                <a:defRPr/>
              </a:pPr>
              <a:r>
                <a:rPr lang="ko-KR" altLang="en-US" sz="1600" dirty="0">
                  <a:solidFill>
                    <a:schemeClr val="bg1"/>
                  </a:solidFill>
                  <a:latin typeface="HY헤드라인M" pitchFamily="18" charset="-127"/>
                  <a:ea typeface="HY헤드라인M" pitchFamily="18" charset="-127"/>
                </a:rPr>
                <a:t>중도탈락 방지방안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004048" y="4746324"/>
              <a:ext cx="3785651" cy="1679201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중도탈락자의 </a:t>
              </a:r>
              <a:r>
                <a:rPr lang="ko-KR" altLang="en-US" sz="1600" dirty="0" err="1">
                  <a:effectLst/>
                  <a:latin typeface="HY헤드라인M" pitchFamily="18" charset="-127"/>
                  <a:ea typeface="HY헤드라인M" pitchFamily="18" charset="-127"/>
                </a:rPr>
                <a:t>여러가지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 유형과 공통된 특성을 분석한 결과 직업훈련기관에서 훈련을 실시해야 할 사항을 </a:t>
              </a:r>
              <a:r>
                <a:rPr lang="ko-KR" altLang="en-US" sz="1600" dirty="0" err="1">
                  <a:effectLst/>
                  <a:latin typeface="HY헤드라인M" pitchFamily="18" charset="-127"/>
                  <a:ea typeface="HY헤드라인M" pitchFamily="18" charset="-127"/>
                </a:rPr>
                <a:t>몇가지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 제시한다면 다음과 같다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.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 </a:t>
              </a:r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algn="just">
                <a:lnSpc>
                  <a:spcPct val="110000"/>
                </a:lnSpc>
              </a:pPr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 algn="just">
                <a:lnSpc>
                  <a:spcPct val="110000"/>
                </a:lnSpc>
                <a:buAutoNum type="arabicParenBoth"/>
              </a:pP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훈련생 개개인이 가지고 있는 목표와 직업훈련기관에서 실시하고 있는 훈련과정과의 </a:t>
              </a:r>
              <a:r>
                <a:rPr lang="ko-KR" altLang="en-US" sz="1600" dirty="0" err="1">
                  <a:effectLst/>
                  <a:latin typeface="HY헤드라인M" pitchFamily="18" charset="-127"/>
                  <a:ea typeface="HY헤드라인M" pitchFamily="18" charset="-127"/>
                </a:rPr>
                <a:t>일치성에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 대한 통합이 필요하다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.</a:t>
              </a:r>
            </a:p>
            <a:p>
              <a:pPr marL="342900" indent="-342900" algn="just">
                <a:lnSpc>
                  <a:spcPct val="110000"/>
                </a:lnSpc>
                <a:buAutoNum type="arabicParenBoth"/>
              </a:pPr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 algn="just">
                <a:lnSpc>
                  <a:spcPct val="110000"/>
                </a:lnSpc>
                <a:buAutoNum type="arabicParenBoth"/>
              </a:pP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훈련생들 개개인의 목표설정에 관한 부분으로 훈련과 인생의 진로에 대한 목표가 없는 맹목적인 태도를 보이는 훈련생들에 대한 목표설정이 필요하다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.</a:t>
              </a:r>
            </a:p>
            <a:p>
              <a:pPr marL="342900" indent="-342900" algn="just">
                <a:lnSpc>
                  <a:spcPct val="110000"/>
                </a:lnSpc>
                <a:buAutoNum type="arabicParenBoth"/>
              </a:pPr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 algn="just">
                <a:lnSpc>
                  <a:spcPct val="110000"/>
                </a:lnSpc>
                <a:buAutoNum type="arabicParenBoth"/>
              </a:pP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학습을 함에 있어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훈련생 개개인의 차이가 집단을 이루게 되고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,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개인과 동일한 집단이 형성되면 다른 집단과의 상호교류를 하지 않는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성향을 나타낸다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.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또한 집단이 형성된 후 긍정적인 방향으로 집단이 이루어지면 긍정적인 결과가 도출되지만 부정적인 방향으로 흘러가면 극심한 이탈 현상이 만들어진다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.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이런 집단에서 일어나는 현상과 집단의 형성은 외부에서 차단할 수 있는 장치가 없는 상황이므로 훈련기관에서는 집단의 형성을 자연스런 결과로 인식하고 긍정적인 집단에 대해서는 적극적인 지원을 하며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,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부정적인 집단에 대해서는 별도의 긍정적인 지원을 하여서 집단에서 오는 이탈에 대한 사전에 방지하는 대책이 필요하다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1"/>
          <p:cNvSpPr>
            <a:spLocks noGrp="1"/>
          </p:cNvSpPr>
          <p:nvPr>
            <p:ph type="title"/>
          </p:nvPr>
        </p:nvSpPr>
        <p:spPr>
          <a:xfrm>
            <a:off x="0" y="590550"/>
            <a:ext cx="8229600" cy="400050"/>
          </a:xfrm>
        </p:spPr>
        <p:txBody>
          <a:bodyPr/>
          <a:lstStyle/>
          <a:p>
            <a:r>
              <a:rPr lang="en-US" altLang="ko-KR" dirty="0"/>
              <a:t>Ⅳ. </a:t>
            </a:r>
            <a:r>
              <a:rPr lang="ko-KR" altLang="en-US" dirty="0"/>
              <a:t>중도탈락 방지방안 제시</a:t>
            </a:r>
            <a:r>
              <a:rPr lang="en-US" altLang="ko-KR" dirty="0"/>
              <a:t>(</a:t>
            </a:r>
            <a:r>
              <a:rPr lang="ko-KR" altLang="en-US" dirty="0"/>
              <a:t>사전교육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2" name="그룹 18"/>
          <p:cNvGrpSpPr/>
          <p:nvPr/>
        </p:nvGrpSpPr>
        <p:grpSpPr>
          <a:xfrm>
            <a:off x="304800" y="1066800"/>
            <a:ext cx="8610600" cy="1371599"/>
            <a:chOff x="4932040" y="4581128"/>
            <a:chExt cx="3929090" cy="2021985"/>
          </a:xfrm>
        </p:grpSpPr>
        <p:sp>
          <p:nvSpPr>
            <p:cNvPr id="8" name="모서리가 둥근 직사각형 7"/>
            <p:cNvSpPr/>
            <p:nvPr/>
          </p:nvSpPr>
          <p:spPr>
            <a:xfrm>
              <a:off x="4932040" y="4581128"/>
              <a:ext cx="3929090" cy="2021985"/>
            </a:xfrm>
            <a:prstGeom prst="roundRect">
              <a:avLst>
                <a:gd name="adj" fmla="val 4133"/>
              </a:avLst>
            </a:prstGeom>
            <a:solidFill>
              <a:schemeClr val="bg1"/>
            </a:solidFill>
            <a:ln w="25400">
              <a:solidFill>
                <a:srgbClr val="51A1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헤드라인M" pitchFamily="18" charset="-127"/>
                <a:ea typeface="HY헤드라인M" pitchFamily="18" charset="-127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004048" y="4653134"/>
              <a:ext cx="3785651" cy="499090"/>
            </a:xfrm>
            <a:prstGeom prst="rect">
              <a:avLst/>
            </a:prstGeom>
            <a:solidFill>
              <a:srgbClr val="002060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 latinLnBrk="0">
                <a:defRPr/>
              </a:pPr>
              <a:r>
                <a:rPr lang="ko-KR" altLang="en-US" sz="1600" dirty="0">
                  <a:solidFill>
                    <a:schemeClr val="bg1"/>
                  </a:solidFill>
                  <a:latin typeface="HY견고딕" pitchFamily="18" charset="-127"/>
                  <a:ea typeface="HY견고딕" pitchFamily="18" charset="-127"/>
                </a:rPr>
                <a:t>훈련과정과의 </a:t>
              </a:r>
              <a:r>
                <a:rPr lang="en-US" altLang="ko-KR" sz="1600" dirty="0">
                  <a:solidFill>
                    <a:schemeClr val="bg1"/>
                  </a:solidFill>
                  <a:latin typeface="HY견고딕" pitchFamily="18" charset="-127"/>
                  <a:ea typeface="HY견고딕" pitchFamily="18" charset="-127"/>
                </a:rPr>
                <a:t>Free-Meeting</a:t>
              </a:r>
              <a:endParaRPr lang="ko-KR" altLang="en-US" sz="1600" dirty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001581" y="5255123"/>
              <a:ext cx="3785651" cy="1184205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lang="ko-KR" altLang="en-US" sz="1400" dirty="0">
                  <a:effectLst/>
                  <a:latin typeface="HY헤드라인M" pitchFamily="18" charset="-127"/>
                  <a:ea typeface="HY헤드라인M" pitchFamily="18" charset="-127"/>
                </a:rPr>
                <a:t>각</a:t>
              </a:r>
              <a:r>
                <a:rPr lang="en-US" altLang="ko-KR" sz="1400" dirty="0">
                  <a:effectLst/>
                  <a:latin typeface="HY헤드라인M" pitchFamily="18" charset="-127"/>
                  <a:ea typeface="HY헤드라인M" pitchFamily="18" charset="-127"/>
                </a:rPr>
                <a:t> </a:t>
              </a:r>
              <a:r>
                <a:rPr lang="ko-KR" altLang="en-US" sz="1400" dirty="0">
                  <a:effectLst/>
                  <a:latin typeface="HY헤드라인M" pitchFamily="18" charset="-127"/>
                  <a:ea typeface="HY헤드라인M" pitchFamily="18" charset="-127"/>
                </a:rPr>
                <a:t>학과에 대한 철저한 사전 오리엔테이션으로 훈련생들의 학과에 정보를 정확히 제공함으로써</a:t>
              </a:r>
              <a:r>
                <a:rPr lang="en-US" altLang="ko-KR" sz="1400" dirty="0">
                  <a:effectLst/>
                  <a:latin typeface="HY헤드라인M" pitchFamily="18" charset="-127"/>
                  <a:ea typeface="HY헤드라인M" pitchFamily="18" charset="-127"/>
                </a:rPr>
                <a:t>, </a:t>
              </a:r>
              <a:r>
                <a:rPr lang="ko-KR" altLang="en-US" sz="1400" dirty="0">
                  <a:effectLst/>
                  <a:latin typeface="HY헤드라인M" pitchFamily="18" charset="-127"/>
                  <a:ea typeface="HY헤드라인M" pitchFamily="18" charset="-127"/>
                </a:rPr>
                <a:t>훈련생들 스스로가 생각하고 있었던 목표와 훈련과정에서 제시하는 목표를 연계 분석하여 훈련생의 판단을 돕는다</a:t>
              </a:r>
              <a:r>
                <a:rPr lang="en-US" altLang="ko-KR" sz="1400" dirty="0">
                  <a:effectLst/>
                  <a:latin typeface="HY헤드라인M" pitchFamily="18" charset="-127"/>
                  <a:ea typeface="HY헤드라인M" pitchFamily="18" charset="-127"/>
                </a:rPr>
                <a:t>.</a:t>
              </a:r>
            </a:p>
          </p:txBody>
        </p:sp>
      </p:grpSp>
      <p:grpSp>
        <p:nvGrpSpPr>
          <p:cNvPr id="7" name="그룹 18"/>
          <p:cNvGrpSpPr/>
          <p:nvPr/>
        </p:nvGrpSpPr>
        <p:grpSpPr>
          <a:xfrm>
            <a:off x="304800" y="2514600"/>
            <a:ext cx="8610600" cy="1371599"/>
            <a:chOff x="4932040" y="4581128"/>
            <a:chExt cx="3929090" cy="2021985"/>
          </a:xfrm>
        </p:grpSpPr>
        <p:sp>
          <p:nvSpPr>
            <p:cNvPr id="11" name="모서리가 둥근 직사각형 10"/>
            <p:cNvSpPr/>
            <p:nvPr/>
          </p:nvSpPr>
          <p:spPr>
            <a:xfrm>
              <a:off x="4932040" y="4581128"/>
              <a:ext cx="3929090" cy="2021985"/>
            </a:xfrm>
            <a:prstGeom prst="roundRect">
              <a:avLst>
                <a:gd name="adj" fmla="val 4133"/>
              </a:avLst>
            </a:prstGeom>
            <a:solidFill>
              <a:schemeClr val="bg1"/>
            </a:solidFill>
            <a:ln w="25400">
              <a:solidFill>
                <a:srgbClr val="51A1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헤드라인M" pitchFamily="18" charset="-127"/>
                <a:ea typeface="HY헤드라인M" pitchFamily="18" charset="-127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004048" y="4653134"/>
              <a:ext cx="3785651" cy="499090"/>
            </a:xfrm>
            <a:prstGeom prst="rect">
              <a:avLst/>
            </a:prstGeom>
            <a:solidFill>
              <a:srgbClr val="002060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 latinLnBrk="0">
                <a:defRPr/>
              </a:pPr>
              <a:r>
                <a:rPr lang="ko-KR" altLang="en-US" sz="1600" dirty="0">
                  <a:solidFill>
                    <a:schemeClr val="bg1"/>
                  </a:solidFill>
                  <a:latin typeface="HY견고딕" pitchFamily="18" charset="-127"/>
                  <a:ea typeface="HY견고딕" pitchFamily="18" charset="-127"/>
                </a:rPr>
                <a:t>담당교사와의 </a:t>
              </a:r>
              <a:r>
                <a:rPr lang="en-US" altLang="ko-KR" sz="1600" dirty="0">
                  <a:solidFill>
                    <a:schemeClr val="bg1"/>
                  </a:solidFill>
                  <a:latin typeface="HY견고딕" pitchFamily="18" charset="-127"/>
                  <a:ea typeface="HY견고딕" pitchFamily="18" charset="-127"/>
                </a:rPr>
                <a:t>Free-Meeting</a:t>
              </a:r>
              <a:endParaRPr lang="ko-KR" altLang="en-US" sz="1600" dirty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001581" y="5255123"/>
              <a:ext cx="3785651" cy="1141763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lang="ko-KR" altLang="en-US" sz="1400" dirty="0">
                  <a:effectLst/>
                  <a:latin typeface="HY헤드라인M" pitchFamily="18" charset="-127"/>
                  <a:ea typeface="HY헤드라인M" pitchFamily="18" charset="-127"/>
                </a:rPr>
                <a:t>학과</a:t>
              </a:r>
              <a:r>
                <a:rPr lang="en-US" altLang="ko-KR" sz="1400" dirty="0">
                  <a:effectLst/>
                  <a:latin typeface="HY헤드라인M" pitchFamily="18" charset="-127"/>
                  <a:ea typeface="HY헤드라인M" pitchFamily="18" charset="-127"/>
                </a:rPr>
                <a:t> </a:t>
              </a:r>
              <a:r>
                <a:rPr lang="ko-KR" altLang="en-US" sz="1400" dirty="0">
                  <a:effectLst/>
                  <a:latin typeface="HY헤드라인M" pitchFamily="18" charset="-127"/>
                  <a:ea typeface="HY헤드라인M" pitchFamily="18" charset="-127"/>
                </a:rPr>
                <a:t>소개와 더불어 담당교사와 훈련생과의 </a:t>
              </a:r>
              <a:r>
                <a:rPr lang="en-US" altLang="ko-KR" sz="1400" dirty="0">
                  <a:effectLst/>
                  <a:latin typeface="HY헤드라인M" pitchFamily="18" charset="-127"/>
                  <a:ea typeface="HY헤드라인M" pitchFamily="18" charset="-127"/>
                </a:rPr>
                <a:t>1:1 </a:t>
              </a:r>
              <a:r>
                <a:rPr lang="ko-KR" altLang="en-US" sz="1400" dirty="0">
                  <a:effectLst/>
                  <a:latin typeface="HY헤드라인M" pitchFamily="18" charset="-127"/>
                  <a:ea typeface="HY헤드라인M" pitchFamily="18" charset="-127"/>
                </a:rPr>
                <a:t>대화를 통해 훈련생이 목표한 내용과 학원에서 목표를 달성하기 위해 제공할 수 있는 훈련서비스에 대해 상담을 실시한다</a:t>
              </a:r>
              <a:r>
                <a:rPr lang="en-US" altLang="ko-KR" sz="1400" dirty="0">
                  <a:effectLst/>
                  <a:latin typeface="HY헤드라인M" pitchFamily="18" charset="-127"/>
                  <a:ea typeface="HY헤드라인M" pitchFamily="18" charset="-127"/>
                </a:rPr>
                <a:t>.</a:t>
              </a:r>
            </a:p>
            <a:p>
              <a:pPr>
                <a:lnSpc>
                  <a:spcPct val="110000"/>
                </a:lnSpc>
              </a:pPr>
              <a:endParaRPr lang="en-US" altLang="ko-KR" sz="1400" dirty="0">
                <a:effectLst/>
                <a:latin typeface="HY헤드라인M" pitchFamily="18" charset="-127"/>
                <a:ea typeface="HY헤드라인M" pitchFamily="18" charset="-127"/>
              </a:endParaRPr>
            </a:p>
          </p:txBody>
        </p:sp>
      </p:grpSp>
      <p:grpSp>
        <p:nvGrpSpPr>
          <p:cNvPr id="15" name="그룹 18"/>
          <p:cNvGrpSpPr/>
          <p:nvPr/>
        </p:nvGrpSpPr>
        <p:grpSpPr>
          <a:xfrm>
            <a:off x="304800" y="3962400"/>
            <a:ext cx="8610600" cy="1371599"/>
            <a:chOff x="4932040" y="4581128"/>
            <a:chExt cx="3929090" cy="2021985"/>
          </a:xfrm>
        </p:grpSpPr>
        <p:sp>
          <p:nvSpPr>
            <p:cNvPr id="16" name="모서리가 둥근 직사각형 15"/>
            <p:cNvSpPr/>
            <p:nvPr/>
          </p:nvSpPr>
          <p:spPr>
            <a:xfrm>
              <a:off x="4932040" y="4581128"/>
              <a:ext cx="3929090" cy="2021985"/>
            </a:xfrm>
            <a:prstGeom prst="roundRect">
              <a:avLst>
                <a:gd name="adj" fmla="val 4133"/>
              </a:avLst>
            </a:prstGeom>
            <a:solidFill>
              <a:schemeClr val="bg1"/>
            </a:solidFill>
            <a:ln w="25400">
              <a:solidFill>
                <a:srgbClr val="51A1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헤드라인M" pitchFamily="18" charset="-127"/>
                <a:ea typeface="HY헤드라인M" pitchFamily="18" charset="-127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004048" y="4653134"/>
              <a:ext cx="3785651" cy="499090"/>
            </a:xfrm>
            <a:prstGeom prst="rect">
              <a:avLst/>
            </a:prstGeom>
            <a:solidFill>
              <a:srgbClr val="002060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 latinLnBrk="0">
                <a:defRPr/>
              </a:pPr>
              <a:r>
                <a:rPr lang="ko-KR" altLang="en-US" sz="1600" dirty="0" err="1">
                  <a:solidFill>
                    <a:schemeClr val="bg1"/>
                  </a:solidFill>
                  <a:latin typeface="HY견고딕" pitchFamily="18" charset="-127"/>
                  <a:ea typeface="HY견고딕" pitchFamily="18" charset="-127"/>
                </a:rPr>
                <a:t>직업상담사와의</a:t>
              </a:r>
              <a:r>
                <a:rPr lang="ko-KR" altLang="en-US" sz="1600" dirty="0">
                  <a:solidFill>
                    <a:schemeClr val="bg1"/>
                  </a:solidFill>
                  <a:latin typeface="HY견고딕" pitchFamily="18" charset="-127"/>
                  <a:ea typeface="HY견고딕" pitchFamily="18" charset="-127"/>
                </a:rPr>
                <a:t> </a:t>
              </a:r>
              <a:r>
                <a:rPr lang="en-US" altLang="ko-KR" sz="1600" dirty="0">
                  <a:solidFill>
                    <a:schemeClr val="bg1"/>
                  </a:solidFill>
                  <a:latin typeface="HY견고딕" pitchFamily="18" charset="-127"/>
                  <a:ea typeface="HY견고딕" pitchFamily="18" charset="-127"/>
                </a:rPr>
                <a:t>Free-Meeting</a:t>
              </a:r>
              <a:endParaRPr lang="ko-KR" altLang="en-US" sz="1600" dirty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001581" y="5255123"/>
              <a:ext cx="3785651" cy="1184205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lang="ko-KR" altLang="en-US" sz="1400" dirty="0">
                  <a:effectLst/>
                  <a:latin typeface="HY헤드라인M" pitchFamily="18" charset="-127"/>
                  <a:ea typeface="HY헤드라인M" pitchFamily="18" charset="-127"/>
                </a:rPr>
                <a:t>본인의 목표가 명확히 서있지 않은 훈련생의 경우 훈련기관 내 별도의 취업상담실 운영으로 </a:t>
              </a:r>
              <a:r>
                <a:rPr lang="ko-KR" altLang="en-US" sz="1400" dirty="0" err="1">
                  <a:effectLst/>
                  <a:latin typeface="HY헤드라인M" pitchFamily="18" charset="-127"/>
                  <a:ea typeface="HY헤드라인M" pitchFamily="18" charset="-127"/>
                </a:rPr>
                <a:t>직업상담사와</a:t>
              </a:r>
              <a:r>
                <a:rPr lang="ko-KR" altLang="en-US" sz="1400" dirty="0">
                  <a:effectLst/>
                  <a:latin typeface="HY헤드라인M" pitchFamily="18" charset="-127"/>
                  <a:ea typeface="HY헤드라인M" pitchFamily="18" charset="-127"/>
                </a:rPr>
                <a:t> 상담을 통해 적성과 흥미</a:t>
              </a:r>
              <a:r>
                <a:rPr lang="en-US" altLang="ko-KR" sz="1400" dirty="0">
                  <a:effectLst/>
                  <a:latin typeface="HY헤드라인M" pitchFamily="18" charset="-127"/>
                  <a:ea typeface="HY헤드라인M" pitchFamily="18" charset="-127"/>
                </a:rPr>
                <a:t>, </a:t>
              </a:r>
              <a:r>
                <a:rPr lang="ko-KR" altLang="en-US" sz="1400" dirty="0">
                  <a:effectLst/>
                  <a:latin typeface="HY헤드라인M" pitchFamily="18" charset="-127"/>
                  <a:ea typeface="HY헤드라인M" pitchFamily="18" charset="-127"/>
                </a:rPr>
                <a:t>목표에 대한 지도를 받는다</a:t>
              </a:r>
              <a:r>
                <a:rPr lang="en-US" altLang="ko-KR" sz="1400" dirty="0">
                  <a:effectLst/>
                  <a:latin typeface="HY헤드라인M" pitchFamily="18" charset="-127"/>
                  <a:ea typeface="HY헤드라인M" pitchFamily="18" charset="-127"/>
                </a:rPr>
                <a:t>.</a:t>
              </a:r>
            </a:p>
            <a:p>
              <a:pPr>
                <a:lnSpc>
                  <a:spcPct val="110000"/>
                </a:lnSpc>
              </a:pPr>
              <a:endParaRPr lang="en-US" altLang="ko-KR" sz="1400" dirty="0">
                <a:effectLst/>
                <a:latin typeface="HY헤드라인M" pitchFamily="18" charset="-127"/>
                <a:ea typeface="HY헤드라인M" pitchFamily="18" charset="-127"/>
              </a:endParaRPr>
            </a:p>
          </p:txBody>
        </p:sp>
      </p:grpSp>
      <p:grpSp>
        <p:nvGrpSpPr>
          <p:cNvPr id="19" name="그룹 18"/>
          <p:cNvGrpSpPr/>
          <p:nvPr/>
        </p:nvGrpSpPr>
        <p:grpSpPr>
          <a:xfrm>
            <a:off x="304800" y="5410201"/>
            <a:ext cx="8610600" cy="1371599"/>
            <a:chOff x="4932040" y="4581128"/>
            <a:chExt cx="3929090" cy="2021985"/>
          </a:xfrm>
        </p:grpSpPr>
        <p:sp>
          <p:nvSpPr>
            <p:cNvPr id="20" name="모서리가 둥근 직사각형 19"/>
            <p:cNvSpPr/>
            <p:nvPr/>
          </p:nvSpPr>
          <p:spPr>
            <a:xfrm>
              <a:off x="4932040" y="4581128"/>
              <a:ext cx="3929090" cy="2021985"/>
            </a:xfrm>
            <a:prstGeom prst="roundRect">
              <a:avLst>
                <a:gd name="adj" fmla="val 4133"/>
              </a:avLst>
            </a:prstGeom>
            <a:solidFill>
              <a:schemeClr val="bg1"/>
            </a:solidFill>
            <a:ln w="25400">
              <a:solidFill>
                <a:srgbClr val="51A1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헤드라인M" pitchFamily="18" charset="-127"/>
                <a:ea typeface="HY헤드라인M" pitchFamily="18" charset="-127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004048" y="4653134"/>
              <a:ext cx="3785651" cy="499090"/>
            </a:xfrm>
            <a:prstGeom prst="rect">
              <a:avLst/>
            </a:prstGeom>
            <a:solidFill>
              <a:srgbClr val="002060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 latinLnBrk="0">
                <a:defRPr/>
              </a:pPr>
              <a:r>
                <a:rPr lang="ko-KR" altLang="en-US" sz="1600" dirty="0">
                  <a:solidFill>
                    <a:schemeClr val="bg1"/>
                  </a:solidFill>
                  <a:latin typeface="HY견고딕" pitchFamily="18" charset="-127"/>
                  <a:ea typeface="HY견고딕" pitchFamily="18" charset="-127"/>
                </a:rPr>
                <a:t>성취프로그램 참여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001581" y="5255123"/>
              <a:ext cx="3785651" cy="1141763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lang="ko-KR" altLang="en-US" sz="1400" dirty="0">
                  <a:effectLst/>
                  <a:latin typeface="HY헤드라인M" pitchFamily="18" charset="-127"/>
                  <a:ea typeface="HY헤드라인M" pitchFamily="18" charset="-127"/>
                </a:rPr>
                <a:t>훈련에 입학하기 전의 훈련생을 대상으로 본인의 희망에 따라 성취프로그램에 참여를 시켜 개인의 목표와 역량을 개발할 수 있는 기회를 제공하고</a:t>
              </a:r>
              <a:r>
                <a:rPr lang="en-US" altLang="ko-KR" sz="1400" dirty="0">
                  <a:effectLst/>
                  <a:latin typeface="HY헤드라인M" pitchFamily="18" charset="-127"/>
                  <a:ea typeface="HY헤드라인M" pitchFamily="18" charset="-127"/>
                </a:rPr>
                <a:t>, </a:t>
              </a:r>
              <a:r>
                <a:rPr lang="ko-KR" altLang="en-US" sz="1400" dirty="0">
                  <a:effectLst/>
                  <a:latin typeface="HY헤드라인M" pitchFamily="18" charset="-127"/>
                  <a:ea typeface="HY헤드라인M" pitchFamily="18" charset="-127"/>
                </a:rPr>
                <a:t>훈련과정과 연계시켜 경력을 쌓을 수 있도록 한다</a:t>
              </a:r>
              <a:r>
                <a:rPr lang="en-US" altLang="ko-KR" sz="1400" dirty="0">
                  <a:effectLst/>
                  <a:latin typeface="HY헤드라인M" pitchFamily="18" charset="-127"/>
                  <a:ea typeface="HY헤드라인M" pitchFamily="18" charset="-127"/>
                </a:rPr>
                <a:t>.</a:t>
              </a:r>
            </a:p>
            <a:p>
              <a:pPr>
                <a:lnSpc>
                  <a:spcPct val="110000"/>
                </a:lnSpc>
              </a:pPr>
              <a:endParaRPr lang="en-US" altLang="ko-KR" sz="1400" dirty="0">
                <a:effectLst/>
                <a:latin typeface="HY헤드라인M" pitchFamily="18" charset="-127"/>
                <a:ea typeface="HY헤드라인M" pitchFamily="18" charset="-127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1"/>
          <p:cNvSpPr>
            <a:spLocks noGrp="1"/>
          </p:cNvSpPr>
          <p:nvPr>
            <p:ph type="title"/>
          </p:nvPr>
        </p:nvSpPr>
        <p:spPr>
          <a:xfrm>
            <a:off x="0" y="590550"/>
            <a:ext cx="8229600" cy="400050"/>
          </a:xfrm>
        </p:spPr>
        <p:txBody>
          <a:bodyPr/>
          <a:lstStyle/>
          <a:p>
            <a:r>
              <a:rPr lang="en-US" altLang="ko-KR" dirty="0"/>
              <a:t>Ⅳ. </a:t>
            </a:r>
            <a:r>
              <a:rPr lang="ko-KR" altLang="en-US" dirty="0"/>
              <a:t>중도탈락 방지방안 제시</a:t>
            </a:r>
          </a:p>
        </p:txBody>
      </p:sp>
      <p:grpSp>
        <p:nvGrpSpPr>
          <p:cNvPr id="2" name="그룹 9"/>
          <p:cNvGrpSpPr/>
          <p:nvPr/>
        </p:nvGrpSpPr>
        <p:grpSpPr>
          <a:xfrm>
            <a:off x="304800" y="1371598"/>
            <a:ext cx="8610600" cy="5181599"/>
            <a:chOff x="4932040" y="4581128"/>
            <a:chExt cx="3929090" cy="1872208"/>
          </a:xfrm>
        </p:grpSpPr>
        <p:sp>
          <p:nvSpPr>
            <p:cNvPr id="11" name="모서리가 둥근 직사각형 10"/>
            <p:cNvSpPr/>
            <p:nvPr/>
          </p:nvSpPr>
          <p:spPr>
            <a:xfrm>
              <a:off x="4932040" y="4581128"/>
              <a:ext cx="3929090" cy="1872208"/>
            </a:xfrm>
            <a:prstGeom prst="roundRect">
              <a:avLst>
                <a:gd name="adj" fmla="val 4133"/>
              </a:avLst>
            </a:prstGeom>
            <a:solidFill>
              <a:schemeClr val="bg1"/>
            </a:solidFill>
            <a:ln w="25400">
              <a:solidFill>
                <a:srgbClr val="51A1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헤드라인M" pitchFamily="18" charset="-127"/>
                <a:ea typeface="HY헤드라인M" pitchFamily="18" charset="-127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004048" y="4608661"/>
              <a:ext cx="3785651" cy="122326"/>
            </a:xfrm>
            <a:prstGeom prst="rect">
              <a:avLst/>
            </a:prstGeom>
            <a:solidFill>
              <a:srgbClr val="002060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 latinLnBrk="0">
                <a:defRPr/>
              </a:pPr>
              <a:r>
                <a:rPr lang="ko-KR" altLang="en-US" sz="1600" dirty="0">
                  <a:solidFill>
                    <a:schemeClr val="bg1"/>
                  </a:solidFill>
                  <a:latin typeface="HY헤드라인M" pitchFamily="18" charset="-127"/>
                  <a:ea typeface="HY헤드라인M" pitchFamily="18" charset="-127"/>
                </a:rPr>
                <a:t>정기적인 상담 </a:t>
              </a:r>
              <a:r>
                <a:rPr lang="en-US" altLang="ko-KR" sz="1600" dirty="0">
                  <a:solidFill>
                    <a:schemeClr val="bg1"/>
                  </a:solidFill>
                  <a:latin typeface="HY헤드라인M" pitchFamily="18" charset="-127"/>
                  <a:ea typeface="HY헤드라인M" pitchFamily="18" charset="-127"/>
                </a:rPr>
                <a:t>– </a:t>
              </a:r>
              <a:r>
                <a:rPr lang="ko-KR" altLang="en-US" sz="1600" dirty="0">
                  <a:solidFill>
                    <a:schemeClr val="bg1"/>
                  </a:solidFill>
                  <a:latin typeface="HY헤드라인M" pitchFamily="18" charset="-127"/>
                  <a:ea typeface="HY헤드라인M" pitchFamily="18" charset="-127"/>
                </a:rPr>
                <a:t>출발점 상담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004048" y="4746324"/>
              <a:ext cx="3785651" cy="1599134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10000"/>
                </a:lnSpc>
              </a:pP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출발점 상담은 훈련생들의 학습에 대한 부적응을 최소화 하는 개입을 실시한다면 직업훈련교사 및 </a:t>
              </a:r>
              <a:r>
                <a:rPr lang="ko-KR" altLang="en-US" sz="1600" dirty="0" err="1">
                  <a:effectLst/>
                  <a:latin typeface="HY헤드라인M" pitchFamily="18" charset="-127"/>
                  <a:ea typeface="HY헤드라인M" pitchFamily="18" charset="-127"/>
                </a:rPr>
                <a:t>직업상담사는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 직업훈련에 들어가기 전 예비수업을 통해 반드시 다음과 같은 사항을 반드시 상담과정에서 질문해야 할 것이다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.</a:t>
              </a:r>
            </a:p>
            <a:p>
              <a:pPr algn="just">
                <a:lnSpc>
                  <a:spcPct val="110000"/>
                </a:lnSpc>
              </a:pPr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 algn="just">
                <a:lnSpc>
                  <a:spcPct val="110000"/>
                </a:lnSpc>
                <a:buAutoNum type="arabicParenBoth"/>
              </a:pP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현재 자신이 갖고 있는 직업에 대한 인식</a:t>
              </a:r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 algn="just">
                <a:lnSpc>
                  <a:spcPct val="110000"/>
                </a:lnSpc>
              </a:pP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예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)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직업은 삶을 살아가는 데 돈을 벌기 위한 것입니까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?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인생의 가치를 발견하기 </a:t>
              </a:r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 algn="just">
                <a:lnSpc>
                  <a:spcPct val="110000"/>
                </a:lnSpc>
              </a:pP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    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위한 것입니까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?</a:t>
              </a:r>
            </a:p>
            <a:p>
              <a:pPr marL="342900" indent="-342900" algn="just">
                <a:lnSpc>
                  <a:spcPct val="110000"/>
                </a:lnSpc>
                <a:buAutoNum type="arabicParenBoth" startAt="2"/>
              </a:pP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미래 자신이 갖게 될 직업에 대한 인식</a:t>
              </a:r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 algn="just">
                <a:lnSpc>
                  <a:spcPct val="110000"/>
                </a:lnSpc>
              </a:pP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예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)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자신이 원하는 직업을 가졌을 경우 그 직업으로 인해 당신의 삶은 어떻게 될 것으로 생각됩니까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?</a:t>
              </a:r>
            </a:p>
            <a:p>
              <a:pPr marL="342900" indent="-342900" algn="just">
                <a:lnSpc>
                  <a:spcPct val="110000"/>
                </a:lnSpc>
                <a:buAutoNum type="arabicParenBoth" startAt="3"/>
              </a:pP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현재 자신이 갖고 있는 관련 학과의 소양</a:t>
              </a:r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 algn="just">
                <a:lnSpc>
                  <a:spcPct val="110000"/>
                </a:lnSpc>
              </a:pP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예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) </a:t>
              </a:r>
              <a:r>
                <a:rPr lang="ko-KR" altLang="en-US" sz="1600" dirty="0" err="1">
                  <a:effectLst/>
                  <a:latin typeface="HY헤드라인M" pitchFamily="18" charset="-127"/>
                  <a:ea typeface="HY헤드라인M" pitchFamily="18" charset="-127"/>
                </a:rPr>
                <a:t>편집디자인에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 관한 내용을 당신은 학습한 경험이 있습니까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? </a:t>
              </a:r>
            </a:p>
            <a:p>
              <a:pPr marL="342900" indent="-342900" algn="just">
                <a:lnSpc>
                  <a:spcPct val="110000"/>
                </a:lnSpc>
              </a:pP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    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관련 학습을 하지 않았다면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,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왜 이 과정을 수강하시려고 합니까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?</a:t>
              </a:r>
            </a:p>
            <a:p>
              <a:pPr marL="342900" indent="-342900" algn="just">
                <a:lnSpc>
                  <a:spcPct val="110000"/>
                </a:lnSpc>
                <a:buAutoNum type="arabicParenBoth" startAt="4"/>
              </a:pP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미래 자신이 갖게 될 관련 학과의 소양</a:t>
              </a:r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 algn="just">
                <a:lnSpc>
                  <a:spcPct val="110000"/>
                </a:lnSpc>
              </a:pP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예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)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당신이 과정을 이수한 후 이 분야에 어느 정도의 수준이 될 것 같습니까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?</a:t>
              </a:r>
            </a:p>
            <a:p>
              <a:pPr marL="342900" indent="-342900" algn="just">
                <a:lnSpc>
                  <a:spcPct val="110000"/>
                </a:lnSpc>
              </a:pPr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1"/>
          <p:cNvSpPr>
            <a:spLocks noGrp="1"/>
          </p:cNvSpPr>
          <p:nvPr>
            <p:ph type="title"/>
          </p:nvPr>
        </p:nvSpPr>
        <p:spPr>
          <a:xfrm>
            <a:off x="0" y="590550"/>
            <a:ext cx="8229600" cy="400050"/>
          </a:xfrm>
        </p:spPr>
        <p:txBody>
          <a:bodyPr/>
          <a:lstStyle/>
          <a:p>
            <a:r>
              <a:rPr lang="en-US" altLang="ko-KR" dirty="0"/>
              <a:t>Ⅳ. </a:t>
            </a:r>
            <a:r>
              <a:rPr lang="ko-KR" altLang="en-US" dirty="0"/>
              <a:t>중도탈락 방지방안 제시</a:t>
            </a:r>
          </a:p>
        </p:txBody>
      </p:sp>
      <p:grpSp>
        <p:nvGrpSpPr>
          <p:cNvPr id="2" name="그룹 9"/>
          <p:cNvGrpSpPr/>
          <p:nvPr/>
        </p:nvGrpSpPr>
        <p:grpSpPr>
          <a:xfrm>
            <a:off x="304800" y="1371598"/>
            <a:ext cx="8610600" cy="5181599"/>
            <a:chOff x="4932040" y="4581128"/>
            <a:chExt cx="3929090" cy="1872208"/>
          </a:xfrm>
        </p:grpSpPr>
        <p:sp>
          <p:nvSpPr>
            <p:cNvPr id="11" name="모서리가 둥근 직사각형 10"/>
            <p:cNvSpPr/>
            <p:nvPr/>
          </p:nvSpPr>
          <p:spPr>
            <a:xfrm>
              <a:off x="4932040" y="4581128"/>
              <a:ext cx="3929090" cy="1872208"/>
            </a:xfrm>
            <a:prstGeom prst="roundRect">
              <a:avLst>
                <a:gd name="adj" fmla="val 4133"/>
              </a:avLst>
            </a:prstGeom>
            <a:solidFill>
              <a:schemeClr val="bg1"/>
            </a:solidFill>
            <a:ln w="25400">
              <a:solidFill>
                <a:srgbClr val="51A1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헤드라인M" pitchFamily="18" charset="-127"/>
                <a:ea typeface="HY헤드라인M" pitchFamily="18" charset="-127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004048" y="4608661"/>
              <a:ext cx="3785651" cy="122326"/>
            </a:xfrm>
            <a:prstGeom prst="rect">
              <a:avLst/>
            </a:prstGeom>
            <a:solidFill>
              <a:srgbClr val="002060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 latinLnBrk="0">
                <a:defRPr/>
              </a:pPr>
              <a:r>
                <a:rPr lang="ko-KR" altLang="en-US" sz="1600" dirty="0">
                  <a:solidFill>
                    <a:schemeClr val="bg1"/>
                  </a:solidFill>
                  <a:latin typeface="HY헤드라인M" pitchFamily="18" charset="-127"/>
                  <a:ea typeface="HY헤드라인M" pitchFamily="18" charset="-127"/>
                </a:rPr>
                <a:t>정기적인 상담 </a:t>
              </a:r>
              <a:r>
                <a:rPr lang="en-US" altLang="ko-KR" sz="1600" dirty="0">
                  <a:solidFill>
                    <a:schemeClr val="bg1"/>
                  </a:solidFill>
                  <a:latin typeface="HY헤드라인M" pitchFamily="18" charset="-127"/>
                  <a:ea typeface="HY헤드라인M" pitchFamily="18" charset="-127"/>
                </a:rPr>
                <a:t>– </a:t>
              </a:r>
              <a:r>
                <a:rPr lang="ko-KR" altLang="en-US" sz="1600" dirty="0">
                  <a:solidFill>
                    <a:schemeClr val="bg1"/>
                  </a:solidFill>
                  <a:latin typeface="HY헤드라인M" pitchFamily="18" charset="-127"/>
                  <a:ea typeface="HY헤드라인M" pitchFamily="18" charset="-127"/>
                </a:rPr>
                <a:t>출발점 상담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004048" y="4746324"/>
              <a:ext cx="3785651" cy="1599134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marL="342900" indent="-342900" algn="just">
                <a:lnSpc>
                  <a:spcPct val="110000"/>
                </a:lnSpc>
              </a:pPr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 algn="just">
                <a:lnSpc>
                  <a:spcPct val="110000"/>
                </a:lnSpc>
              </a:pP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(5)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현재 관련 학과를 지원하게 된 동기가 직업 결정을 위한 선택인지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아니면 현재 상황을</a:t>
              </a:r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 algn="just">
                <a:lnSpc>
                  <a:spcPct val="110000"/>
                </a:lnSpc>
              </a:pP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  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 회피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,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도피하기 위한 선택인지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?</a:t>
              </a:r>
            </a:p>
            <a:p>
              <a:pPr marL="342900" indent="-342900" algn="just">
                <a:lnSpc>
                  <a:spcPct val="110000"/>
                </a:lnSpc>
              </a:pP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(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예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)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이 훈련과정을 통해 취업을 하기 위함입니까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?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아니면 무의미한 시간을 보내기 </a:t>
              </a:r>
              <a:r>
                <a:rPr lang="ko-KR" altLang="en-US" sz="1600" dirty="0" err="1">
                  <a:effectLst/>
                  <a:latin typeface="HY헤드라인M" pitchFamily="18" charset="-127"/>
                  <a:ea typeface="HY헤드라인M" pitchFamily="18" charset="-127"/>
                </a:rPr>
                <a:t>위함입</a:t>
              </a:r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 algn="just">
                <a:lnSpc>
                  <a:spcPct val="110000"/>
                </a:lnSpc>
              </a:pP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    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니까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?</a:t>
              </a:r>
            </a:p>
            <a:p>
              <a:pPr marL="342900" indent="-342900" algn="just">
                <a:lnSpc>
                  <a:spcPct val="110000"/>
                </a:lnSpc>
              </a:pP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(6)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현재 자신이 처한 재정적인 상황이 훈련기간 동안 다른 수입이 없어 생활할 수 있는 상황인지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,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아니면 그렇지 않은 상황인지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?</a:t>
              </a:r>
            </a:p>
            <a:p>
              <a:pPr marL="342900" indent="-342900" algn="just">
                <a:lnSpc>
                  <a:spcPct val="110000"/>
                </a:lnSpc>
              </a:pP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(7)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훈련을 지원하기 전 훈련을 소개하거나 훈련과 관련된 충고나 지도를 받은 적이 있는지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? </a:t>
              </a:r>
            </a:p>
            <a:p>
              <a:pPr marL="342900" indent="-342900" algn="just">
                <a:lnSpc>
                  <a:spcPct val="110000"/>
                </a:lnSpc>
              </a:pP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(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예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)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관련 학과를 지원하게 되었을 때 가장 크게 영향을 행사한 사람은 누구입니까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?</a:t>
              </a:r>
            </a:p>
            <a:p>
              <a:pPr marL="342900" indent="-342900" algn="just">
                <a:lnSpc>
                  <a:spcPct val="110000"/>
                </a:lnSpc>
              </a:pPr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 algn="just">
                <a:lnSpc>
                  <a:spcPct val="110000"/>
                </a:lnSpc>
              </a:pPr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 algn="just">
                <a:lnSpc>
                  <a:spcPct val="110000"/>
                </a:lnSpc>
              </a:pPr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 algn="just">
                <a:lnSpc>
                  <a:spcPct val="110000"/>
                </a:lnSpc>
              </a:pPr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 algn="just">
                <a:lnSpc>
                  <a:spcPct val="110000"/>
                </a:lnSpc>
              </a:pP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 </a:t>
              </a:r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 algn="just">
                <a:lnSpc>
                  <a:spcPct val="110000"/>
                </a:lnSpc>
              </a:pPr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1"/>
          <p:cNvSpPr>
            <a:spLocks noGrp="1"/>
          </p:cNvSpPr>
          <p:nvPr>
            <p:ph type="title"/>
          </p:nvPr>
        </p:nvSpPr>
        <p:spPr>
          <a:xfrm>
            <a:off x="0" y="590550"/>
            <a:ext cx="8229600" cy="400050"/>
          </a:xfrm>
        </p:spPr>
        <p:txBody>
          <a:bodyPr/>
          <a:lstStyle/>
          <a:p>
            <a:r>
              <a:rPr lang="en-US" altLang="ko-KR" dirty="0"/>
              <a:t>Ⅳ. </a:t>
            </a:r>
            <a:r>
              <a:rPr lang="ko-KR" altLang="en-US" dirty="0"/>
              <a:t>중도탈락 방지방안 제시</a:t>
            </a:r>
          </a:p>
        </p:txBody>
      </p:sp>
      <p:grpSp>
        <p:nvGrpSpPr>
          <p:cNvPr id="2" name="그룹 9"/>
          <p:cNvGrpSpPr/>
          <p:nvPr/>
        </p:nvGrpSpPr>
        <p:grpSpPr>
          <a:xfrm>
            <a:off x="304800" y="1371598"/>
            <a:ext cx="8610600" cy="5181599"/>
            <a:chOff x="4932040" y="4581128"/>
            <a:chExt cx="3929090" cy="1872208"/>
          </a:xfrm>
        </p:grpSpPr>
        <p:sp>
          <p:nvSpPr>
            <p:cNvPr id="11" name="모서리가 둥근 직사각형 10"/>
            <p:cNvSpPr/>
            <p:nvPr/>
          </p:nvSpPr>
          <p:spPr>
            <a:xfrm>
              <a:off x="4932040" y="4581128"/>
              <a:ext cx="3929090" cy="1872208"/>
            </a:xfrm>
            <a:prstGeom prst="roundRect">
              <a:avLst>
                <a:gd name="adj" fmla="val 4133"/>
              </a:avLst>
            </a:prstGeom>
            <a:solidFill>
              <a:schemeClr val="bg1"/>
            </a:solidFill>
            <a:ln w="25400">
              <a:solidFill>
                <a:srgbClr val="51A1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헤드라인M" pitchFamily="18" charset="-127"/>
                <a:ea typeface="HY헤드라인M" pitchFamily="18" charset="-127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004048" y="4608661"/>
              <a:ext cx="3785651" cy="122326"/>
            </a:xfrm>
            <a:prstGeom prst="rect">
              <a:avLst/>
            </a:prstGeom>
            <a:solidFill>
              <a:srgbClr val="002060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 latinLnBrk="0">
                <a:defRPr/>
              </a:pPr>
              <a:r>
                <a:rPr lang="ko-KR" altLang="en-US" sz="1600" dirty="0">
                  <a:solidFill>
                    <a:schemeClr val="bg1"/>
                  </a:solidFill>
                  <a:latin typeface="HY헤드라인M" pitchFamily="18" charset="-127"/>
                  <a:ea typeface="HY헤드라인M" pitchFamily="18" charset="-127"/>
                </a:rPr>
                <a:t>정기적인 상담 </a:t>
              </a:r>
              <a:r>
                <a:rPr lang="en-US" altLang="ko-KR" sz="1600" dirty="0">
                  <a:solidFill>
                    <a:schemeClr val="bg1"/>
                  </a:solidFill>
                  <a:latin typeface="HY헤드라인M" pitchFamily="18" charset="-127"/>
                  <a:ea typeface="HY헤드라인M" pitchFamily="18" charset="-127"/>
                </a:rPr>
                <a:t>– </a:t>
              </a:r>
              <a:r>
                <a:rPr lang="ko-KR" altLang="en-US" sz="1600" dirty="0" err="1">
                  <a:solidFill>
                    <a:schemeClr val="bg1"/>
                  </a:solidFill>
                  <a:latin typeface="HY헤드라인M" pitchFamily="18" charset="-127"/>
                  <a:ea typeface="HY헤드라인M" pitchFamily="18" charset="-127"/>
                </a:rPr>
                <a:t>중간점</a:t>
              </a:r>
              <a:r>
                <a:rPr lang="ko-KR" altLang="en-US" sz="1600" dirty="0">
                  <a:solidFill>
                    <a:schemeClr val="bg1"/>
                  </a:solidFill>
                  <a:latin typeface="HY헤드라인M" pitchFamily="18" charset="-127"/>
                  <a:ea typeface="HY헤드라인M" pitchFamily="18" charset="-127"/>
                </a:rPr>
                <a:t> 상담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004048" y="4746324"/>
              <a:ext cx="3785651" cy="1599134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10000"/>
                </a:lnSpc>
              </a:pPr>
              <a:r>
                <a:rPr lang="ko-KR" altLang="en-US" sz="1600" dirty="0" err="1">
                  <a:effectLst/>
                  <a:latin typeface="HY헤드라인M" pitchFamily="18" charset="-127"/>
                  <a:ea typeface="HY헤드라인M" pitchFamily="18" charset="-127"/>
                </a:rPr>
                <a:t>중간점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 상담 개입은 훈련생들의 훈련과정 중에 발생하는 목표 설정의 상실에 대한 개입</a:t>
              </a:r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algn="just">
                <a:lnSpc>
                  <a:spcPct val="110000"/>
                </a:lnSpc>
              </a:pPr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 algn="just">
                <a:lnSpc>
                  <a:spcPct val="110000"/>
                </a:lnSpc>
                <a:buAutoNum type="arabicParenBoth"/>
              </a:pP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지금까지 이룬 성과에 대해 자신 스스로가 평가를 한다면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?</a:t>
              </a:r>
            </a:p>
            <a:p>
              <a:pPr marL="342900" indent="-342900" algn="just">
                <a:lnSpc>
                  <a:spcPct val="110000"/>
                </a:lnSpc>
              </a:pP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예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)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구체적인 수치로 스스로를 평가하시오</a:t>
              </a:r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 algn="just">
                <a:lnSpc>
                  <a:spcPct val="110000"/>
                </a:lnSpc>
              </a:pP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(2)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지금까지 이룬 성과에서 자신이 목표한 것보다 초과해서 달성한 부분을 이야기 한다면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?</a:t>
              </a:r>
            </a:p>
            <a:p>
              <a:pPr marL="342900" indent="-342900" algn="just">
                <a:lnSpc>
                  <a:spcPct val="110000"/>
                </a:lnSpc>
              </a:pP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예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)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출결상황에 대한 목표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,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학과 평가에 대한 초과 달성 부분을 수치로 평가하시오</a:t>
              </a:r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 algn="just">
                <a:lnSpc>
                  <a:spcPct val="110000"/>
                </a:lnSpc>
              </a:pP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(3)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지금까지 이룬 성과에서 자신이 목표한 것보다 떨어지게 달성한 부분을 이야기 한다면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?</a:t>
              </a:r>
            </a:p>
            <a:p>
              <a:pPr marL="342900" indent="-342900" algn="just">
                <a:lnSpc>
                  <a:spcPct val="110000"/>
                </a:lnSpc>
              </a:pP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예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)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출결상황에 대한 목표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,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학과 평가에 대한 떨어지게 달성 부분을 수치로 평가하시오</a:t>
              </a:r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 algn="just">
                <a:lnSpc>
                  <a:spcPct val="110000"/>
                </a:lnSpc>
              </a:pP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(4)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지금까지의 훈련을 바탕으로 학기초기에 본인이 가졌던 관련학과에 대한 생각과 일치합니까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?</a:t>
              </a:r>
            </a:p>
            <a:p>
              <a:pPr marL="342900" indent="-342900" algn="just">
                <a:lnSpc>
                  <a:spcPct val="110000"/>
                </a:lnSpc>
              </a:pP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예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)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아무것도 몰랐을 때와 지금을 비교해 본다면 이미지의 변화를 도형을 통해 그리고 설명하시오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.</a:t>
              </a:r>
            </a:p>
            <a:p>
              <a:pPr marL="342900" indent="-342900" algn="just">
                <a:lnSpc>
                  <a:spcPct val="110000"/>
                </a:lnSpc>
              </a:pP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(5)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예전에 경험하거나 학습하였던 것을 바탕으로 지금의 훈련과정과 함께 두 가지를 비교하여 직업을 선택한다면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?</a:t>
              </a:r>
            </a:p>
            <a:p>
              <a:pPr marL="342900" indent="-342900" algn="just">
                <a:lnSpc>
                  <a:spcPct val="110000"/>
                </a:lnSpc>
              </a:pP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예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)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예전에는 서비스업을 하였고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,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지금까지 배운 내용은 전문직인데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,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어느 것을 본인의 직</a:t>
              </a:r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 algn="just">
                <a:lnSpc>
                  <a:spcPct val="110000"/>
                </a:lnSpc>
              </a:pP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    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으로 선택하겠습니까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?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1"/>
          <p:cNvSpPr>
            <a:spLocks noGrp="1"/>
          </p:cNvSpPr>
          <p:nvPr>
            <p:ph type="title"/>
          </p:nvPr>
        </p:nvSpPr>
        <p:spPr>
          <a:xfrm>
            <a:off x="0" y="590550"/>
            <a:ext cx="8229600" cy="400050"/>
          </a:xfrm>
        </p:spPr>
        <p:txBody>
          <a:bodyPr/>
          <a:lstStyle/>
          <a:p>
            <a:r>
              <a:rPr lang="en-US" altLang="ko-KR" dirty="0"/>
              <a:t>Ⅳ. </a:t>
            </a:r>
            <a:r>
              <a:rPr lang="ko-KR" altLang="en-US" dirty="0"/>
              <a:t>중도탈락 방지방안 제시</a:t>
            </a:r>
          </a:p>
        </p:txBody>
      </p:sp>
      <p:grpSp>
        <p:nvGrpSpPr>
          <p:cNvPr id="2" name="그룹 9"/>
          <p:cNvGrpSpPr/>
          <p:nvPr/>
        </p:nvGrpSpPr>
        <p:grpSpPr>
          <a:xfrm>
            <a:off x="304800" y="1371598"/>
            <a:ext cx="8610600" cy="5181599"/>
            <a:chOff x="4932040" y="4581128"/>
            <a:chExt cx="3929090" cy="1872208"/>
          </a:xfrm>
        </p:grpSpPr>
        <p:sp>
          <p:nvSpPr>
            <p:cNvPr id="11" name="모서리가 둥근 직사각형 10"/>
            <p:cNvSpPr/>
            <p:nvPr/>
          </p:nvSpPr>
          <p:spPr>
            <a:xfrm>
              <a:off x="4932040" y="4581128"/>
              <a:ext cx="3929090" cy="1872208"/>
            </a:xfrm>
            <a:prstGeom prst="roundRect">
              <a:avLst>
                <a:gd name="adj" fmla="val 4133"/>
              </a:avLst>
            </a:prstGeom>
            <a:solidFill>
              <a:schemeClr val="bg1"/>
            </a:solidFill>
            <a:ln w="25400">
              <a:solidFill>
                <a:srgbClr val="51A1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헤드라인M" pitchFamily="18" charset="-127"/>
                <a:ea typeface="HY헤드라인M" pitchFamily="18" charset="-127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004048" y="4608661"/>
              <a:ext cx="3785651" cy="122326"/>
            </a:xfrm>
            <a:prstGeom prst="rect">
              <a:avLst/>
            </a:prstGeom>
            <a:solidFill>
              <a:srgbClr val="002060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 latinLnBrk="0">
                <a:defRPr/>
              </a:pPr>
              <a:r>
                <a:rPr lang="ko-KR" altLang="en-US" sz="1600" dirty="0">
                  <a:solidFill>
                    <a:schemeClr val="bg1"/>
                  </a:solidFill>
                  <a:latin typeface="HY헤드라인M" pitchFamily="18" charset="-127"/>
                  <a:ea typeface="HY헤드라인M" pitchFamily="18" charset="-127"/>
                </a:rPr>
                <a:t>정기적인 상담 </a:t>
              </a:r>
              <a:r>
                <a:rPr lang="en-US" altLang="ko-KR" sz="1600" dirty="0">
                  <a:solidFill>
                    <a:schemeClr val="bg1"/>
                  </a:solidFill>
                  <a:latin typeface="HY헤드라인M" pitchFamily="18" charset="-127"/>
                  <a:ea typeface="HY헤드라인M" pitchFamily="18" charset="-127"/>
                </a:rPr>
                <a:t>– </a:t>
              </a:r>
              <a:r>
                <a:rPr lang="ko-KR" altLang="en-US" sz="1600" dirty="0">
                  <a:solidFill>
                    <a:schemeClr val="bg1"/>
                  </a:solidFill>
                  <a:latin typeface="HY헤드라인M" pitchFamily="18" charset="-127"/>
                  <a:ea typeface="HY헤드라인M" pitchFamily="18" charset="-127"/>
                </a:rPr>
                <a:t>도착점 상담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004048" y="4746324"/>
              <a:ext cx="3785651" cy="1599134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10000"/>
                </a:lnSpc>
              </a:pP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도착점 상담은 그 동안의 훈련과정을 통해 자신이 목표한 내용을 점검하고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,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앞으로의 훈련을 통해 얻을 수 있는 것과 자신의 진로를 선택하는 내용으로 이루어져야 한다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.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상담의 시기는 졸업 요건을 갖추는 시점 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(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총 훈련일수의 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80%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이상인 시점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)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에서부터 졸업을 할 때 까지 이루어져야 할 것이다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.</a:t>
              </a:r>
            </a:p>
            <a:p>
              <a:pPr algn="just">
                <a:lnSpc>
                  <a:spcPct val="110000"/>
                </a:lnSpc>
              </a:pPr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 algn="just">
                <a:lnSpc>
                  <a:spcPct val="110000"/>
                </a:lnSpc>
              </a:pP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(1)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앞으로의 훈련을 통해 얻을 수 있는 관련 학과의 훈련내용은 어떤 것이 있을 것인가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?</a:t>
              </a:r>
            </a:p>
            <a:p>
              <a:pPr marL="342900" indent="-342900" algn="just">
                <a:lnSpc>
                  <a:spcPct val="110000"/>
                </a:lnSpc>
              </a:pP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예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)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구체적인 수치로 스스로를 평가하시오</a:t>
              </a:r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 algn="just">
                <a:lnSpc>
                  <a:spcPct val="110000"/>
                </a:lnSpc>
              </a:pP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(2)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남은 시점에서 내가 준비해야 할 사항은 어떤 것이 있는가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?</a:t>
              </a:r>
            </a:p>
            <a:p>
              <a:pPr marL="342900" indent="-342900" algn="just">
                <a:lnSpc>
                  <a:spcPct val="110000"/>
                </a:lnSpc>
              </a:pP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예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)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관련 자격증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,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기본적인 컴퓨터 활용 실력 등 훈련생이 생각하는 사항을 파악한다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.</a:t>
              </a:r>
            </a:p>
            <a:p>
              <a:pPr marL="342900" indent="-342900" algn="just">
                <a:lnSpc>
                  <a:spcPct val="110000"/>
                </a:lnSpc>
              </a:pP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(3)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관련 직종에서 받을 수 있는 급여로 과연 내가 생활을 유지할 수 있을 것인가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?</a:t>
              </a:r>
            </a:p>
            <a:p>
              <a:pPr marL="342900" indent="-342900" algn="just">
                <a:lnSpc>
                  <a:spcPct val="110000"/>
                </a:lnSpc>
              </a:pP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(4)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관련 직종의 근무환경을 알고 있으며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,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그에 따른 상황을 미리 생각하였는가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?</a:t>
              </a:r>
            </a:p>
            <a:p>
              <a:pPr marL="342900" indent="-342900" algn="just">
                <a:lnSpc>
                  <a:spcPct val="110000"/>
                </a:lnSpc>
              </a:pP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(5)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지금의 실력으로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/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능력으로 원하는 회사에 취업을 할 수 있을 것인가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?</a:t>
              </a:r>
            </a:p>
            <a:p>
              <a:pPr marL="342900" indent="-342900" algn="just">
                <a:lnSpc>
                  <a:spcPct val="110000"/>
                </a:lnSpc>
              </a:pP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(6)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부족한 부분에 대해서는 어떤 방법을 취하겠는가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?</a:t>
              </a:r>
            </a:p>
            <a:p>
              <a:pPr marL="342900" indent="-342900" algn="just">
                <a:lnSpc>
                  <a:spcPct val="110000"/>
                </a:lnSpc>
              </a:pPr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 algn="just">
                <a:lnSpc>
                  <a:spcPct val="110000"/>
                </a:lnSpc>
              </a:pPr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 algn="just">
                <a:lnSpc>
                  <a:spcPct val="110000"/>
                </a:lnSpc>
              </a:pPr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1"/>
          <p:cNvSpPr>
            <a:spLocks noGrp="1"/>
          </p:cNvSpPr>
          <p:nvPr>
            <p:ph type="title"/>
          </p:nvPr>
        </p:nvSpPr>
        <p:spPr>
          <a:xfrm>
            <a:off x="0" y="590550"/>
            <a:ext cx="8229600" cy="400050"/>
          </a:xfrm>
        </p:spPr>
        <p:txBody>
          <a:bodyPr/>
          <a:lstStyle/>
          <a:p>
            <a:r>
              <a:rPr lang="en-US" altLang="ko-KR" dirty="0"/>
              <a:t>Ⅳ. </a:t>
            </a:r>
            <a:r>
              <a:rPr lang="ko-KR" altLang="en-US" dirty="0"/>
              <a:t>중도탈락 방지방안 제시</a:t>
            </a:r>
          </a:p>
        </p:txBody>
      </p:sp>
      <p:grpSp>
        <p:nvGrpSpPr>
          <p:cNvPr id="2" name="그룹 9"/>
          <p:cNvGrpSpPr/>
          <p:nvPr/>
        </p:nvGrpSpPr>
        <p:grpSpPr>
          <a:xfrm>
            <a:off x="304800" y="1219198"/>
            <a:ext cx="8610600" cy="2057401"/>
            <a:chOff x="4932040" y="4581128"/>
            <a:chExt cx="3929090" cy="1872208"/>
          </a:xfrm>
        </p:grpSpPr>
        <p:sp>
          <p:nvSpPr>
            <p:cNvPr id="11" name="모서리가 둥근 직사각형 10"/>
            <p:cNvSpPr/>
            <p:nvPr/>
          </p:nvSpPr>
          <p:spPr>
            <a:xfrm>
              <a:off x="4932040" y="4581128"/>
              <a:ext cx="3929090" cy="1872208"/>
            </a:xfrm>
            <a:prstGeom prst="roundRect">
              <a:avLst>
                <a:gd name="adj" fmla="val 4133"/>
              </a:avLst>
            </a:prstGeom>
            <a:solidFill>
              <a:schemeClr val="bg1"/>
            </a:solidFill>
            <a:ln w="25400">
              <a:solidFill>
                <a:srgbClr val="51A1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헤드라인M" pitchFamily="18" charset="-127"/>
                <a:ea typeface="HY헤드라인M" pitchFamily="18" charset="-127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004048" y="4608661"/>
              <a:ext cx="3785651" cy="319173"/>
            </a:xfrm>
            <a:prstGeom prst="rect">
              <a:avLst/>
            </a:prstGeom>
            <a:solidFill>
              <a:srgbClr val="002060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 latinLnBrk="0">
                <a:defRPr/>
              </a:pPr>
              <a:r>
                <a:rPr lang="ko-KR" altLang="en-US" sz="1600" dirty="0">
                  <a:solidFill>
                    <a:schemeClr val="bg1"/>
                  </a:solidFill>
                  <a:latin typeface="HY헤드라인M" pitchFamily="18" charset="-127"/>
                  <a:ea typeface="HY헤드라인M" pitchFamily="18" charset="-127"/>
                </a:rPr>
                <a:t>동아리모임에 대한 적극적인 지원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005938" y="4932167"/>
              <a:ext cx="3785651" cy="1470381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marL="342900" indent="-342900" algn="just">
                <a:lnSpc>
                  <a:spcPct val="110000"/>
                </a:lnSpc>
              </a:pPr>
              <a:r>
                <a:rPr lang="ko-KR" altLang="en-US" sz="1500" dirty="0">
                  <a:effectLst/>
                  <a:latin typeface="HY헤드라인M" pitchFamily="18" charset="-127"/>
                  <a:ea typeface="HY헤드라인M" pitchFamily="18" charset="-127"/>
                </a:rPr>
                <a:t>적극적인 동아리 창단과 함께 훈련기관에서 지원할 수 있는 모든 사항을 지원하여</a:t>
              </a:r>
              <a:r>
                <a:rPr lang="en-US" altLang="ko-KR" sz="1500" dirty="0">
                  <a:effectLst/>
                  <a:latin typeface="HY헤드라인M" pitchFamily="18" charset="-127"/>
                  <a:ea typeface="HY헤드라인M" pitchFamily="18" charset="-127"/>
                </a:rPr>
                <a:t>, </a:t>
              </a:r>
              <a:r>
                <a:rPr lang="ko-KR" altLang="en-US" sz="1500" dirty="0">
                  <a:effectLst/>
                  <a:latin typeface="HY헤드라인M" pitchFamily="18" charset="-127"/>
                  <a:ea typeface="HY헤드라인M" pitchFamily="18" charset="-127"/>
                </a:rPr>
                <a:t>훈련생</a:t>
              </a:r>
              <a:endParaRPr lang="en-US" altLang="ko-KR" sz="15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 algn="just">
                <a:lnSpc>
                  <a:spcPct val="110000"/>
                </a:lnSpc>
              </a:pPr>
              <a:r>
                <a:rPr lang="ko-KR" altLang="en-US" sz="1500" dirty="0">
                  <a:effectLst/>
                  <a:latin typeface="HY헤드라인M" pitchFamily="18" charset="-127"/>
                  <a:ea typeface="HY헤드라인M" pitchFamily="18" charset="-127"/>
                </a:rPr>
                <a:t>들의 훈련에 대한 흥미와 참여를 적극적으로 유도한다</a:t>
              </a:r>
              <a:r>
                <a:rPr lang="en-US" altLang="ko-KR" sz="1500" dirty="0">
                  <a:effectLst/>
                  <a:latin typeface="HY헤드라인M" pitchFamily="18" charset="-127"/>
                  <a:ea typeface="HY헤드라인M" pitchFamily="18" charset="-127"/>
                </a:rPr>
                <a:t>. </a:t>
              </a:r>
              <a:r>
                <a:rPr lang="ko-KR" altLang="en-US" sz="1500" dirty="0">
                  <a:effectLst/>
                  <a:latin typeface="HY헤드라인M" pitchFamily="18" charset="-127"/>
                  <a:ea typeface="HY헤드라인M" pitchFamily="18" charset="-127"/>
                </a:rPr>
                <a:t>특히 학과의 마지막 수업인 </a:t>
              </a:r>
              <a:r>
                <a:rPr lang="ko-KR" altLang="en-US" sz="1500" dirty="0" err="1">
                  <a:effectLst/>
                  <a:latin typeface="HY헤드라인M" pitchFamily="18" charset="-127"/>
                  <a:ea typeface="HY헤드라인M" pitchFamily="18" charset="-127"/>
                </a:rPr>
                <a:t>프로젝</a:t>
              </a:r>
              <a:endParaRPr lang="en-US" altLang="ko-KR" sz="15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 algn="just">
                <a:lnSpc>
                  <a:spcPct val="110000"/>
                </a:lnSpc>
              </a:pPr>
              <a:r>
                <a:rPr lang="ko-KR" altLang="en-US" sz="1500" dirty="0" err="1">
                  <a:effectLst/>
                  <a:latin typeface="HY헤드라인M" pitchFamily="18" charset="-127"/>
                  <a:ea typeface="HY헤드라인M" pitchFamily="18" charset="-127"/>
                </a:rPr>
                <a:t>트와</a:t>
              </a:r>
              <a:r>
                <a:rPr lang="ko-KR" altLang="en-US" sz="1500" dirty="0">
                  <a:effectLst/>
                  <a:latin typeface="HY헤드라인M" pitchFamily="18" charset="-127"/>
                  <a:ea typeface="HY헤드라인M" pitchFamily="18" charset="-127"/>
                </a:rPr>
                <a:t> 관련하여 훈련생들이 원하는 양질의 프로젝트를 위해 제반 시설에 대한 적극적인 지</a:t>
              </a:r>
              <a:endParaRPr lang="en-US" altLang="ko-KR" sz="15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 algn="just">
                <a:lnSpc>
                  <a:spcPct val="110000"/>
                </a:lnSpc>
              </a:pPr>
              <a:r>
                <a:rPr lang="ko-KR" altLang="en-US" sz="1500" dirty="0">
                  <a:effectLst/>
                  <a:latin typeface="HY헤드라인M" pitchFamily="18" charset="-127"/>
                  <a:ea typeface="HY헤드라인M" pitchFamily="18" charset="-127"/>
                </a:rPr>
                <a:t>원을 하였고</a:t>
              </a:r>
              <a:r>
                <a:rPr lang="en-US" altLang="ko-KR" sz="1500" dirty="0">
                  <a:effectLst/>
                  <a:latin typeface="HY헤드라인M" pitchFamily="18" charset="-127"/>
                  <a:ea typeface="HY헤드라인M" pitchFamily="18" charset="-127"/>
                </a:rPr>
                <a:t>, </a:t>
              </a:r>
              <a:r>
                <a:rPr lang="ko-KR" altLang="en-US" sz="1500" dirty="0">
                  <a:effectLst/>
                  <a:latin typeface="HY헤드라인M" pitchFamily="18" charset="-127"/>
                  <a:ea typeface="HY헤드라인M" pitchFamily="18" charset="-127"/>
                </a:rPr>
                <a:t>자격증과 관련된 사항도 수업시간을 제외한 모든 시간에 개별 또는 단체로 </a:t>
              </a:r>
              <a:endParaRPr lang="en-US" altLang="ko-KR" sz="15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 algn="just">
                <a:lnSpc>
                  <a:spcPct val="110000"/>
                </a:lnSpc>
              </a:pPr>
              <a:r>
                <a:rPr lang="ko-KR" altLang="en-US" sz="1500" dirty="0">
                  <a:effectLst/>
                  <a:latin typeface="HY헤드라인M" pitchFamily="18" charset="-127"/>
                  <a:ea typeface="HY헤드라인M" pitchFamily="18" charset="-127"/>
                </a:rPr>
                <a:t>보충수업을 실시하였다</a:t>
              </a:r>
              <a:r>
                <a:rPr lang="en-US" altLang="ko-KR" sz="1500" dirty="0">
                  <a:effectLst/>
                  <a:latin typeface="HY헤드라인M" pitchFamily="18" charset="-127"/>
                  <a:ea typeface="HY헤드라인M" pitchFamily="18" charset="-127"/>
                </a:rPr>
                <a:t>. </a:t>
              </a:r>
              <a:r>
                <a:rPr lang="ko-KR" altLang="en-US" sz="1500" dirty="0">
                  <a:effectLst/>
                  <a:latin typeface="HY헤드라인M" pitchFamily="18" charset="-127"/>
                  <a:ea typeface="HY헤드라인M" pitchFamily="18" charset="-127"/>
                </a:rPr>
                <a:t>추가로 </a:t>
              </a:r>
              <a:r>
                <a:rPr lang="ko-KR" altLang="en-US" sz="1500" dirty="0" err="1">
                  <a:effectLst/>
                  <a:latin typeface="HY헤드라인M" pitchFamily="18" charset="-127"/>
                  <a:ea typeface="HY헤드라인M" pitchFamily="18" charset="-127"/>
                </a:rPr>
                <a:t>동아리별</a:t>
              </a:r>
              <a:r>
                <a:rPr lang="ko-KR" altLang="en-US" sz="1500" dirty="0">
                  <a:effectLst/>
                  <a:latin typeface="HY헤드라인M" pitchFamily="18" charset="-127"/>
                  <a:ea typeface="HY헤드라인M" pitchFamily="18" charset="-127"/>
                </a:rPr>
                <a:t> 또는 학과별 모임에 대한 회식비 등의 재정적인</a:t>
              </a:r>
              <a:endParaRPr lang="en-US" altLang="ko-KR" sz="15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 algn="just">
                <a:lnSpc>
                  <a:spcPct val="110000"/>
                </a:lnSpc>
              </a:pPr>
              <a:r>
                <a:rPr lang="ko-KR" altLang="en-US" sz="1500" dirty="0">
                  <a:effectLst/>
                  <a:latin typeface="HY헤드라인M" pitchFamily="18" charset="-127"/>
                  <a:ea typeface="HY헤드라인M" pitchFamily="18" charset="-127"/>
                </a:rPr>
                <a:t>지원을 통해 졸업한 훈련생과 훈련중인 훈련생과의 유대관계를 유지하도록 지원한다</a:t>
              </a:r>
              <a:r>
                <a:rPr lang="en-US" altLang="ko-KR" sz="1500" dirty="0">
                  <a:effectLst/>
                  <a:latin typeface="HY헤드라인M" pitchFamily="18" charset="-127"/>
                  <a:ea typeface="HY헤드라인M" pitchFamily="18" charset="-127"/>
                </a:rPr>
                <a:t>.</a:t>
              </a:r>
            </a:p>
          </p:txBody>
        </p:sp>
      </p:grpSp>
      <p:grpSp>
        <p:nvGrpSpPr>
          <p:cNvPr id="8" name="그룹 9"/>
          <p:cNvGrpSpPr/>
          <p:nvPr/>
        </p:nvGrpSpPr>
        <p:grpSpPr>
          <a:xfrm>
            <a:off x="304800" y="3352799"/>
            <a:ext cx="8610600" cy="1676400"/>
            <a:chOff x="4932040" y="4581127"/>
            <a:chExt cx="3929090" cy="1435359"/>
          </a:xfrm>
        </p:grpSpPr>
        <p:sp>
          <p:nvSpPr>
            <p:cNvPr id="9" name="모서리가 둥근 직사각형 8"/>
            <p:cNvSpPr/>
            <p:nvPr/>
          </p:nvSpPr>
          <p:spPr>
            <a:xfrm>
              <a:off x="4932040" y="4581127"/>
              <a:ext cx="3929090" cy="1435359"/>
            </a:xfrm>
            <a:prstGeom prst="roundRect">
              <a:avLst>
                <a:gd name="adj" fmla="val 4133"/>
              </a:avLst>
            </a:prstGeom>
            <a:solidFill>
              <a:schemeClr val="bg1"/>
            </a:solidFill>
            <a:ln w="25400">
              <a:solidFill>
                <a:srgbClr val="51A1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헤드라인M" pitchFamily="18" charset="-127"/>
                <a:ea typeface="HY헤드라인M" pitchFamily="18" charset="-127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004048" y="4608661"/>
              <a:ext cx="3785651" cy="277272"/>
            </a:xfrm>
            <a:prstGeom prst="rect">
              <a:avLst/>
            </a:prstGeom>
            <a:solidFill>
              <a:srgbClr val="002060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 latinLnBrk="0">
                <a:defRPr/>
              </a:pPr>
              <a:r>
                <a:rPr lang="ko-KR" altLang="en-US" sz="1600" dirty="0">
                  <a:solidFill>
                    <a:schemeClr val="bg1"/>
                  </a:solidFill>
                  <a:latin typeface="HY헤드라인M" pitchFamily="18" charset="-127"/>
                  <a:ea typeface="HY헤드라인M" pitchFamily="18" charset="-127"/>
                </a:rPr>
                <a:t>수업미진에서 오는 수업부적응 보충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005938" y="4932167"/>
              <a:ext cx="3785651" cy="894412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marL="342900" indent="-342900" algn="just">
                <a:lnSpc>
                  <a:spcPct val="110000"/>
                </a:lnSpc>
              </a:pPr>
              <a:r>
                <a:rPr lang="ko-KR" altLang="en-US" sz="1500" dirty="0">
                  <a:effectLst/>
                  <a:latin typeface="HY헤드라인M" pitchFamily="18" charset="-127"/>
                  <a:ea typeface="HY헤드라인M" pitchFamily="18" charset="-127"/>
                </a:rPr>
                <a:t>수업이해에서 오는 부적응을 최소화하기 위해 각 </a:t>
              </a:r>
              <a:r>
                <a:rPr lang="ko-KR" altLang="en-US" sz="1500" dirty="0" err="1">
                  <a:effectLst/>
                  <a:latin typeface="HY헤드라인M" pitchFamily="18" charset="-127"/>
                  <a:ea typeface="HY헤드라인M" pitchFamily="18" charset="-127"/>
                </a:rPr>
                <a:t>교사별로</a:t>
              </a:r>
              <a:r>
                <a:rPr lang="ko-KR" altLang="en-US" sz="1500" dirty="0">
                  <a:effectLst/>
                  <a:latin typeface="HY헤드라인M" pitchFamily="18" charset="-127"/>
                  <a:ea typeface="HY헤드라인M" pitchFamily="18" charset="-127"/>
                </a:rPr>
                <a:t> </a:t>
              </a:r>
              <a:r>
                <a:rPr lang="en-US" altLang="ko-KR" sz="1500" dirty="0">
                  <a:effectLst/>
                  <a:latin typeface="HY헤드라인M" pitchFamily="18" charset="-127"/>
                  <a:ea typeface="HY헤드라인M" pitchFamily="18" charset="-127"/>
                </a:rPr>
                <a:t>Office-hour</a:t>
              </a:r>
              <a:r>
                <a:rPr lang="ko-KR" altLang="en-US" sz="1500" dirty="0">
                  <a:effectLst/>
                  <a:latin typeface="HY헤드라인M" pitchFamily="18" charset="-127"/>
                  <a:ea typeface="HY헤드라인M" pitchFamily="18" charset="-127"/>
                </a:rPr>
                <a:t>를 </a:t>
              </a:r>
              <a:r>
                <a:rPr lang="ko-KR" altLang="en-US" sz="1500" dirty="0" err="1">
                  <a:effectLst/>
                  <a:latin typeface="HY헤드라인M" pitchFamily="18" charset="-127"/>
                  <a:ea typeface="HY헤드라인M" pitchFamily="18" charset="-127"/>
                </a:rPr>
                <a:t>공개함으로서</a:t>
              </a:r>
              <a:r>
                <a:rPr lang="ko-KR" altLang="en-US" sz="1500" dirty="0">
                  <a:effectLst/>
                  <a:latin typeface="HY헤드라인M" pitchFamily="18" charset="-127"/>
                  <a:ea typeface="HY헤드라인M" pitchFamily="18" charset="-127"/>
                </a:rPr>
                <a:t> </a:t>
              </a:r>
              <a:endParaRPr lang="en-US" altLang="ko-KR" sz="15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 algn="just">
                <a:lnSpc>
                  <a:spcPct val="110000"/>
                </a:lnSpc>
              </a:pPr>
              <a:r>
                <a:rPr lang="ko-KR" altLang="en-US" sz="1500" dirty="0">
                  <a:effectLst/>
                  <a:latin typeface="HY헤드라인M" pitchFamily="18" charset="-127"/>
                  <a:ea typeface="HY헤드라인M" pitchFamily="18" charset="-127"/>
                </a:rPr>
                <a:t>훈련생들로 하여금 학습내용과 관련된 사항에 대해 언제든지 지도를 받을 수 </a:t>
              </a:r>
              <a:r>
                <a:rPr lang="ko-KR" altLang="en-US" sz="1500" dirty="0" err="1">
                  <a:effectLst/>
                  <a:latin typeface="HY헤드라인M" pitchFamily="18" charset="-127"/>
                  <a:ea typeface="HY헤드라인M" pitchFamily="18" charset="-127"/>
                </a:rPr>
                <a:t>있게하고</a:t>
              </a:r>
              <a:r>
                <a:rPr lang="en-US" altLang="ko-KR" sz="1500" dirty="0">
                  <a:effectLst/>
                  <a:latin typeface="HY헤드라인M" pitchFamily="18" charset="-127"/>
                  <a:ea typeface="HY헤드라인M" pitchFamily="18" charset="-127"/>
                </a:rPr>
                <a:t>, </a:t>
              </a:r>
              <a:r>
                <a:rPr lang="ko-KR" altLang="en-US" sz="1500" dirty="0">
                  <a:effectLst/>
                  <a:latin typeface="HY헤드라인M" pitchFamily="18" charset="-127"/>
                  <a:ea typeface="HY헤드라인M" pitchFamily="18" charset="-127"/>
                </a:rPr>
                <a:t>토</a:t>
              </a:r>
              <a:endParaRPr lang="en-US" altLang="ko-KR" sz="15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 algn="just">
                <a:lnSpc>
                  <a:spcPct val="110000"/>
                </a:lnSpc>
              </a:pPr>
              <a:r>
                <a:rPr lang="ko-KR" altLang="en-US" sz="1500" dirty="0">
                  <a:effectLst/>
                  <a:latin typeface="HY헤드라인M" pitchFamily="18" charset="-127"/>
                  <a:ea typeface="HY헤드라인M" pitchFamily="18" charset="-127"/>
                </a:rPr>
                <a:t>요일이나 휴일에도 각 학과 훈련교사들이 출근을 하여 자율학습공간을 개방하고</a:t>
              </a:r>
              <a:r>
                <a:rPr lang="en-US" altLang="ko-KR" sz="1500" dirty="0">
                  <a:effectLst/>
                  <a:latin typeface="HY헤드라인M" pitchFamily="18" charset="-127"/>
                  <a:ea typeface="HY헤드라인M" pitchFamily="18" charset="-127"/>
                </a:rPr>
                <a:t>, </a:t>
              </a:r>
              <a:r>
                <a:rPr lang="ko-KR" altLang="en-US" sz="1500" dirty="0">
                  <a:effectLst/>
                  <a:latin typeface="HY헤드라인M" pitchFamily="18" charset="-127"/>
                  <a:ea typeface="HY헤드라인M" pitchFamily="18" charset="-127"/>
                </a:rPr>
                <a:t>부족한 </a:t>
              </a:r>
              <a:endParaRPr lang="en-US" altLang="ko-KR" sz="15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 algn="just">
                <a:lnSpc>
                  <a:spcPct val="110000"/>
                </a:lnSpc>
              </a:pPr>
              <a:r>
                <a:rPr lang="ko-KR" altLang="en-US" sz="1500" dirty="0">
                  <a:effectLst/>
                  <a:latin typeface="HY헤드라인M" pitchFamily="18" charset="-127"/>
                  <a:ea typeface="HY헤드라인M" pitchFamily="18" charset="-127"/>
                </a:rPr>
                <a:t>부분에 대해 지도를 받을 수 있도록 한다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.</a:t>
              </a:r>
            </a:p>
          </p:txBody>
        </p:sp>
      </p:grpSp>
      <p:grpSp>
        <p:nvGrpSpPr>
          <p:cNvPr id="16" name="그룹 9"/>
          <p:cNvGrpSpPr/>
          <p:nvPr/>
        </p:nvGrpSpPr>
        <p:grpSpPr>
          <a:xfrm>
            <a:off x="304800" y="5105400"/>
            <a:ext cx="8610600" cy="1600200"/>
            <a:chOff x="4932040" y="4581127"/>
            <a:chExt cx="3929090" cy="1435359"/>
          </a:xfrm>
        </p:grpSpPr>
        <p:sp>
          <p:nvSpPr>
            <p:cNvPr id="17" name="모서리가 둥근 직사각형 16"/>
            <p:cNvSpPr/>
            <p:nvPr/>
          </p:nvSpPr>
          <p:spPr>
            <a:xfrm>
              <a:off x="4932040" y="4581127"/>
              <a:ext cx="3929090" cy="1435359"/>
            </a:xfrm>
            <a:prstGeom prst="roundRect">
              <a:avLst>
                <a:gd name="adj" fmla="val 4133"/>
              </a:avLst>
            </a:prstGeom>
            <a:solidFill>
              <a:schemeClr val="bg1"/>
            </a:solidFill>
            <a:ln w="25400">
              <a:solidFill>
                <a:srgbClr val="51A1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헤드라인M" pitchFamily="18" charset="-127"/>
                <a:ea typeface="HY헤드라인M" pitchFamily="18" charset="-127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004048" y="4608661"/>
              <a:ext cx="3785651" cy="277272"/>
            </a:xfrm>
            <a:prstGeom prst="rect">
              <a:avLst/>
            </a:prstGeom>
            <a:solidFill>
              <a:srgbClr val="002060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 latinLnBrk="0">
                <a:defRPr/>
              </a:pPr>
              <a:r>
                <a:rPr lang="ko-KR" altLang="en-US" sz="1600" dirty="0">
                  <a:solidFill>
                    <a:schemeClr val="bg1"/>
                  </a:solidFill>
                  <a:latin typeface="HY헤드라인M" pitchFamily="18" charset="-127"/>
                  <a:ea typeface="HY헤드라인M" pitchFamily="18" charset="-127"/>
                </a:rPr>
                <a:t>장학제도</a:t>
              </a:r>
              <a:r>
                <a:rPr lang="en-US" altLang="ko-KR" sz="1600" dirty="0">
                  <a:solidFill>
                    <a:schemeClr val="bg1"/>
                  </a:solidFill>
                  <a:latin typeface="HY헤드라인M" pitchFamily="18" charset="-127"/>
                  <a:ea typeface="HY헤드라인M" pitchFamily="18" charset="-127"/>
                </a:rPr>
                <a:t>, </a:t>
              </a:r>
              <a:r>
                <a:rPr lang="ko-KR" altLang="en-US" sz="1600" dirty="0">
                  <a:solidFill>
                    <a:schemeClr val="bg1"/>
                  </a:solidFill>
                  <a:latin typeface="HY헤드라인M" pitchFamily="18" charset="-127"/>
                  <a:ea typeface="HY헤드라인M" pitchFamily="18" charset="-127"/>
                </a:rPr>
                <a:t>출석</a:t>
              </a:r>
              <a:r>
                <a:rPr lang="en-US" altLang="ko-KR" sz="1600" dirty="0">
                  <a:solidFill>
                    <a:schemeClr val="bg1"/>
                  </a:solidFill>
                  <a:latin typeface="HY헤드라인M" pitchFamily="18" charset="-127"/>
                  <a:ea typeface="HY헤드라인M" pitchFamily="18" charset="-127"/>
                </a:rPr>
                <a:t>/</a:t>
              </a:r>
              <a:r>
                <a:rPr lang="ko-KR" altLang="en-US" sz="1600" dirty="0">
                  <a:solidFill>
                    <a:schemeClr val="bg1"/>
                  </a:solidFill>
                  <a:latin typeface="HY헤드라인M" pitchFamily="18" charset="-127"/>
                  <a:ea typeface="HY헤드라인M" pitchFamily="18" charset="-127"/>
                </a:rPr>
                <a:t>성적우수 포상제도 활성화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005938" y="4932167"/>
              <a:ext cx="3785651" cy="993858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marL="342900" indent="-342900" algn="just">
                <a:lnSpc>
                  <a:spcPct val="110000"/>
                </a:lnSpc>
              </a:pPr>
              <a:r>
                <a:rPr lang="ko-KR" altLang="en-US" sz="1500" dirty="0">
                  <a:effectLst/>
                  <a:latin typeface="HY헤드라인M" pitchFamily="18" charset="-127"/>
                  <a:ea typeface="HY헤드라인M" pitchFamily="18" charset="-127"/>
                </a:rPr>
                <a:t>금전적인 이유로 학업을 중단해야 하는 훈련생들의 경우 학원에서 근로봉사 형식의 장학</a:t>
              </a:r>
              <a:endParaRPr lang="en-US" altLang="ko-KR" sz="15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 algn="just">
                <a:lnSpc>
                  <a:spcPct val="110000"/>
                </a:lnSpc>
              </a:pPr>
              <a:r>
                <a:rPr lang="ko-KR" altLang="en-US" sz="1500" dirty="0">
                  <a:effectLst/>
                  <a:latin typeface="HY헤드라인M" pitchFamily="18" charset="-127"/>
                  <a:ea typeface="HY헤드라인M" pitchFamily="18" charset="-127"/>
                </a:rPr>
                <a:t>금을 지급하며</a:t>
              </a:r>
              <a:r>
                <a:rPr lang="en-US" altLang="ko-KR" sz="1500" dirty="0">
                  <a:effectLst/>
                  <a:latin typeface="HY헤드라인M" pitchFamily="18" charset="-127"/>
                  <a:ea typeface="HY헤드라인M" pitchFamily="18" charset="-127"/>
                </a:rPr>
                <a:t>, </a:t>
              </a:r>
              <a:r>
                <a:rPr lang="ko-KR" altLang="en-US" sz="1500" dirty="0">
                  <a:effectLst/>
                  <a:latin typeface="HY헤드라인M" pitchFamily="18" charset="-127"/>
                  <a:ea typeface="HY헤드라인M" pitchFamily="18" charset="-127"/>
                </a:rPr>
                <a:t>학업성적이 우수한 훈련생들에게만 지급되던 장학금을 훈련비 외에 별도</a:t>
              </a:r>
              <a:endParaRPr lang="en-US" altLang="ko-KR" sz="15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 algn="just">
                <a:lnSpc>
                  <a:spcPct val="110000"/>
                </a:lnSpc>
              </a:pPr>
              <a:r>
                <a:rPr lang="ko-KR" altLang="en-US" sz="1500" dirty="0">
                  <a:effectLst/>
                  <a:latin typeface="HY헤드라인M" pitchFamily="18" charset="-127"/>
                  <a:ea typeface="HY헤드라인M" pitchFamily="18" charset="-127"/>
                </a:rPr>
                <a:t>의 수입이 없는 훈련생들에게 학원에서 출석</a:t>
              </a:r>
              <a:r>
                <a:rPr lang="en-US" altLang="ko-KR" sz="1500" dirty="0">
                  <a:effectLst/>
                  <a:latin typeface="HY헤드라인M" pitchFamily="18" charset="-127"/>
                  <a:ea typeface="HY헤드라인M" pitchFamily="18" charset="-127"/>
                </a:rPr>
                <a:t>, </a:t>
              </a:r>
              <a:r>
                <a:rPr lang="ko-KR" altLang="en-US" sz="1500" dirty="0">
                  <a:effectLst/>
                  <a:latin typeface="HY헤드라인M" pitchFamily="18" charset="-127"/>
                  <a:ea typeface="HY헤드라인M" pitchFamily="18" charset="-127"/>
                </a:rPr>
                <a:t>공모 등의 포상제도를 통해 사기진작과 훈련</a:t>
              </a:r>
              <a:endParaRPr lang="en-US" altLang="ko-KR" sz="15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 algn="just">
                <a:lnSpc>
                  <a:spcPct val="110000"/>
                </a:lnSpc>
              </a:pPr>
              <a:r>
                <a:rPr lang="ko-KR" altLang="en-US" sz="1500" dirty="0">
                  <a:effectLst/>
                  <a:latin typeface="HY헤드라인M" pitchFamily="18" charset="-127"/>
                  <a:ea typeface="HY헤드라인M" pitchFamily="18" charset="-127"/>
                </a:rPr>
                <a:t>참여율을 높임으로서 내실화 제고</a:t>
              </a:r>
              <a:endParaRPr lang="en-US" altLang="ko-KR" sz="1500" dirty="0">
                <a:effectLst/>
                <a:latin typeface="HY헤드라인M" pitchFamily="18" charset="-127"/>
                <a:ea typeface="HY헤드라인M" pitchFamily="18" charset="-127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1"/>
          <p:cNvSpPr>
            <a:spLocks noGrp="1"/>
          </p:cNvSpPr>
          <p:nvPr>
            <p:ph type="title"/>
          </p:nvPr>
        </p:nvSpPr>
        <p:spPr>
          <a:xfrm>
            <a:off x="0" y="590550"/>
            <a:ext cx="8229600" cy="400050"/>
          </a:xfrm>
        </p:spPr>
        <p:txBody>
          <a:bodyPr/>
          <a:lstStyle/>
          <a:p>
            <a:r>
              <a:rPr lang="en-US" altLang="ko-KR" dirty="0"/>
              <a:t>Ⅴ. </a:t>
            </a:r>
            <a:r>
              <a:rPr lang="ko-KR" altLang="en-US" dirty="0"/>
              <a:t>향후 추진계획</a:t>
            </a:r>
          </a:p>
        </p:txBody>
      </p:sp>
      <p:grpSp>
        <p:nvGrpSpPr>
          <p:cNvPr id="7" name="그룹 9"/>
          <p:cNvGrpSpPr/>
          <p:nvPr/>
        </p:nvGrpSpPr>
        <p:grpSpPr>
          <a:xfrm>
            <a:off x="304800" y="1219198"/>
            <a:ext cx="8610600" cy="2057401"/>
            <a:chOff x="4932040" y="4581128"/>
            <a:chExt cx="3929090" cy="1872208"/>
          </a:xfrm>
        </p:grpSpPr>
        <p:sp>
          <p:nvSpPr>
            <p:cNvPr id="8" name="모서리가 둥근 직사각형 7"/>
            <p:cNvSpPr/>
            <p:nvPr/>
          </p:nvSpPr>
          <p:spPr>
            <a:xfrm>
              <a:off x="4932040" y="4581128"/>
              <a:ext cx="3929090" cy="1872208"/>
            </a:xfrm>
            <a:prstGeom prst="roundRect">
              <a:avLst>
                <a:gd name="adj" fmla="val 4133"/>
              </a:avLst>
            </a:prstGeom>
            <a:solidFill>
              <a:schemeClr val="bg1"/>
            </a:solidFill>
            <a:ln w="25400">
              <a:solidFill>
                <a:srgbClr val="51A1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헤드라인M" pitchFamily="18" charset="-127"/>
                <a:ea typeface="HY헤드라인M" pitchFamily="18" charset="-127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004048" y="4608661"/>
              <a:ext cx="3785651" cy="319173"/>
            </a:xfrm>
            <a:prstGeom prst="rect">
              <a:avLst/>
            </a:prstGeom>
            <a:solidFill>
              <a:srgbClr val="002060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 latinLnBrk="0">
                <a:defRPr/>
              </a:pPr>
              <a:r>
                <a:rPr lang="ko-KR" altLang="en-US" sz="1600" dirty="0">
                  <a:solidFill>
                    <a:schemeClr val="bg1"/>
                  </a:solidFill>
                  <a:latin typeface="HY헤드라인M" pitchFamily="18" charset="-127"/>
                  <a:ea typeface="HY헤드라인M" pitchFamily="18" charset="-127"/>
                </a:rPr>
                <a:t>적극적인 취업활동 유도 및 지원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005938" y="4932167"/>
              <a:ext cx="3785651" cy="1239321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marL="342900" indent="-342900" algn="just">
                <a:lnSpc>
                  <a:spcPct val="110000"/>
                </a:lnSpc>
              </a:pPr>
              <a:r>
                <a:rPr lang="ko-KR" altLang="en-US" sz="1500" dirty="0" err="1">
                  <a:effectLst/>
                  <a:latin typeface="HY헤드라인M" pitchFamily="18" charset="-127"/>
                  <a:ea typeface="HY헤드라인M" pitchFamily="18" charset="-127"/>
                </a:rPr>
                <a:t>구직활동시에</a:t>
              </a:r>
              <a:r>
                <a:rPr lang="ko-KR" altLang="en-US" sz="1500" dirty="0">
                  <a:effectLst/>
                  <a:latin typeface="HY헤드라인M" pitchFamily="18" charset="-127"/>
                  <a:ea typeface="HY헤드라인M" pitchFamily="18" charset="-127"/>
                </a:rPr>
                <a:t> 활동에 따른 적극적 지원 </a:t>
              </a:r>
              <a:r>
                <a:rPr lang="en-US" altLang="ko-KR" sz="1500" dirty="0">
                  <a:effectLst/>
                  <a:latin typeface="HY헤드라인M" pitchFamily="18" charset="-127"/>
                  <a:ea typeface="HY헤드라인M" pitchFamily="18" charset="-127"/>
                </a:rPr>
                <a:t>– </a:t>
              </a:r>
              <a:r>
                <a:rPr lang="ko-KR" altLang="en-US" sz="1500" dirty="0">
                  <a:effectLst/>
                  <a:latin typeface="HY헤드라인M" pitchFamily="18" charset="-127"/>
                  <a:ea typeface="HY헤드라인M" pitchFamily="18" charset="-127"/>
                </a:rPr>
                <a:t>직장탐색 활동 등에 </a:t>
              </a:r>
              <a:r>
                <a:rPr lang="en-US" altLang="ko-KR" sz="1500" dirty="0">
                  <a:effectLst/>
                  <a:latin typeface="HY헤드라인M" pitchFamily="18" charset="-127"/>
                  <a:ea typeface="HY헤드라인M" pitchFamily="18" charset="-127"/>
                </a:rPr>
                <a:t>1:1 </a:t>
              </a:r>
              <a:r>
                <a:rPr lang="ko-KR" altLang="en-US" sz="1500" dirty="0">
                  <a:effectLst/>
                  <a:latin typeface="HY헤드라인M" pitchFamily="18" charset="-127"/>
                  <a:ea typeface="HY헤드라인M" pitchFamily="18" charset="-127"/>
                </a:rPr>
                <a:t>지도지원</a:t>
              </a:r>
              <a:endParaRPr lang="en-US" altLang="ko-KR" sz="15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 algn="just">
                <a:lnSpc>
                  <a:spcPct val="110000"/>
                </a:lnSpc>
              </a:pPr>
              <a:r>
                <a:rPr lang="ko-KR" altLang="en-US" sz="1500" dirty="0">
                  <a:effectLst/>
                  <a:latin typeface="HY헤드라인M" pitchFamily="18" charset="-127"/>
                  <a:ea typeface="HY헤드라인M" pitchFamily="18" charset="-127"/>
                </a:rPr>
                <a:t>자격취득에 대한 보상 </a:t>
              </a:r>
              <a:r>
                <a:rPr lang="en-US" altLang="ko-KR" sz="1500" dirty="0">
                  <a:effectLst/>
                  <a:latin typeface="HY헤드라인M" pitchFamily="18" charset="-127"/>
                  <a:ea typeface="HY헤드라인M" pitchFamily="18" charset="-127"/>
                </a:rPr>
                <a:t>– </a:t>
              </a:r>
              <a:r>
                <a:rPr lang="ko-KR" altLang="en-US" sz="1500" dirty="0">
                  <a:effectLst/>
                  <a:latin typeface="HY헤드라인M" pitchFamily="18" charset="-127"/>
                  <a:ea typeface="HY헤드라인M" pitchFamily="18" charset="-127"/>
                </a:rPr>
                <a:t>자격증 취득 등 취업준비에 성실한 훈련생 지원</a:t>
              </a:r>
              <a:endParaRPr lang="en-US" altLang="ko-KR" sz="15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 algn="just">
                <a:lnSpc>
                  <a:spcPct val="110000"/>
                </a:lnSpc>
              </a:pPr>
              <a:r>
                <a:rPr lang="ko-KR" altLang="en-US" sz="1500" dirty="0">
                  <a:effectLst/>
                  <a:latin typeface="HY헤드라인M" pitchFamily="18" charset="-127"/>
                  <a:ea typeface="HY헤드라인M" pitchFamily="18" charset="-127"/>
                </a:rPr>
                <a:t>산업체견학 및 방문 권유 </a:t>
              </a:r>
              <a:r>
                <a:rPr lang="en-US" altLang="ko-KR" sz="1500" dirty="0">
                  <a:effectLst/>
                  <a:latin typeface="HY헤드라인M" pitchFamily="18" charset="-127"/>
                  <a:ea typeface="HY헤드라인M" pitchFamily="18" charset="-127"/>
                </a:rPr>
                <a:t>–</a:t>
              </a:r>
              <a:r>
                <a:rPr lang="ko-KR" altLang="en-US" sz="1500" dirty="0">
                  <a:effectLst/>
                  <a:latin typeface="HY헤드라인M" pitchFamily="18" charset="-127"/>
                  <a:ea typeface="HY헤드라인M" pitchFamily="18" charset="-127"/>
                </a:rPr>
                <a:t>수업이 없는 시간과 휴일을 이용하여 산업체 견학 및 방문체험 권유</a:t>
              </a:r>
              <a:endParaRPr lang="en-US" altLang="ko-KR" sz="15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 algn="just">
                <a:lnSpc>
                  <a:spcPct val="110000"/>
                </a:lnSpc>
              </a:pPr>
              <a:r>
                <a:rPr lang="en-US" altLang="ko-KR" sz="1500" dirty="0">
                  <a:effectLst/>
                  <a:latin typeface="HY헤드라인M" pitchFamily="18" charset="-127"/>
                  <a:ea typeface="HY헤드라인M" pitchFamily="18" charset="-127"/>
                </a:rPr>
                <a:t>1:1 </a:t>
              </a:r>
              <a:r>
                <a:rPr lang="ko-KR" altLang="en-US" sz="1500" dirty="0" err="1">
                  <a:effectLst/>
                  <a:latin typeface="HY헤드라인M" pitchFamily="18" charset="-127"/>
                  <a:ea typeface="HY헤드라인M" pitchFamily="18" charset="-127"/>
                </a:rPr>
                <a:t>멘토링</a:t>
              </a:r>
              <a:r>
                <a:rPr lang="ko-KR" altLang="en-US" sz="1500" dirty="0">
                  <a:effectLst/>
                  <a:latin typeface="HY헤드라인M" pitchFamily="18" charset="-127"/>
                  <a:ea typeface="HY헤드라인M" pitchFamily="18" charset="-127"/>
                </a:rPr>
                <a:t> 실시 </a:t>
              </a:r>
              <a:r>
                <a:rPr lang="en-US" altLang="ko-KR" sz="1500" dirty="0">
                  <a:effectLst/>
                  <a:latin typeface="HY헤드라인M" pitchFamily="18" charset="-127"/>
                  <a:ea typeface="HY헤드라인M" pitchFamily="18" charset="-127"/>
                </a:rPr>
                <a:t>– </a:t>
              </a:r>
              <a:r>
                <a:rPr lang="ko-KR" altLang="en-US" sz="1500" dirty="0">
                  <a:effectLst/>
                  <a:latin typeface="HY헤드라인M" pitchFamily="18" charset="-127"/>
                  <a:ea typeface="HY헤드라인M" pitchFamily="18" charset="-127"/>
                </a:rPr>
                <a:t>교사</a:t>
              </a:r>
              <a:r>
                <a:rPr lang="en-US" altLang="ko-KR" sz="1500" dirty="0">
                  <a:effectLst/>
                  <a:latin typeface="HY헤드라인M" pitchFamily="18" charset="-127"/>
                  <a:ea typeface="HY헤드라인M" pitchFamily="18" charset="-127"/>
                </a:rPr>
                <a:t>/</a:t>
              </a:r>
              <a:r>
                <a:rPr lang="ko-KR" altLang="en-US" sz="1500" dirty="0" err="1">
                  <a:effectLst/>
                  <a:latin typeface="HY헤드라인M" pitchFamily="18" charset="-127"/>
                  <a:ea typeface="HY헤드라인M" pitchFamily="18" charset="-127"/>
                </a:rPr>
                <a:t>상담사와</a:t>
              </a:r>
              <a:r>
                <a:rPr lang="ko-KR" altLang="en-US" sz="1500" dirty="0">
                  <a:effectLst/>
                  <a:latin typeface="HY헤드라인M" pitchFamily="18" charset="-127"/>
                  <a:ea typeface="HY헤드라인M" pitchFamily="18" charset="-127"/>
                </a:rPr>
                <a:t> 훈련생</a:t>
              </a:r>
              <a:endParaRPr lang="en-US" altLang="ko-KR" sz="15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 algn="just">
                <a:lnSpc>
                  <a:spcPct val="110000"/>
                </a:lnSpc>
              </a:pPr>
              <a:endParaRPr lang="en-US" altLang="ko-KR" sz="1500" dirty="0">
                <a:effectLst/>
                <a:latin typeface="HY헤드라인M" pitchFamily="18" charset="-127"/>
                <a:ea typeface="HY헤드라인M" pitchFamily="18" charset="-127"/>
              </a:endParaRPr>
            </a:p>
          </p:txBody>
        </p:sp>
      </p:grpSp>
      <p:grpSp>
        <p:nvGrpSpPr>
          <p:cNvPr id="15" name="그룹 9"/>
          <p:cNvGrpSpPr/>
          <p:nvPr/>
        </p:nvGrpSpPr>
        <p:grpSpPr>
          <a:xfrm>
            <a:off x="304800" y="3352799"/>
            <a:ext cx="8610600" cy="1676400"/>
            <a:chOff x="4932040" y="4581127"/>
            <a:chExt cx="3929090" cy="1435359"/>
          </a:xfrm>
        </p:grpSpPr>
        <p:sp>
          <p:nvSpPr>
            <p:cNvPr id="16" name="모서리가 둥근 직사각형 15"/>
            <p:cNvSpPr/>
            <p:nvPr/>
          </p:nvSpPr>
          <p:spPr>
            <a:xfrm>
              <a:off x="4932040" y="4581127"/>
              <a:ext cx="3929090" cy="1435359"/>
            </a:xfrm>
            <a:prstGeom prst="roundRect">
              <a:avLst>
                <a:gd name="adj" fmla="val 4133"/>
              </a:avLst>
            </a:prstGeom>
            <a:solidFill>
              <a:schemeClr val="bg1"/>
            </a:solidFill>
            <a:ln w="25400">
              <a:solidFill>
                <a:srgbClr val="51A1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헤드라인M" pitchFamily="18" charset="-127"/>
                <a:ea typeface="HY헤드라인M" pitchFamily="18" charset="-127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004048" y="4608661"/>
              <a:ext cx="3785651" cy="289875"/>
            </a:xfrm>
            <a:prstGeom prst="rect">
              <a:avLst/>
            </a:prstGeom>
            <a:solidFill>
              <a:srgbClr val="002060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 latinLnBrk="0">
                <a:defRPr/>
              </a:pPr>
              <a:r>
                <a:rPr lang="ko-KR" altLang="en-US" sz="1600" dirty="0">
                  <a:solidFill>
                    <a:schemeClr val="bg1"/>
                  </a:solidFill>
                  <a:latin typeface="HY헤드라인M" pitchFamily="18" charset="-127"/>
                  <a:ea typeface="HY헤드라인M" pitchFamily="18" charset="-127"/>
                </a:rPr>
                <a:t>사전 채용약정체결 도입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005938" y="4932167"/>
              <a:ext cx="3785651" cy="922330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marL="342900" indent="-342900" algn="just">
                <a:lnSpc>
                  <a:spcPct val="110000"/>
                </a:lnSpc>
              </a:pPr>
              <a:r>
                <a:rPr lang="ko-KR" altLang="en-US" sz="1500" dirty="0">
                  <a:effectLst/>
                  <a:latin typeface="HY헤드라인M" pitchFamily="18" charset="-127"/>
                  <a:ea typeface="HY헤드라인M" pitchFamily="18" charset="-127"/>
                </a:rPr>
                <a:t>산업체와 연계하여 회사에서 요구하는 관련 기술을 적극 수용하여 훈련에 반영함으로써 </a:t>
              </a:r>
              <a:endParaRPr lang="en-US" altLang="ko-KR" sz="15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 algn="just">
                <a:lnSpc>
                  <a:spcPct val="110000"/>
                </a:lnSpc>
              </a:pPr>
              <a:r>
                <a:rPr lang="ko-KR" altLang="en-US" sz="1500" dirty="0">
                  <a:effectLst/>
                  <a:latin typeface="HY헤드라인M" pitchFamily="18" charset="-127"/>
                  <a:ea typeface="HY헤드라인M" pitchFamily="18" charset="-127"/>
                </a:rPr>
                <a:t>수료와 동시에 취업을 하는 시스템을 구축하여 훈련생들이 갖는 취업에 대한 불안감을 해</a:t>
              </a:r>
              <a:endParaRPr lang="en-US" altLang="ko-KR" sz="15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 algn="just">
                <a:lnSpc>
                  <a:spcPct val="110000"/>
                </a:lnSpc>
              </a:pPr>
              <a:r>
                <a:rPr lang="ko-KR" altLang="en-US" sz="1500" dirty="0" err="1">
                  <a:effectLst/>
                  <a:latin typeface="HY헤드라인M" pitchFamily="18" charset="-127"/>
                  <a:ea typeface="HY헤드라인M" pitchFamily="18" charset="-127"/>
                </a:rPr>
                <a:t>소하도록</a:t>
              </a:r>
              <a:r>
                <a:rPr lang="ko-KR" altLang="en-US" sz="1500" dirty="0">
                  <a:effectLst/>
                  <a:latin typeface="HY헤드라인M" pitchFamily="18" charset="-127"/>
                  <a:ea typeface="HY헤드라인M" pitchFamily="18" charset="-127"/>
                </a:rPr>
                <a:t> 적극 지원한다</a:t>
              </a:r>
              <a:r>
                <a:rPr lang="en-US" altLang="ko-KR" sz="1500" dirty="0">
                  <a:effectLst/>
                  <a:latin typeface="HY헤드라인M" pitchFamily="18" charset="-127"/>
                  <a:ea typeface="HY헤드라인M" pitchFamily="18" charset="-127"/>
                </a:rPr>
                <a:t>.</a:t>
              </a:r>
            </a:p>
            <a:p>
              <a:pPr marL="342900" indent="-342900" algn="just">
                <a:lnSpc>
                  <a:spcPct val="110000"/>
                </a:lnSpc>
              </a:pPr>
              <a:endParaRPr lang="en-US" altLang="ko-KR" sz="1500" dirty="0">
                <a:effectLst/>
                <a:latin typeface="HY헤드라인M" pitchFamily="18" charset="-127"/>
                <a:ea typeface="HY헤드라인M" pitchFamily="18" charset="-127"/>
              </a:endParaRPr>
            </a:p>
          </p:txBody>
        </p:sp>
      </p:grpSp>
      <p:grpSp>
        <p:nvGrpSpPr>
          <p:cNvPr id="19" name="그룹 9"/>
          <p:cNvGrpSpPr/>
          <p:nvPr/>
        </p:nvGrpSpPr>
        <p:grpSpPr>
          <a:xfrm>
            <a:off x="304800" y="5105400"/>
            <a:ext cx="8610600" cy="1600200"/>
            <a:chOff x="4932040" y="4581127"/>
            <a:chExt cx="3929090" cy="1435359"/>
          </a:xfrm>
        </p:grpSpPr>
        <p:sp>
          <p:nvSpPr>
            <p:cNvPr id="20" name="모서리가 둥근 직사각형 19"/>
            <p:cNvSpPr/>
            <p:nvPr/>
          </p:nvSpPr>
          <p:spPr>
            <a:xfrm>
              <a:off x="4932040" y="4581127"/>
              <a:ext cx="3929090" cy="1435359"/>
            </a:xfrm>
            <a:prstGeom prst="roundRect">
              <a:avLst>
                <a:gd name="adj" fmla="val 4133"/>
              </a:avLst>
            </a:prstGeom>
            <a:solidFill>
              <a:schemeClr val="bg1"/>
            </a:solidFill>
            <a:ln w="25400">
              <a:solidFill>
                <a:srgbClr val="51A1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헤드라인M" pitchFamily="18" charset="-127"/>
                <a:ea typeface="HY헤드라인M" pitchFamily="18" charset="-127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004048" y="4608661"/>
              <a:ext cx="3785651" cy="303679"/>
            </a:xfrm>
            <a:prstGeom prst="rect">
              <a:avLst/>
            </a:prstGeom>
            <a:solidFill>
              <a:srgbClr val="002060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 latinLnBrk="0">
                <a:defRPr/>
              </a:pPr>
              <a:r>
                <a:rPr lang="ko-KR" altLang="en-US" sz="1600" dirty="0">
                  <a:solidFill>
                    <a:schemeClr val="bg1"/>
                  </a:solidFill>
                  <a:latin typeface="HY헤드라인M" pitchFamily="18" charset="-127"/>
                  <a:ea typeface="HY헤드라인M" pitchFamily="18" charset="-127"/>
                </a:rPr>
                <a:t>집단상담프로그램의 의무화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005938" y="4932167"/>
              <a:ext cx="3785651" cy="966251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marL="342900" indent="-342900" algn="just">
                <a:lnSpc>
                  <a:spcPct val="110000"/>
                </a:lnSpc>
              </a:pPr>
              <a:r>
                <a:rPr lang="ko-KR" altLang="en-US" sz="1500" dirty="0">
                  <a:effectLst/>
                  <a:latin typeface="HY헤드라인M" pitchFamily="18" charset="-127"/>
                  <a:ea typeface="HY헤드라인M" pitchFamily="18" charset="-127"/>
                </a:rPr>
                <a:t>훈련과정 개시 즉시 훈련생들에게 필요한 목표와 진로에 대한 설정을 명확하게 하기 위해 집단</a:t>
              </a:r>
              <a:endParaRPr lang="en-US" altLang="ko-KR" sz="15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 algn="just">
                <a:lnSpc>
                  <a:spcPct val="110000"/>
                </a:lnSpc>
              </a:pPr>
              <a:r>
                <a:rPr lang="ko-KR" altLang="en-US" sz="1500" dirty="0">
                  <a:effectLst/>
                  <a:latin typeface="HY헤드라인M" pitchFamily="18" charset="-127"/>
                  <a:ea typeface="HY헤드라인M" pitchFamily="18" charset="-127"/>
                </a:rPr>
                <a:t>상담프로그램을 </a:t>
              </a:r>
              <a:r>
                <a:rPr lang="ko-KR" altLang="en-US" sz="1500" dirty="0" err="1">
                  <a:effectLst/>
                  <a:latin typeface="HY헤드라인M" pitchFamily="18" charset="-127"/>
                  <a:ea typeface="HY헤드라인M" pitchFamily="18" charset="-127"/>
                </a:rPr>
                <a:t>의무함으로써</a:t>
              </a:r>
              <a:r>
                <a:rPr lang="ko-KR" altLang="en-US" sz="1500" dirty="0">
                  <a:effectLst/>
                  <a:latin typeface="HY헤드라인M" pitchFamily="18" charset="-127"/>
                  <a:ea typeface="HY헤드라인M" pitchFamily="18" charset="-127"/>
                </a:rPr>
                <a:t> 훈련에 대한 동기를 부여하고</a:t>
              </a:r>
              <a:r>
                <a:rPr lang="en-US" altLang="ko-KR" sz="1500" dirty="0">
                  <a:effectLst/>
                  <a:latin typeface="HY헤드라인M" pitchFamily="18" charset="-127"/>
                  <a:ea typeface="HY헤드라인M" pitchFamily="18" charset="-127"/>
                </a:rPr>
                <a:t>, </a:t>
              </a:r>
              <a:r>
                <a:rPr lang="ko-KR" altLang="en-US" sz="1500" dirty="0">
                  <a:effectLst/>
                  <a:latin typeface="HY헤드라인M" pitchFamily="18" charset="-127"/>
                  <a:ea typeface="HY헤드라인M" pitchFamily="18" charset="-127"/>
                </a:rPr>
                <a:t>진로에 대한 선택을 빨리 정확히 </a:t>
              </a:r>
              <a:endParaRPr lang="en-US" altLang="ko-KR" sz="15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 algn="just">
                <a:lnSpc>
                  <a:spcPct val="110000"/>
                </a:lnSpc>
              </a:pPr>
              <a:r>
                <a:rPr lang="ko-KR" altLang="en-US" sz="1500" dirty="0">
                  <a:effectLst/>
                  <a:latin typeface="HY헤드라인M" pitchFamily="18" charset="-127"/>
                  <a:ea typeface="HY헤드라인M" pitchFamily="18" charset="-127"/>
                </a:rPr>
                <a:t>결정하도록 유도한다</a:t>
              </a:r>
              <a:r>
                <a:rPr lang="en-US" altLang="ko-KR" sz="1500" dirty="0">
                  <a:effectLst/>
                  <a:latin typeface="HY헤드라인M" pitchFamily="18" charset="-127"/>
                  <a:ea typeface="HY헤드라인M" pitchFamily="18" charset="-127"/>
                </a:rPr>
                <a:t>.</a:t>
              </a:r>
            </a:p>
            <a:p>
              <a:pPr marL="342900" indent="-342900" algn="just">
                <a:lnSpc>
                  <a:spcPct val="110000"/>
                </a:lnSpc>
              </a:pPr>
              <a:endParaRPr lang="en-US" altLang="ko-KR" sz="1500" dirty="0">
                <a:effectLst/>
                <a:latin typeface="HY헤드라인M" pitchFamily="18" charset="-127"/>
                <a:ea typeface="HY헤드라인M" pitchFamily="18" charset="-127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1"/>
          <p:cNvSpPr>
            <a:spLocks noGrp="1"/>
          </p:cNvSpPr>
          <p:nvPr>
            <p:ph type="title"/>
          </p:nvPr>
        </p:nvSpPr>
        <p:spPr>
          <a:xfrm>
            <a:off x="0" y="590550"/>
            <a:ext cx="8229600" cy="400050"/>
          </a:xfrm>
        </p:spPr>
        <p:txBody>
          <a:bodyPr/>
          <a:lstStyle/>
          <a:p>
            <a:r>
              <a:rPr lang="en-US" altLang="ko-KR" dirty="0"/>
              <a:t>Ⅴ. </a:t>
            </a:r>
            <a:r>
              <a:rPr lang="ko-KR" altLang="en-US" dirty="0"/>
              <a:t>향후 추진계획</a:t>
            </a:r>
          </a:p>
        </p:txBody>
      </p:sp>
      <p:grpSp>
        <p:nvGrpSpPr>
          <p:cNvPr id="8" name="그룹 7"/>
          <p:cNvGrpSpPr/>
          <p:nvPr/>
        </p:nvGrpSpPr>
        <p:grpSpPr>
          <a:xfrm>
            <a:off x="838200" y="1295400"/>
            <a:ext cx="7696200" cy="5181600"/>
            <a:chOff x="838200" y="1295400"/>
            <a:chExt cx="7696200" cy="5181600"/>
          </a:xfrm>
        </p:grpSpPr>
        <p:graphicFrame>
          <p:nvGraphicFramePr>
            <p:cNvPr id="19" name="다이어그램 18"/>
            <p:cNvGraphicFramePr/>
            <p:nvPr/>
          </p:nvGraphicFramePr>
          <p:xfrm>
            <a:off x="838200" y="1295400"/>
            <a:ext cx="7696200" cy="518160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sp>
          <p:nvSpPr>
            <p:cNvPr id="24" name="모서리가 둥근 직사각형 23"/>
            <p:cNvSpPr/>
            <p:nvPr/>
          </p:nvSpPr>
          <p:spPr bwMode="auto">
            <a:xfrm>
              <a:off x="1066800" y="1524000"/>
              <a:ext cx="1295400" cy="762000"/>
            </a:xfrm>
            <a:prstGeom prst="roundRect">
              <a:avLst/>
            </a:prstGeom>
            <a:solidFill>
              <a:srgbClr val="C0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2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ko-KR" altLang="en-US" sz="18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Y헤드라인M" pitchFamily="18" charset="-127"/>
                  <a:ea typeface="HY헤드라인M" pitchFamily="18" charset="-127"/>
                </a:rPr>
                <a:t>사기진작</a:t>
              </a:r>
            </a:p>
          </p:txBody>
        </p:sp>
        <p:sp>
          <p:nvSpPr>
            <p:cNvPr id="25" name="모서리가 둥근 직사각형 24"/>
            <p:cNvSpPr/>
            <p:nvPr/>
          </p:nvSpPr>
          <p:spPr bwMode="auto">
            <a:xfrm>
              <a:off x="1066800" y="2819400"/>
              <a:ext cx="1295400" cy="762000"/>
            </a:xfrm>
            <a:prstGeom prst="round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2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ko-KR" altLang="en-US" sz="1800" b="1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Y헤드라인M" pitchFamily="18" charset="-127"/>
                  <a:ea typeface="HY헤드라인M" pitchFamily="18" charset="-127"/>
                </a:rPr>
                <a:t>흥미유발</a:t>
              </a:r>
              <a:endParaRPr kumimoji="1" lang="ko-KR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endParaRPr>
            </a:p>
          </p:txBody>
        </p:sp>
        <p:sp>
          <p:nvSpPr>
            <p:cNvPr id="26" name="모서리가 둥근 직사각형 25"/>
            <p:cNvSpPr/>
            <p:nvPr/>
          </p:nvSpPr>
          <p:spPr bwMode="auto">
            <a:xfrm>
              <a:off x="1066800" y="4191000"/>
              <a:ext cx="1295400" cy="762000"/>
            </a:xfrm>
            <a:prstGeom prst="roundRect">
              <a:avLst/>
            </a:prstGeom>
            <a:solidFill>
              <a:srgbClr val="00B0F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b="1" dirty="0">
                  <a:solidFill>
                    <a:schemeClr val="bg1"/>
                  </a:solidFill>
                  <a:latin typeface="HY헤드라인M" pitchFamily="18" charset="-127"/>
                  <a:ea typeface="HY헤드라인M" pitchFamily="18" charset="-127"/>
                </a:rPr>
                <a:t>참여의식</a:t>
              </a:r>
              <a:endParaRPr lang="en-US" altLang="ko-KR" b="1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endParaRPr>
            </a:p>
            <a:p>
              <a:pPr marL="0" marR="0" indent="0" algn="ctr" defTabSz="914400" rtl="0" eaLnBrk="1" fontAlgn="base" latin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ko-KR" altLang="en-US" sz="18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Y헤드라인M" pitchFamily="18" charset="-127"/>
                  <a:ea typeface="HY헤드라인M" pitchFamily="18" charset="-127"/>
                </a:rPr>
                <a:t>인식개선</a:t>
              </a:r>
            </a:p>
          </p:txBody>
        </p:sp>
        <p:sp>
          <p:nvSpPr>
            <p:cNvPr id="27" name="모서리가 둥근 직사각형 26"/>
            <p:cNvSpPr/>
            <p:nvPr/>
          </p:nvSpPr>
          <p:spPr bwMode="auto">
            <a:xfrm>
              <a:off x="1066800" y="5486400"/>
              <a:ext cx="1295400" cy="762000"/>
            </a:xfrm>
            <a:prstGeom prst="roundRect">
              <a:avLst/>
            </a:prstGeom>
            <a:solidFill>
              <a:srgbClr val="7030A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ko-KR" altLang="en-US" sz="18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Y헤드라인M" pitchFamily="18" charset="-127"/>
                  <a:ea typeface="HY헤드라인M" pitchFamily="18" charset="-127"/>
                </a:rPr>
                <a:t>목적의식</a:t>
              </a:r>
              <a:endParaRPr kumimoji="1" lang="en-US" altLang="ko-K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endParaRPr>
            </a:p>
            <a:p>
              <a:pPr marL="0" marR="0" indent="0" algn="ctr" defTabSz="914400" rtl="0" eaLnBrk="1" fontAlgn="base" latin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b="1" dirty="0">
                  <a:solidFill>
                    <a:schemeClr val="bg1"/>
                  </a:solidFill>
                  <a:latin typeface="HY헤드라인M" pitchFamily="18" charset="-127"/>
                  <a:ea typeface="HY헤드라인M" pitchFamily="18" charset="-127"/>
                </a:rPr>
                <a:t>부여</a:t>
              </a:r>
              <a:endParaRPr kumimoji="1" lang="ko-KR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돋움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굴림" pitchFamily="50" charset="-127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굴림" pitchFamily="50" charset="-127"/>
            <a:ea typeface="굴림" pitchFamily="50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6976</TotalTime>
  <Words>1601</Words>
  <Application>Microsoft Office PowerPoint</Application>
  <PresentationFormat>화면 슬라이드 쇼(4:3)</PresentationFormat>
  <Paragraphs>207</Paragraphs>
  <Slides>15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3" baseType="lpstr">
      <vt:lpstr>HY견고딕</vt:lpstr>
      <vt:lpstr>HY헤드라인M</vt:lpstr>
      <vt:lpstr>굴림</vt:lpstr>
      <vt:lpstr>돋움</vt:lpstr>
      <vt:lpstr>맑은 고딕</vt:lpstr>
      <vt:lpstr>함초롬바탕</vt:lpstr>
      <vt:lpstr>Arial</vt:lpstr>
      <vt:lpstr>기본 디자인</vt:lpstr>
      <vt:lpstr>PowerPoint 프레젠테이션</vt:lpstr>
      <vt:lpstr>PowerPoint 프레젠테이션</vt:lpstr>
      <vt:lpstr>Ⅰ. 중도탈락 방지목적</vt:lpstr>
      <vt:lpstr>Ⅲ. 중도탈락 원인분석(1)</vt:lpstr>
      <vt:lpstr>Ⅲ. 중도탈락 원인분석(2)</vt:lpstr>
      <vt:lpstr>Ⅲ. 중도탈락 원인분석(3)</vt:lpstr>
      <vt:lpstr>Ⅳ. 중도탈락 방지방안 제시</vt:lpstr>
      <vt:lpstr>Ⅳ. 중도탈락 방지방안 제시(사전교육)</vt:lpstr>
      <vt:lpstr>Ⅳ. 중도탈락 방지방안 제시</vt:lpstr>
      <vt:lpstr>Ⅳ. 중도탈락 방지방안 제시</vt:lpstr>
      <vt:lpstr>Ⅳ. 중도탈락 방지방안 제시</vt:lpstr>
      <vt:lpstr>Ⅳ. 중도탈락 방지방안 제시</vt:lpstr>
      <vt:lpstr>Ⅳ. 중도탈락 방지방안 제시</vt:lpstr>
      <vt:lpstr>Ⅴ. 향후 추진계획</vt:lpstr>
      <vt:lpstr>Ⅴ. 향후 추진계획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황수하</dc:creator>
  <cp:lastModifiedBy>애본 이</cp:lastModifiedBy>
  <cp:revision>365</cp:revision>
  <cp:lastPrinted>2019-04-11T07:37:08Z</cp:lastPrinted>
  <dcterms:created xsi:type="dcterms:W3CDTF">1601-01-01T00:00:00Z</dcterms:created>
  <dcterms:modified xsi:type="dcterms:W3CDTF">2023-08-06T20:50:05Z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